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ΔPM_norm</c:v>
                </c:pt>
              </c:strCache>
            </c:strRef>
          </c:tx>
          <c:spPr>
            <a:solidFill>
              <a:srgbClr val="185FA5"/>
            </a:solidFill>
            <a:effectLst/>
          </c:spPr>
          <c:invertIfNegative val="0"/>
          <c:dLbls>
            <c:numFmt formatCode="+0.0&quot;%&quot;" sourceLinked="0"/>
            <c:txPr>
              <a:bodyPr/>
              <a:lstStyle/>
              <a:p>
                <a:pPr>
                  <a:defRPr b="1" i="0" strike="noStrike" sz="1200" u="none">
                    <a:solidFill>
                      <a:srgbClr val="3039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534AB7"/>
              </a:solidFill>
              <a:effectLst/>
            </c:spPr>
          </c:dPt>
          <c:dPt>
            <c:idx val="2"/>
            <c:invertIfNegative val="0"/>
            <c:bubble3D val="0"/>
            <c:spPr>
              <a:solidFill>
                <a:srgbClr val="0F6E56"/>
              </a:solidFill>
              <a:effectLst/>
            </c:spPr>
          </c:dPt>
          <c:dPt>
            <c:idx val="3"/>
            <c:invertIfNegative val="0"/>
            <c:bubble3D val="0"/>
            <c:spPr>
              <a:solidFill>
                <a:srgbClr val="854F0B"/>
              </a:solidFill>
              <a:effectLst/>
            </c:spPr>
          </c:dPt>
          <c:dPt>
            <c:idx val="4"/>
            <c:invertIfNegative val="0"/>
            <c:bubble3D val="0"/>
            <c:spPr>
              <a:solidFill>
                <a:srgbClr val="993C1D"/>
              </a:solidFill>
              <a:effectLst/>
            </c:spPr>
          </c:dPt>
          <c:cat>
            <c:multiLvlStrRef>
              <c:f>Sheet1!$A$2:$A$6</c:f>
              <c:multiLvlStrCache>
                <c:ptCount val="5"/>
                <c:lvl>
                  <c:pt idx="0">
                    <c:v>IM</c:v>
                  </c:pt>
                  <c:pt idx="1">
                    <c:v>PN</c:v>
                  </c:pt>
                  <c:pt idx="2">
                    <c:v>VE</c:v>
                  </c:pt>
                  <c:pt idx="3">
                    <c:v>SM (γ=0.70)</c:v>
                  </c:pt>
                  <c:pt idx="4">
                    <c:v>CP (α=0.55)</c:v>
                  </c:pt>
                </c:lvl>
              </c:multiLvlStrCache>
            </c:multiLvlStrRef>
          </c:cat>
          <c:val>
            <c:numRef>
              <c:f>Sheet1!$B$2:$B$6</c:f>
              <c:numCache>
                <c:formatCode>General</c:formatCode>
                <c:ptCount val="5"/>
                <c:pt idx="0">
                  <c:v>5.8</c:v>
                </c:pt>
                <c:pt idx="1">
                  <c:v>5.8</c:v>
                </c:pt>
                <c:pt idx="2">
                  <c:v>5.8</c:v>
                </c:pt>
                <c:pt idx="3">
                  <c:v>4</c:v>
                </c:pt>
                <c:pt idx="4">
                  <c:v>3.1</c:v>
                </c:pt>
              </c:numCache>
            </c:numRef>
          </c:val>
        </c:ser>
        <c:dLbls>
          <c:numFmt formatCode="+0.0&quot;%&quot;" sourceLinked="0"/>
          <c:txPr>
            <a:bodyPr/>
            <a:lstStyle/>
            <a:p>
              <a:pPr>
                <a:defRPr b="1" i="0" strike="noStrike" sz="1200" u="none">
                  <a:solidFill>
                    <a:srgbClr val="3039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7"/>
        </c:scaling>
        <c:delete val="0"/>
        <c:axPos val="l"/>
        <c:majorGridlines>
          <c:spPr>
            <a:ln w="9525"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A0"/>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Colombia</c:v>
                </c:pt>
              </c:strCache>
            </c:strRef>
          </c:tx>
          <c:spPr>
            <a:solidFill>
              <a:srgbClr val="185FA5"/>
            </a:solidFill>
            <a:effectLst/>
          </c:spPr>
          <c:invertIfNegative val="0"/>
          <c:dLbls>
            <c:numFmt formatCode="0.00" sourceLinked="0"/>
            <c:txPr>
              <a:bodyPr/>
              <a:lstStyle/>
              <a:p>
                <a:pPr>
                  <a:defRPr b="1" i="0" strike="noStrike" sz="1250" u="none">
                    <a:solidFill>
                      <a:srgbClr val="30394A"/>
                    </a:solidFill>
                    <a:latin typeface="Arial"/>
                  </a:defRPr>
                </a:pPr>
              </a:p>
            </c:txPr>
            <c:showLegendKey val="0"/>
            <c:showVal val="1"/>
            <c:showCatName val="0"/>
            <c:showSerName val="0"/>
            <c:showPercent val="0"/>
            <c:showBubbleSize val="0"/>
            <c:showLeaderLines val="0"/>
          </c:dLbls>
          <c:dPt>
            <c:idx val="0"/>
            <c:invertIfNegative val="0"/>
            <c:bubble3D val="0"/>
            <c:spPr>
              <a:solidFill>
                <a:srgbClr val="185FA5"/>
              </a:solidFill>
              <a:effectLst/>
            </c:spPr>
          </c:dPt>
          <c:dPt>
            <c:idx val="1"/>
            <c:invertIfNegative val="0"/>
            <c:bubble3D val="0"/>
            <c:spPr>
              <a:solidFill>
                <a:srgbClr val="534AB7"/>
              </a:solidFill>
              <a:effectLst/>
            </c:spPr>
          </c:dPt>
          <c:dPt>
            <c:idx val="2"/>
            <c:invertIfNegative val="0"/>
            <c:bubble3D val="0"/>
            <c:spPr>
              <a:solidFill>
                <a:srgbClr val="0F6E56"/>
              </a:solidFill>
              <a:effectLst/>
            </c:spPr>
          </c:dPt>
          <c:dPt>
            <c:idx val="3"/>
            <c:invertIfNegative val="0"/>
            <c:bubble3D val="0"/>
            <c:spPr>
              <a:solidFill>
                <a:srgbClr val="854F0B"/>
              </a:solidFill>
              <a:effectLst/>
            </c:spPr>
          </c:dPt>
          <c:dPt>
            <c:idx val="4"/>
            <c:invertIfNegative val="0"/>
            <c:bubble3D val="0"/>
            <c:spPr>
              <a:solidFill>
                <a:srgbClr val="993C1D"/>
              </a:solidFill>
              <a:effectLst/>
            </c:spPr>
          </c:dPt>
          <c:cat>
            <c:multiLvlStrRef>
              <c:f>Sheet1!$A$2:$A$6</c:f>
              <c:multiLvlStrCache>
                <c:ptCount val="5"/>
                <c:lvl>
                  <c:pt idx="0">
                    <c:v>IM</c:v>
                  </c:pt>
                  <c:pt idx="1">
                    <c:v>PN</c:v>
                  </c:pt>
                  <c:pt idx="2">
                    <c:v>VE</c:v>
                  </c:pt>
                  <c:pt idx="3">
                    <c:v>SM</c:v>
                  </c:pt>
                  <c:pt idx="4">
                    <c:v>CP</c:v>
                  </c:pt>
                </c:lvl>
              </c:multiLvlStrCache>
            </c:multiLvlStrRef>
          </c:cat>
          <c:val>
            <c:numRef>
              <c:f>Sheet1!$B$2:$B$6</c:f>
              <c:numCache>
                <c:formatCode>General</c:formatCode>
                <c:ptCount val="5"/>
                <c:pt idx="0">
                  <c:v>0.6</c:v>
                </c:pt>
                <c:pt idx="1">
                  <c:v>0.55</c:v>
                </c:pt>
                <c:pt idx="2">
                  <c:v>0.48</c:v>
                </c:pt>
                <c:pt idx="3">
                  <c:v>0.59</c:v>
                </c:pt>
                <c:pt idx="4">
                  <c:v>0.4</c:v>
                </c:pt>
              </c:numCache>
            </c:numRef>
          </c:val>
        </c:ser>
        <c:dLbls>
          <c:numFmt formatCode="0.00" sourceLinked="0"/>
          <c:txPr>
            <a:bodyPr/>
            <a:lstStyle/>
            <a:p>
              <a:pPr>
                <a:defRPr b="1" i="0" strike="noStrike" sz="1250" u="none">
                  <a:solidFill>
                    <a:srgbClr val="3039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4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A0"/>
                </a:solidFill>
                <a:latin typeface="Arial"/>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Saludo y presentación. Artículo dirigido a la Revista Científica General José María Córdova. La fórmula que ven abajo es el resultado central: la formulación clásica ampliada con tres variables estructurales y normalizada.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Punto de partida: la fórmula PM = IM × PN es sólida y vigente —la usa la propia Armada en el PDN 2042—. El problema no es que esté mal: es que fue concebida antes de que el dominio marítimo se digitalizara. El artículo la actualiza, no la reemplaza.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Cuatro evidencias: Maersk demuestra que un ciberataque paraliza poder marítimo real sin un solo disparo; el crecimiento del 900% muestra la tendencia; los sistemas MDA son el blanco recurrente; y la OMI ya lo volvió obligatorio. Cierre con la dimensión colombiana.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pregunta y el objetivo. Subrayar el marco: esto se piensa desde una potencia media regional —Colombia y Suramérica—, no desde una potencia hegemónica. Las teorías clásicas se escribieron desde la otra orilla.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Genealogía en 130 años: de Mahan a Uribe Cáceres. La propuesta es el siguiente eslabón de esa cadena, y converge tres literaturas que hasta ahora corrían separadas.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cuatro vacíos del estado del arte. Ningún antecedente —ni el índice de 99 países de Vargas Suárez et al.— resuelve los cuatro simultáneamente. Ahí está el espacio de contribución original.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Metodología: analítico-conceptual, como la tradición del campo. Cuatro etapas. Aclarar el alcance: modelo conceptual con parámetros calibrables, no un ejercicio econométrico.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central: la fórmula ampliada. Recorrer cada píldora. Destacar la normalización (misma lógica del IDH del PNUD) y el anclaje en la misma escala del índice independiente (0.43 y 0.44): el aporte no es reproducir ese número, sino descomponerlo en las cinco variables.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Nivel 2: cada variable se abre en sub-componentes calibrables sin romper la arquitectura. Mencionar la decisión metodológica sobre el MDA y la Conciencia Marítima.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ciberpoder por dentro: cuatro sub-componentes y el exponente alfa. El operador de saturación es un detalle técnico que garantiza el rango. Alfa menor que uno: función cóncava, retornos iniciales elevados.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escala convierte el número en lectura estratégica directa. Colombia en Moderado. Cuatro usos: diagnóstico, objetivo, comparación y retorno de inversiones.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Validación en tres etapas. Cuidado con la lectura del gráfico: la elasticidad puntual mayor está en los factores directos; la prioridad del CP viene de otras propiedades — se explica en la diapositiva 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caso colombiano: 0.43, nivel Moderado, coherente con el índice independiente. Fortalezas en IM y SM; brechas en voluntad social y ciberpoder. El trayecto: llegar a Significativo priorizando SM y CP.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argumento estratégico central: el CP es el vector de inversión más eficiente por brecha, concavidad y transversalidad — más la asimetría de costo y tiempo. No es un juego de elasticidades: es dónde rinde más cada peso invertido.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cinco contribuciones originales del artículo, en orden.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Limitaciones con honestidad —es un modelo conceptual— y la agenda: el IPMN como programa de investigación, calibración empírica y modelamiento dinámico con SERDUX-MARCIM.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con las cuatro conclusiones. Mensaje final: el poder marítimo del siglo XXI también se ejerce en el ciberespacio, y una potencia media puede ganar más ahí que en ningún otro vector. Agradecimiento y preguntas.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A4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2A42"/>
          </a:solidFill>
          <a:ln/>
        </p:spPr>
      </p:sp>
      <p:sp>
        <p:nvSpPr>
          <p:cNvPr id="3" name="Text 1"/>
          <p:cNvSpPr/>
          <p:nvPr/>
        </p:nvSpPr>
        <p:spPr>
          <a:xfrm>
            <a:off x="822960" y="932688"/>
            <a:ext cx="10515600" cy="310896"/>
          </a:xfrm>
          <a:prstGeom prst="rect">
            <a:avLst/>
          </a:prstGeom>
          <a:noFill/>
          <a:ln/>
        </p:spPr>
        <p:txBody>
          <a:bodyPr wrap="square" lIns="0" tIns="0" rIns="0" bIns="0" rtlCol="0" anchor="ctr"/>
          <a:lstStyle/>
          <a:p>
            <a:pPr indent="0" marL="0">
              <a:buNone/>
            </a:pPr>
            <a:r>
              <a:rPr lang="en-US" sz="1250" b="1" spc="300" kern="0" dirty="0">
                <a:solidFill>
                  <a:srgbClr val="9EC8E4"/>
                </a:solidFill>
                <a:latin typeface="Calibri" pitchFamily="34" charset="0"/>
                <a:ea typeface="Calibri" pitchFamily="34" charset="-122"/>
                <a:cs typeface="Calibri" pitchFamily="34" charset="-120"/>
              </a:rPr>
              <a:t>ARTÍCULO CIENTÍFICO  ·  REVISTA CIENTÍFICA GENERAL JOSÉ MARÍA CÓRDOVA</a:t>
            </a:r>
            <a:endParaRPr lang="en-US" sz="1250" dirty="0"/>
          </a:p>
        </p:txBody>
      </p:sp>
      <p:sp>
        <p:nvSpPr>
          <p:cNvPr id="4" name="Text 2"/>
          <p:cNvSpPr/>
          <p:nvPr/>
        </p:nvSpPr>
        <p:spPr>
          <a:xfrm>
            <a:off x="822960" y="1371600"/>
            <a:ext cx="10607040" cy="1554480"/>
          </a:xfrm>
          <a:prstGeom prst="rect">
            <a:avLst/>
          </a:prstGeom>
          <a:noFill/>
          <a:ln/>
        </p:spPr>
        <p:txBody>
          <a:bodyPr wrap="square" lIns="0" tIns="0" rIns="0" bIns="0" rtlCol="0" anchor="ctr"/>
          <a:lstStyle/>
          <a:p>
            <a:pPr indent="0" marL="0">
              <a:buNone/>
            </a:pPr>
            <a:r>
              <a:rPr lang="en-US" sz="4100" b="1" dirty="0">
                <a:solidFill>
                  <a:srgbClr val="FFFFFF"/>
                </a:solidFill>
                <a:latin typeface="Cambria" pitchFamily="34" charset="0"/>
                <a:ea typeface="Cambria" pitchFamily="34" charset="-122"/>
                <a:cs typeface="Cambria" pitchFamily="34" charset="-120"/>
              </a:rPr>
              <a:t>El ciberpoder como variable estructural del poder marítimo</a:t>
            </a:r>
            <a:endParaRPr lang="en-US" sz="4100" dirty="0"/>
          </a:p>
        </p:txBody>
      </p:sp>
      <p:sp>
        <p:nvSpPr>
          <p:cNvPr id="5" name="Text 3"/>
          <p:cNvSpPr/>
          <p:nvPr/>
        </p:nvSpPr>
        <p:spPr>
          <a:xfrm>
            <a:off x="822960" y="2852928"/>
            <a:ext cx="10515600" cy="457200"/>
          </a:xfrm>
          <a:prstGeom prst="rect">
            <a:avLst/>
          </a:prstGeom>
          <a:noFill/>
          <a:ln/>
        </p:spPr>
        <p:txBody>
          <a:bodyPr wrap="square" lIns="0" tIns="0" rIns="0" bIns="0" rtlCol="0" anchor="ctr"/>
          <a:lstStyle/>
          <a:p>
            <a:pPr indent="0" marL="0">
              <a:buNone/>
            </a:pPr>
            <a:r>
              <a:rPr lang="en-US" sz="2100" i="1" dirty="0">
                <a:solidFill>
                  <a:srgbClr val="9EC8E4"/>
                </a:solidFill>
                <a:latin typeface="Cambria" pitchFamily="34" charset="0"/>
                <a:ea typeface="Cambria" pitchFamily="34" charset="-122"/>
                <a:cs typeface="Cambria" pitchFamily="34" charset="-120"/>
              </a:rPr>
              <a:t>Una actualización de su formulación conceptual</a:t>
            </a:r>
            <a:endParaRPr lang="en-US" sz="2100" dirty="0"/>
          </a:p>
        </p:txBody>
      </p:sp>
      <p:sp>
        <p:nvSpPr>
          <p:cNvPr id="6" name="Text 4"/>
          <p:cNvSpPr/>
          <p:nvPr/>
        </p:nvSpPr>
        <p:spPr>
          <a:xfrm>
            <a:off x="1371600" y="3776472"/>
            <a:ext cx="1920240"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PM</a:t>
            </a:r>
            <a:pPr indent="0" marL="0">
              <a:buNone/>
            </a:pPr>
            <a:r>
              <a:rPr lang="en-US" sz="1400" b="1" baseline="-40000" dirty="0">
                <a:solidFill>
                  <a:srgbClr val="FFFFFF"/>
                </a:solidFill>
                <a:latin typeface="Cambria" pitchFamily="34" charset="0"/>
                <a:ea typeface="Cambria" pitchFamily="34" charset="-122"/>
                <a:cs typeface="Cambria" pitchFamily="34" charset="-120"/>
              </a:rPr>
              <a:t>norm</a:t>
            </a:r>
            <a:pPr indent="0" marL="0">
              <a:buNone/>
            </a:pPr>
            <a:r>
              <a:rPr lang="en-US" sz="2400" dirty="0">
                <a:solidFill>
                  <a:srgbClr val="7FA8C8"/>
                </a:solidFill>
                <a:latin typeface="Cambria" pitchFamily="34" charset="0"/>
                <a:ea typeface="Cambria" pitchFamily="34" charset="-122"/>
                <a:cs typeface="Cambria" pitchFamily="34" charset="-120"/>
              </a:rPr>
              <a:t> =</a:t>
            </a:r>
            <a:endParaRPr lang="en-US" sz="2700" dirty="0"/>
          </a:p>
        </p:txBody>
      </p:sp>
      <p:sp>
        <p:nvSpPr>
          <p:cNvPr id="7" name="Text 5"/>
          <p:cNvSpPr/>
          <p:nvPr/>
        </p:nvSpPr>
        <p:spPr>
          <a:xfrm>
            <a:off x="3291840" y="3703320"/>
            <a:ext cx="274320" cy="841248"/>
          </a:xfrm>
          <a:prstGeom prst="rect">
            <a:avLst/>
          </a:prstGeom>
          <a:noFill/>
          <a:ln/>
        </p:spPr>
        <p:txBody>
          <a:bodyPr wrap="square" lIns="0" tIns="0" rIns="0" bIns="0" rtlCol="0" anchor="ctr"/>
          <a:lstStyle/>
          <a:p>
            <a:pPr algn="ctr" indent="0" marL="0">
              <a:buNone/>
            </a:pPr>
            <a:r>
              <a:rPr lang="en-US" sz="3000" dirty="0">
                <a:solidFill>
                  <a:srgbClr val="7FA8C8"/>
                </a:solidFill>
                <a:latin typeface="Calibri" pitchFamily="34" charset="0"/>
                <a:ea typeface="Calibri" pitchFamily="34" charset="-122"/>
                <a:cs typeface="Calibri" pitchFamily="34" charset="-120"/>
              </a:rPr>
              <a:t>[</a:t>
            </a:r>
            <a:endParaRPr lang="en-US" sz="3000" dirty="0"/>
          </a:p>
        </p:txBody>
      </p:sp>
      <p:sp>
        <p:nvSpPr>
          <p:cNvPr id="8" name="Text 6"/>
          <p:cNvSpPr/>
          <p:nvPr/>
        </p:nvSpPr>
        <p:spPr>
          <a:xfrm>
            <a:off x="3566160" y="3794760"/>
            <a:ext cx="219456" cy="658368"/>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785616" y="3794760"/>
            <a:ext cx="868680" cy="658368"/>
          </a:xfrm>
          <a:prstGeom prst="roundRect">
            <a:avLst>
              <a:gd name="adj" fmla="val 12500"/>
            </a:avLst>
          </a:prstGeom>
          <a:solidFill>
            <a:srgbClr val="EBF3FB"/>
          </a:solidFill>
          <a:ln w="25400">
            <a:solidFill>
              <a:srgbClr val="185FA5"/>
            </a:solidFill>
            <a:prstDash val="solid"/>
          </a:ln>
        </p:spPr>
      </p:sp>
      <p:sp>
        <p:nvSpPr>
          <p:cNvPr id="10" name="Text 8"/>
          <p:cNvSpPr/>
          <p:nvPr/>
        </p:nvSpPr>
        <p:spPr>
          <a:xfrm>
            <a:off x="3785616" y="3776472"/>
            <a:ext cx="868680" cy="658368"/>
          </a:xfrm>
          <a:prstGeom prst="rect">
            <a:avLst/>
          </a:prstGeom>
          <a:noFill/>
          <a:ln/>
        </p:spPr>
        <p:txBody>
          <a:bodyPr wrap="square" lIns="0" tIns="0" rIns="0" bIns="0" rtlCol="0" anchor="ctr"/>
          <a:lstStyle/>
          <a:p>
            <a:pPr algn="ctr" indent="0" marL="0">
              <a:buNone/>
            </a:pPr>
            <a:r>
              <a:rPr lang="en-US" sz="1900" b="1" dirty="0">
                <a:solidFill>
                  <a:srgbClr val="0C447C"/>
                </a:solidFill>
                <a:latin typeface="Courier New" pitchFamily="34" charset="0"/>
                <a:ea typeface="Courier New" pitchFamily="34" charset="-122"/>
                <a:cs typeface="Courier New" pitchFamily="34" charset="-120"/>
              </a:rPr>
              <a:t>IM</a:t>
            </a:r>
            <a:endParaRPr lang="en-US" sz="1900" dirty="0"/>
          </a:p>
        </p:txBody>
      </p:sp>
      <p:sp>
        <p:nvSpPr>
          <p:cNvPr id="11" name="Text 9"/>
          <p:cNvSpPr/>
          <p:nvPr/>
        </p:nvSpPr>
        <p:spPr>
          <a:xfrm>
            <a:off x="4681728" y="3794760"/>
            <a:ext cx="384048" cy="658368"/>
          </a:xfrm>
          <a:prstGeom prst="rect">
            <a:avLst/>
          </a:prstGeom>
          <a:noFill/>
          <a:ln/>
        </p:spPr>
        <p:txBody>
          <a:bodyPr wrap="square" lIns="0" tIns="0" rIns="0" bIns="0" rtlCol="0" anchor="ctr"/>
          <a:lstStyle/>
          <a:p>
            <a:pPr algn="ctr" indent="0" marL="0">
              <a:buNone/>
            </a:pPr>
            <a:r>
              <a:rPr lang="en-US" sz="2000" dirty="0">
                <a:solidFill>
                  <a:srgbClr val="7FA8C8"/>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65776" y="3794760"/>
            <a:ext cx="868680" cy="658368"/>
          </a:xfrm>
          <a:prstGeom prst="roundRect">
            <a:avLst>
              <a:gd name="adj" fmla="val 12500"/>
            </a:avLst>
          </a:prstGeom>
          <a:solidFill>
            <a:srgbClr val="EEEDFE"/>
          </a:solidFill>
          <a:ln w="25400">
            <a:solidFill>
              <a:srgbClr val="534AB7"/>
            </a:solidFill>
            <a:prstDash val="solid"/>
          </a:ln>
        </p:spPr>
      </p:sp>
      <p:sp>
        <p:nvSpPr>
          <p:cNvPr id="13" name="Text 11"/>
          <p:cNvSpPr/>
          <p:nvPr/>
        </p:nvSpPr>
        <p:spPr>
          <a:xfrm>
            <a:off x="5065776" y="3776472"/>
            <a:ext cx="868680" cy="658368"/>
          </a:xfrm>
          <a:prstGeom prst="rect">
            <a:avLst/>
          </a:prstGeom>
          <a:noFill/>
          <a:ln/>
        </p:spPr>
        <p:txBody>
          <a:bodyPr wrap="square" lIns="0" tIns="0" rIns="0" bIns="0" rtlCol="0" anchor="ctr"/>
          <a:lstStyle/>
          <a:p>
            <a:pPr algn="ctr" indent="0" marL="0">
              <a:buNone/>
            </a:pPr>
            <a:r>
              <a:rPr lang="en-US" sz="1900" b="1" dirty="0">
                <a:solidFill>
                  <a:srgbClr val="3C3489"/>
                </a:solidFill>
                <a:latin typeface="Courier New" pitchFamily="34" charset="0"/>
                <a:ea typeface="Courier New" pitchFamily="34" charset="-122"/>
                <a:cs typeface="Courier New" pitchFamily="34" charset="-120"/>
              </a:rPr>
              <a:t>PN</a:t>
            </a:r>
            <a:endParaRPr lang="en-US" sz="1900" dirty="0"/>
          </a:p>
        </p:txBody>
      </p:sp>
      <p:sp>
        <p:nvSpPr>
          <p:cNvPr id="14" name="Text 12"/>
          <p:cNvSpPr/>
          <p:nvPr/>
        </p:nvSpPr>
        <p:spPr>
          <a:xfrm>
            <a:off x="5961888" y="3794760"/>
            <a:ext cx="219456" cy="658368"/>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15" name="Text 13"/>
          <p:cNvSpPr/>
          <p:nvPr/>
        </p:nvSpPr>
        <p:spPr>
          <a:xfrm>
            <a:off x="6217920" y="3794760"/>
            <a:ext cx="384048" cy="658368"/>
          </a:xfrm>
          <a:prstGeom prst="rect">
            <a:avLst/>
          </a:prstGeom>
          <a:noFill/>
          <a:ln/>
        </p:spPr>
        <p:txBody>
          <a:bodyPr wrap="square" lIns="0" tIns="0" rIns="0" bIns="0" rtlCol="0" anchor="ctr"/>
          <a:lstStyle/>
          <a:p>
            <a:pPr algn="ctr" indent="0" marL="0">
              <a:buNone/>
            </a:pPr>
            <a:r>
              <a:rPr lang="en-US" sz="2000" dirty="0">
                <a:solidFill>
                  <a:srgbClr val="7FA8C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620256" y="3794760"/>
            <a:ext cx="868680" cy="658368"/>
          </a:xfrm>
          <a:prstGeom prst="roundRect">
            <a:avLst>
              <a:gd name="adj" fmla="val 12500"/>
            </a:avLst>
          </a:prstGeom>
          <a:solidFill>
            <a:srgbClr val="E1F5EE"/>
          </a:solidFill>
          <a:ln w="25400">
            <a:solidFill>
              <a:srgbClr val="0F6E56"/>
            </a:solidFill>
            <a:prstDash val="solid"/>
          </a:ln>
        </p:spPr>
      </p:sp>
      <p:sp>
        <p:nvSpPr>
          <p:cNvPr id="17" name="Text 15"/>
          <p:cNvSpPr/>
          <p:nvPr/>
        </p:nvSpPr>
        <p:spPr>
          <a:xfrm>
            <a:off x="6620256" y="3776472"/>
            <a:ext cx="868680" cy="658368"/>
          </a:xfrm>
          <a:prstGeom prst="rect">
            <a:avLst/>
          </a:prstGeom>
          <a:noFill/>
          <a:ln/>
        </p:spPr>
        <p:txBody>
          <a:bodyPr wrap="square" lIns="0" tIns="0" rIns="0" bIns="0" rtlCol="0" anchor="ctr"/>
          <a:lstStyle/>
          <a:p>
            <a:pPr algn="ctr" indent="0" marL="0">
              <a:buNone/>
            </a:pPr>
            <a:r>
              <a:rPr lang="en-US" sz="1900" b="1" dirty="0">
                <a:solidFill>
                  <a:srgbClr val="085041"/>
                </a:solidFill>
                <a:latin typeface="Courier New" pitchFamily="34" charset="0"/>
                <a:ea typeface="Courier New" pitchFamily="34" charset="-122"/>
                <a:cs typeface="Courier New" pitchFamily="34" charset="-120"/>
              </a:rPr>
              <a:t>VE</a:t>
            </a:r>
            <a:endParaRPr lang="en-US" sz="1900" dirty="0"/>
          </a:p>
        </p:txBody>
      </p:sp>
      <p:sp>
        <p:nvSpPr>
          <p:cNvPr id="18" name="Text 16"/>
          <p:cNvSpPr/>
          <p:nvPr/>
        </p:nvSpPr>
        <p:spPr>
          <a:xfrm>
            <a:off x="7525512" y="3794760"/>
            <a:ext cx="384048" cy="658368"/>
          </a:xfrm>
          <a:prstGeom prst="rect">
            <a:avLst/>
          </a:prstGeom>
          <a:noFill/>
          <a:ln/>
        </p:spPr>
        <p:txBody>
          <a:bodyPr wrap="square" lIns="0" tIns="0" rIns="0" bIns="0" rtlCol="0" anchor="ctr"/>
          <a:lstStyle/>
          <a:p>
            <a:pPr algn="ctr" indent="0" marL="0">
              <a:buNone/>
            </a:pPr>
            <a:r>
              <a:rPr lang="en-US" sz="2000" dirty="0">
                <a:solidFill>
                  <a:srgbClr val="7FA8C8"/>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7927848" y="3794760"/>
            <a:ext cx="969264" cy="658368"/>
          </a:xfrm>
          <a:prstGeom prst="roundRect">
            <a:avLst>
              <a:gd name="adj" fmla="val 12500"/>
            </a:avLst>
          </a:prstGeom>
          <a:solidFill>
            <a:srgbClr val="FEF4E4"/>
          </a:solidFill>
          <a:ln w="25400">
            <a:solidFill>
              <a:srgbClr val="854F0B"/>
            </a:solidFill>
            <a:prstDash val="solid"/>
          </a:ln>
        </p:spPr>
      </p:sp>
      <p:sp>
        <p:nvSpPr>
          <p:cNvPr id="20" name="Text 18"/>
          <p:cNvSpPr/>
          <p:nvPr/>
        </p:nvSpPr>
        <p:spPr>
          <a:xfrm>
            <a:off x="7927848" y="3776472"/>
            <a:ext cx="969264" cy="658368"/>
          </a:xfrm>
          <a:prstGeom prst="rect">
            <a:avLst/>
          </a:prstGeom>
          <a:noFill/>
          <a:ln/>
        </p:spPr>
        <p:txBody>
          <a:bodyPr wrap="square" lIns="0" tIns="0" rIns="0" bIns="0" rtlCol="0" anchor="ctr"/>
          <a:lstStyle/>
          <a:p>
            <a:pPr algn="ctr" indent="0" marL="0">
              <a:buNone/>
            </a:pPr>
            <a:r>
              <a:rPr lang="en-US" sz="1900" b="1" dirty="0">
                <a:solidFill>
                  <a:srgbClr val="633806"/>
                </a:solidFill>
                <a:latin typeface="Courier New" pitchFamily="34" charset="0"/>
                <a:ea typeface="Courier New" pitchFamily="34" charset="-122"/>
                <a:cs typeface="Courier New" pitchFamily="34" charset="-120"/>
              </a:rPr>
              <a:t>SM</a:t>
            </a:r>
            <a:pPr algn="ctr" indent="0" marL="0">
              <a:buNone/>
            </a:pPr>
            <a:r>
              <a:rPr lang="en-US" sz="1178" b="1" baseline="30000" dirty="0">
                <a:solidFill>
                  <a:srgbClr val="633806"/>
                </a:solidFill>
                <a:latin typeface="Courier New" pitchFamily="34" charset="0"/>
                <a:ea typeface="Courier New" pitchFamily="34" charset="-122"/>
                <a:cs typeface="Courier New" pitchFamily="34" charset="-120"/>
              </a:rPr>
              <a:t>γ</a:t>
            </a:r>
            <a:endParaRPr lang="en-US" sz="1900" dirty="0"/>
          </a:p>
        </p:txBody>
      </p:sp>
      <p:sp>
        <p:nvSpPr>
          <p:cNvPr id="21" name="Text 19"/>
          <p:cNvSpPr/>
          <p:nvPr/>
        </p:nvSpPr>
        <p:spPr>
          <a:xfrm>
            <a:off x="8933688" y="3794760"/>
            <a:ext cx="384048" cy="658368"/>
          </a:xfrm>
          <a:prstGeom prst="rect">
            <a:avLst/>
          </a:prstGeom>
          <a:noFill/>
          <a:ln/>
        </p:spPr>
        <p:txBody>
          <a:bodyPr wrap="square" lIns="0" tIns="0" rIns="0" bIns="0" rtlCol="0" anchor="ctr"/>
          <a:lstStyle/>
          <a:p>
            <a:pPr algn="ctr" indent="0" marL="0">
              <a:buNone/>
            </a:pPr>
            <a:r>
              <a:rPr lang="en-US" sz="2000" dirty="0">
                <a:solidFill>
                  <a:srgbClr val="7FA8C8"/>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336024" y="3794760"/>
            <a:ext cx="969264" cy="658368"/>
          </a:xfrm>
          <a:prstGeom prst="roundRect">
            <a:avLst>
              <a:gd name="adj" fmla="val 12500"/>
            </a:avLst>
          </a:prstGeom>
          <a:solidFill>
            <a:srgbClr val="FAECE7"/>
          </a:solidFill>
          <a:ln w="25400">
            <a:solidFill>
              <a:srgbClr val="993C1D"/>
            </a:solidFill>
            <a:prstDash val="solid"/>
          </a:ln>
        </p:spPr>
      </p:sp>
      <p:sp>
        <p:nvSpPr>
          <p:cNvPr id="23" name="Text 21"/>
          <p:cNvSpPr/>
          <p:nvPr/>
        </p:nvSpPr>
        <p:spPr>
          <a:xfrm>
            <a:off x="9336024" y="3776472"/>
            <a:ext cx="969264" cy="658368"/>
          </a:xfrm>
          <a:prstGeom prst="rect">
            <a:avLst/>
          </a:prstGeom>
          <a:noFill/>
          <a:ln/>
        </p:spPr>
        <p:txBody>
          <a:bodyPr wrap="square" lIns="0" tIns="0" rIns="0" bIns="0" rtlCol="0" anchor="ctr"/>
          <a:lstStyle/>
          <a:p>
            <a:pPr algn="ctr" indent="0" marL="0">
              <a:buNone/>
            </a:pPr>
            <a:r>
              <a:rPr lang="en-US" sz="1900" b="1" dirty="0">
                <a:solidFill>
                  <a:srgbClr val="712B13"/>
                </a:solidFill>
                <a:latin typeface="Courier New" pitchFamily="34" charset="0"/>
                <a:ea typeface="Courier New" pitchFamily="34" charset="-122"/>
                <a:cs typeface="Courier New" pitchFamily="34" charset="-120"/>
              </a:rPr>
              <a:t>CP</a:t>
            </a:r>
            <a:pPr algn="ctr" indent="0" marL="0">
              <a:buNone/>
            </a:pPr>
            <a:r>
              <a:rPr lang="en-US" sz="1178" b="1" baseline="30000" dirty="0">
                <a:solidFill>
                  <a:srgbClr val="712B13"/>
                </a:solidFill>
                <a:latin typeface="Courier New" pitchFamily="34" charset="0"/>
                <a:ea typeface="Courier New" pitchFamily="34" charset="-122"/>
                <a:cs typeface="Courier New" pitchFamily="34" charset="-120"/>
              </a:rPr>
              <a:t>α</a:t>
            </a:r>
            <a:endParaRPr lang="en-US" sz="1900" dirty="0"/>
          </a:p>
        </p:txBody>
      </p:sp>
      <p:sp>
        <p:nvSpPr>
          <p:cNvPr id="26" name="Text 24"/>
          <p:cNvSpPr/>
          <p:nvPr/>
        </p:nvSpPr>
        <p:spPr>
          <a:xfrm>
            <a:off x="10360152" y="3703320"/>
            <a:ext cx="1371600" cy="841248"/>
          </a:xfrm>
          <a:prstGeom prst="rect">
            <a:avLst/>
          </a:prstGeom>
          <a:noFill/>
          <a:ln/>
        </p:spPr>
        <p:txBody>
          <a:bodyPr wrap="square" lIns="0" tIns="0" rIns="0" bIns="0" rtlCol="0" anchor="ctr"/>
          <a:lstStyle/>
          <a:p>
            <a:pPr indent="0" marL="0">
              <a:buNone/>
            </a:pPr>
            <a:r>
              <a:rPr lang="en-US" sz="3000" dirty="0">
                <a:solidFill>
                  <a:srgbClr val="7FA8C8"/>
                </a:solidFill>
                <a:latin typeface="Calibri" pitchFamily="34" charset="0"/>
                <a:ea typeface="Calibri" pitchFamily="34" charset="-122"/>
                <a:cs typeface="Calibri" pitchFamily="34" charset="-120"/>
              </a:rPr>
              <a:t>]</a:t>
            </a:r>
            <a:pPr indent="0" marL="0">
              <a:buNone/>
            </a:pPr>
            <a:r>
              <a:rPr lang="en-US" sz="1300" b="1" baseline="30000" dirty="0">
                <a:solidFill>
                  <a:srgbClr val="9EC8E4"/>
                </a:solidFill>
                <a:latin typeface="Courier New" pitchFamily="34" charset="0"/>
                <a:ea typeface="Courier New" pitchFamily="34" charset="-122"/>
                <a:cs typeface="Courier New" pitchFamily="34" charset="-120"/>
              </a:rPr>
              <a:t> 1/nₑff</a:t>
            </a:r>
            <a:endParaRPr lang="en-US" sz="3000" dirty="0"/>
          </a:p>
        </p:txBody>
      </p:sp>
      <p:sp>
        <p:nvSpPr>
          <p:cNvPr id="27" name="Text 25"/>
          <p:cNvSpPr/>
          <p:nvPr/>
        </p:nvSpPr>
        <p:spPr>
          <a:xfrm>
            <a:off x="822960" y="4681728"/>
            <a:ext cx="10515600" cy="320040"/>
          </a:xfrm>
          <a:prstGeom prst="rect">
            <a:avLst/>
          </a:prstGeom>
          <a:noFill/>
          <a:ln/>
        </p:spPr>
        <p:txBody>
          <a:bodyPr wrap="square" lIns="0" tIns="0" rIns="0" bIns="0" rtlCol="0" anchor="ctr"/>
          <a:lstStyle/>
          <a:p>
            <a:pPr algn="ctr" indent="0" marL="0">
              <a:buNone/>
            </a:pPr>
            <a:r>
              <a:rPr lang="en-US" sz="1250" dirty="0">
                <a:solidFill>
                  <a:srgbClr val="7FA8C8"/>
                </a:solidFill>
                <a:latin typeface="Courier New" pitchFamily="34" charset="0"/>
                <a:ea typeface="Courier New" pitchFamily="34" charset="-122"/>
                <a:cs typeface="Courier New" pitchFamily="34" charset="-120"/>
              </a:rPr>
              <a:t>n_eff = 2 + γ + α      ·      PM_norm ∈ (0, 1]      ·      normalización por media geométrica (OCDE, 2008; PNUD, 2010)</a:t>
            </a:r>
            <a:endParaRPr lang="en-US" sz="1250" dirty="0"/>
          </a:p>
        </p:txBody>
      </p:sp>
      <p:sp>
        <p:nvSpPr>
          <p:cNvPr id="28" name="Shape 26"/>
          <p:cNvSpPr/>
          <p:nvPr/>
        </p:nvSpPr>
        <p:spPr>
          <a:xfrm>
            <a:off x="822960" y="5650992"/>
            <a:ext cx="10543032" cy="0"/>
          </a:xfrm>
          <a:prstGeom prst="line">
            <a:avLst/>
          </a:prstGeom>
          <a:noFill/>
          <a:ln w="12700">
            <a:solidFill>
              <a:srgbClr val="2A4A6A"/>
            </a:solidFill>
            <a:prstDash val="solid"/>
          </a:ln>
        </p:spPr>
      </p:sp>
      <p:sp>
        <p:nvSpPr>
          <p:cNvPr id="29" name="Text 27"/>
          <p:cNvSpPr/>
          <p:nvPr/>
        </p:nvSpPr>
        <p:spPr>
          <a:xfrm>
            <a:off x="822960" y="5852160"/>
            <a:ext cx="6400800" cy="36576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C.F. Diego Edison Cabuya Padilla, PhD</a:t>
            </a:r>
            <a:endParaRPr lang="en-US" sz="1650" dirty="0"/>
          </a:p>
        </p:txBody>
      </p:sp>
      <p:sp>
        <p:nvSpPr>
          <p:cNvPr id="30" name="Text 28"/>
          <p:cNvSpPr/>
          <p:nvPr/>
        </p:nvSpPr>
        <p:spPr>
          <a:xfrm>
            <a:off x="822960" y="6236208"/>
            <a:ext cx="7315200" cy="320040"/>
          </a:xfrm>
          <a:prstGeom prst="rect">
            <a:avLst/>
          </a:prstGeom>
          <a:noFill/>
          <a:ln/>
        </p:spPr>
        <p:txBody>
          <a:bodyPr wrap="square" lIns="0" tIns="0" rIns="0" bIns="0" rtlCol="0" anchor="ctr"/>
          <a:lstStyle/>
          <a:p>
            <a:pPr indent="0" marL="0">
              <a:buNone/>
            </a:pPr>
            <a:r>
              <a:rPr lang="en-US" sz="1300" dirty="0">
                <a:solidFill>
                  <a:srgbClr val="7FA8C8"/>
                </a:solidFill>
                <a:latin typeface="Calibri" pitchFamily="34" charset="0"/>
                <a:ea typeface="Calibri" pitchFamily="34" charset="-122"/>
                <a:cs typeface="Calibri" pitchFamily="34" charset="-120"/>
              </a:rPr>
              <a:t>Academia Naval de Estudios Estratégicos  ·  Bogotá, Colombia</a:t>
            </a:r>
            <a:endParaRPr lang="en-US" sz="1300" dirty="0"/>
          </a:p>
        </p:txBody>
      </p:sp>
      <p:sp>
        <p:nvSpPr>
          <p:cNvPr id="31" name="Text 29"/>
          <p:cNvSpPr/>
          <p:nvPr/>
        </p:nvSpPr>
        <p:spPr>
          <a:xfrm>
            <a:off x="10241280" y="5852160"/>
            <a:ext cx="1124712" cy="365760"/>
          </a:xfrm>
          <a:prstGeom prst="rect">
            <a:avLst/>
          </a:prstGeom>
          <a:noFill/>
          <a:ln/>
        </p:spPr>
        <p:txBody>
          <a:bodyPr wrap="square" lIns="0" tIns="0" rIns="0" bIns="0" rtlCol="0" anchor="ctr"/>
          <a:lstStyle/>
          <a:p>
            <a:pPr algn="r" indent="0" marL="0">
              <a:buNone/>
            </a:pPr>
            <a:r>
              <a:rPr lang="en-US" sz="1650" b="1" dirty="0">
                <a:solidFill>
                  <a:srgbClr val="9EC8E4"/>
                </a:solidFill>
                <a:latin typeface="Calibri" pitchFamily="34" charset="0"/>
                <a:ea typeface="Calibri" pitchFamily="34" charset="-122"/>
                <a:cs typeface="Calibri" pitchFamily="34" charset="-120"/>
              </a:rPr>
              <a:t>2026</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EL PROBLEMA DE INVESTIGACIÓN</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Una fórmula sólida, con una brecha estructural</a:t>
            </a:r>
            <a:endParaRPr lang="en-US" sz="3100" dirty="0"/>
          </a:p>
        </p:txBody>
      </p:sp>
      <p:sp>
        <p:nvSpPr>
          <p:cNvPr id="4" name="Shape 2"/>
          <p:cNvSpPr/>
          <p:nvPr/>
        </p:nvSpPr>
        <p:spPr>
          <a:xfrm>
            <a:off x="640080" y="1691640"/>
            <a:ext cx="5440680" cy="4160520"/>
          </a:xfrm>
          <a:prstGeom prst="roundRect">
            <a:avLst>
              <a:gd name="adj" fmla="val 1538"/>
            </a:avLst>
          </a:prstGeom>
          <a:solidFill>
            <a:srgbClr val="EBF3FB"/>
          </a:solidFill>
          <a:ln w="12700">
            <a:solidFill>
              <a:srgbClr val="185FA5"/>
            </a:solidFill>
            <a:prstDash val="solid"/>
          </a:ln>
          <a:effectLst>
            <a:outerShdw sx="100000" sy="100000" kx="0" ky="0" algn="bl" rotWithShape="0" blurRad="88900" dist="25400" dir="5400000">
              <a:srgbClr val="A8B4C2">
                <a:alpha val="28000"/>
              </a:srgbClr>
            </a:outerShdw>
          </a:effectLst>
        </p:spPr>
      </p:sp>
      <p:sp>
        <p:nvSpPr>
          <p:cNvPr id="5" name="Text 3"/>
          <p:cNvSpPr/>
          <p:nvPr/>
        </p:nvSpPr>
        <p:spPr>
          <a:xfrm>
            <a:off x="960120" y="1938528"/>
            <a:ext cx="4846320" cy="292608"/>
          </a:xfrm>
          <a:prstGeom prst="rect">
            <a:avLst/>
          </a:prstGeom>
          <a:noFill/>
          <a:ln/>
        </p:spPr>
        <p:txBody>
          <a:bodyPr wrap="square" lIns="0" tIns="0" rIns="0" bIns="0" rtlCol="0" anchor="ctr"/>
          <a:lstStyle/>
          <a:p>
            <a:pPr indent="0" marL="0">
              <a:buNone/>
            </a:pPr>
            <a:r>
              <a:rPr lang="en-US" sz="1250" b="1" spc="200" kern="0" dirty="0">
                <a:solidFill>
                  <a:srgbClr val="185FA5"/>
                </a:solidFill>
                <a:latin typeface="Calibri" pitchFamily="34" charset="0"/>
                <a:ea typeface="Calibri" pitchFamily="34" charset="-122"/>
                <a:cs typeface="Calibri" pitchFamily="34" charset="-120"/>
              </a:rPr>
              <a:t>LA FORMULACIÓN CLÁSICA</a:t>
            </a:r>
            <a:endParaRPr lang="en-US" sz="1250" dirty="0"/>
          </a:p>
        </p:txBody>
      </p:sp>
      <p:sp>
        <p:nvSpPr>
          <p:cNvPr id="6" name="Text 4"/>
          <p:cNvSpPr/>
          <p:nvPr/>
        </p:nvSpPr>
        <p:spPr>
          <a:xfrm>
            <a:off x="960120" y="2304288"/>
            <a:ext cx="4800600" cy="685800"/>
          </a:xfrm>
          <a:prstGeom prst="rect">
            <a:avLst/>
          </a:prstGeom>
          <a:noFill/>
          <a:ln/>
        </p:spPr>
        <p:txBody>
          <a:bodyPr wrap="square" lIns="0" tIns="0" rIns="0" bIns="0" rtlCol="0" anchor="ctr"/>
          <a:lstStyle/>
          <a:p>
            <a:pPr algn="ctr" indent="0" marL="0">
              <a:buNone/>
            </a:pPr>
            <a:r>
              <a:rPr lang="en-US" sz="3300" b="1" dirty="0">
                <a:solidFill>
                  <a:srgbClr val="0C447C"/>
                </a:solidFill>
                <a:latin typeface="Courier New" pitchFamily="34" charset="0"/>
                <a:ea typeface="Courier New" pitchFamily="34" charset="-122"/>
                <a:cs typeface="Courier New" pitchFamily="34" charset="-120"/>
              </a:rPr>
              <a:t>PM = IM × PN</a:t>
            </a:r>
            <a:endParaRPr lang="en-US" sz="3300" dirty="0"/>
          </a:p>
        </p:txBody>
      </p:sp>
      <p:sp>
        <p:nvSpPr>
          <p:cNvPr id="7" name="Text 5"/>
          <p:cNvSpPr/>
          <p:nvPr/>
        </p:nvSpPr>
        <p:spPr>
          <a:xfrm>
            <a:off x="960120" y="3017520"/>
            <a:ext cx="4800600" cy="310896"/>
          </a:xfrm>
          <a:prstGeom prst="rect">
            <a:avLst/>
          </a:prstGeom>
          <a:noFill/>
          <a:ln/>
        </p:spPr>
        <p:txBody>
          <a:bodyPr wrap="square" lIns="0" tIns="0" rIns="0" bIns="0" rtlCol="0" anchor="ctr"/>
          <a:lstStyle/>
          <a:p>
            <a:pPr algn="ctr" indent="0" marL="0">
              <a:buNone/>
            </a:pPr>
            <a:r>
              <a:rPr lang="en-US" sz="1350" i="1" dirty="0">
                <a:solidFill>
                  <a:srgbClr val="5A6472"/>
                </a:solidFill>
                <a:latin typeface="Calibri" pitchFamily="34" charset="0"/>
                <a:ea typeface="Calibri" pitchFamily="34" charset="-122"/>
                <a:cs typeface="Calibri" pitchFamily="34" charset="-120"/>
              </a:rPr>
              <a:t>Poder Marítimo = Intereses Marítimos × Poder Naval</a:t>
            </a:r>
            <a:endParaRPr lang="en-US" sz="1350" dirty="0"/>
          </a:p>
        </p:txBody>
      </p:sp>
      <p:sp>
        <p:nvSpPr>
          <p:cNvPr id="8" name="Shape 6"/>
          <p:cNvSpPr/>
          <p:nvPr/>
        </p:nvSpPr>
        <p:spPr>
          <a:xfrm>
            <a:off x="960120" y="3493008"/>
            <a:ext cx="4800600" cy="0"/>
          </a:xfrm>
          <a:prstGeom prst="line">
            <a:avLst/>
          </a:prstGeom>
          <a:noFill/>
          <a:ln w="9525">
            <a:solidFill>
              <a:srgbClr val="185FA5">
                <a:alpha val="45000"/>
              </a:srgbClr>
            </a:solidFill>
            <a:prstDash val="solid"/>
          </a:ln>
        </p:spPr>
      </p:sp>
      <p:sp>
        <p:nvSpPr>
          <p:cNvPr id="9" name="Text 7"/>
          <p:cNvSpPr/>
          <p:nvPr/>
        </p:nvSpPr>
        <p:spPr>
          <a:xfrm>
            <a:off x="960120" y="3657600"/>
            <a:ext cx="4846320" cy="2103120"/>
          </a:xfrm>
          <a:prstGeom prst="rect">
            <a:avLst/>
          </a:prstGeom>
          <a:noFill/>
          <a:ln/>
        </p:spPr>
        <p:txBody>
          <a:bodyPr wrap="square" lIns="0" tIns="0" rIns="0" bIns="0" rtlCol="0" anchor="ctr"/>
          <a:lstStyle/>
          <a:p>
            <a:pPr indent="0" marL="0">
              <a:lnSpc>
                <a:spcPts val="2000"/>
              </a:lnSpc>
              <a:spcAft>
                <a:spcPts val="600"/>
              </a:spcAft>
              <a:buNone/>
            </a:pPr>
            <a:r>
              <a:rPr lang="en-US" sz="1300" b="1" dirty="0">
                <a:solidFill>
                  <a:srgbClr val="0D2A42"/>
                </a:solidFill>
                <a:latin typeface="Calibri" pitchFamily="34" charset="0"/>
                <a:ea typeface="Calibri" pitchFamily="34" charset="-122"/>
                <a:cs typeface="Calibri" pitchFamily="34" charset="-120"/>
              </a:rPr>
              <a:t>Solís Oyarzún (1997)</a:t>
            </a:r>
            <a:pPr indent="0" marL="0">
              <a:lnSpc>
                <a:spcPts val="2000"/>
              </a:lnSpc>
              <a:spcAft>
                <a:spcPts val="600"/>
              </a:spcAft>
              <a:buNone/>
            </a:pPr>
            <a:r>
              <a:rPr lang="en-US" sz="1300" dirty="0">
                <a:solidFill>
                  <a:srgbClr val="5A6472"/>
                </a:solidFill>
                <a:latin typeface="Calibri" pitchFamily="34" charset="0"/>
                <a:ea typeface="Calibri" pitchFamily="34" charset="-122"/>
                <a:cs typeface="Calibri" pitchFamily="34" charset="-120"/>
              </a:rPr>
              <a:t> — Academia de Guerra Naval de Chile</a:t>
            </a:r>
            <a:endParaRPr lang="en-US" sz="1300" dirty="0"/>
          </a:p>
          <a:p>
            <a:pPr indent="0" marL="0">
              <a:lnSpc>
                <a:spcPts val="2000"/>
              </a:lnSpc>
              <a:spcAft>
                <a:spcPts val="600"/>
              </a:spcAft>
              <a:buNone/>
            </a:pPr>
            <a:r>
              <a:rPr lang="en-US" sz="1300" b="1" dirty="0">
                <a:solidFill>
                  <a:srgbClr val="0D2A42"/>
                </a:solidFill>
                <a:latin typeface="Calibri" pitchFamily="34" charset="0"/>
                <a:ea typeface="Calibri" pitchFamily="34" charset="-122"/>
                <a:cs typeface="Calibri" pitchFamily="34" charset="-120"/>
              </a:rPr>
              <a:t>Till (2007)</a:t>
            </a:r>
            <a:pPr indent="0" marL="0">
              <a:lnSpc>
                <a:spcPts val="2000"/>
              </a:lnSpc>
              <a:spcAft>
                <a:spcPts val="600"/>
              </a:spcAft>
              <a:buNone/>
            </a:pPr>
            <a:r>
              <a:rPr lang="en-US" sz="1300" dirty="0">
                <a:solidFill>
                  <a:srgbClr val="5A6472"/>
                </a:solidFill>
                <a:latin typeface="Calibri" pitchFamily="34" charset="0"/>
                <a:ea typeface="Calibri" pitchFamily="34" charset="-122"/>
                <a:cs typeface="Calibri" pitchFamily="34" charset="-120"/>
              </a:rPr>
              <a:t> — relación ceñida e indivisible IM ↔ PN</a:t>
            </a:r>
            <a:endParaRPr lang="en-US" sz="1300" dirty="0"/>
          </a:p>
          <a:p>
            <a:pPr indent="0" marL="0">
              <a:lnSpc>
                <a:spcPts val="2000"/>
              </a:lnSpc>
              <a:spcAft>
                <a:spcPts val="600"/>
              </a:spcAft>
              <a:buNone/>
            </a:pPr>
            <a:r>
              <a:rPr lang="en-US" sz="1300" b="1" dirty="0">
                <a:solidFill>
                  <a:srgbClr val="0D2A42"/>
                </a:solidFill>
                <a:latin typeface="Calibri" pitchFamily="34" charset="0"/>
                <a:ea typeface="Calibri" pitchFamily="34" charset="-122"/>
                <a:cs typeface="Calibri" pitchFamily="34" charset="-120"/>
              </a:rPr>
              <a:t>Uribe Cáceres et al. (2016)</a:t>
            </a:r>
            <a:pPr indent="0" marL="0">
              <a:lnSpc>
                <a:spcPts val="2000"/>
              </a:lnSpc>
              <a:spcAft>
                <a:spcPts val="600"/>
              </a:spcAft>
              <a:buNone/>
            </a:pPr>
            <a:r>
              <a:rPr lang="en-US" sz="1300" dirty="0">
                <a:solidFill>
                  <a:srgbClr val="5A6472"/>
                </a:solidFill>
                <a:latin typeface="Calibri" pitchFamily="34" charset="0"/>
                <a:ea typeface="Calibri" pitchFamily="34" charset="-122"/>
                <a:cs typeface="Calibri" pitchFamily="34" charset="-120"/>
              </a:rPr>
              <a:t> — adopción doctrinal en Colombia</a:t>
            </a:r>
            <a:endParaRPr lang="en-US" sz="1300" dirty="0"/>
          </a:p>
          <a:p>
            <a:pPr indent="0" marL="0">
              <a:lnSpc>
                <a:spcPts val="2000"/>
              </a:lnSpc>
              <a:spcAft>
                <a:spcPts val="600"/>
              </a:spcAft>
              <a:buNone/>
            </a:pPr>
            <a:r>
              <a:rPr lang="en-US" sz="1300" b="1" dirty="0">
                <a:solidFill>
                  <a:srgbClr val="0D2A42"/>
                </a:solidFill>
                <a:latin typeface="Calibri" pitchFamily="34" charset="0"/>
                <a:ea typeface="Calibri" pitchFamily="34" charset="-122"/>
                <a:cs typeface="Calibri" pitchFamily="34" charset="-120"/>
              </a:rPr>
              <a:t>PDN 2042 (ARC, 2022)</a:t>
            </a:r>
            <a:pPr indent="0" marL="0">
              <a:lnSpc>
                <a:spcPts val="2000"/>
              </a:lnSpc>
              <a:spcAft>
                <a:spcPts val="600"/>
              </a:spcAft>
              <a:buNone/>
            </a:pPr>
            <a:r>
              <a:rPr lang="en-US" sz="1300" dirty="0">
                <a:solidFill>
                  <a:srgbClr val="5A6472"/>
                </a:solidFill>
                <a:latin typeface="Calibri" pitchFamily="34" charset="0"/>
                <a:ea typeface="Calibri" pitchFamily="34" charset="-122"/>
                <a:cs typeface="Calibri" pitchFamily="34" charset="-120"/>
              </a:rPr>
              <a:t> — vigencia institucional en la Armada</a:t>
            </a:r>
            <a:endParaRPr lang="en-US" sz="1300" dirty="0"/>
          </a:p>
        </p:txBody>
      </p:sp>
      <p:sp>
        <p:nvSpPr>
          <p:cNvPr id="10" name="Shape 8"/>
          <p:cNvSpPr/>
          <p:nvPr/>
        </p:nvSpPr>
        <p:spPr>
          <a:xfrm>
            <a:off x="6355080" y="1691640"/>
            <a:ext cx="5193792" cy="4160520"/>
          </a:xfrm>
          <a:prstGeom prst="roundRect">
            <a:avLst>
              <a:gd name="adj" fmla="val 1538"/>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11" name="Shape 9"/>
          <p:cNvSpPr/>
          <p:nvPr/>
        </p:nvSpPr>
        <p:spPr>
          <a:xfrm>
            <a:off x="6656832" y="1956816"/>
            <a:ext cx="475488" cy="475488"/>
          </a:xfrm>
          <a:prstGeom prst="ellipse">
            <a:avLst/>
          </a:prstGeom>
          <a:solidFill>
            <a:srgbClr val="993C1D"/>
          </a:solidFill>
          <a:ln/>
        </p:spPr>
      </p:sp>
      <p:pic>
        <p:nvPicPr>
          <p:cNvPr id="12" name="Image 0" descr="preencoded.png">    </p:cNvPr>
          <p:cNvPicPr>
            <a:picLocks noChangeAspect="1"/>
          </p:cNvPicPr>
          <p:nvPr/>
        </p:nvPicPr>
        <p:blipFill>
          <a:blip r:embed="rId1"/>
          <a:stretch>
            <a:fillRect/>
          </a:stretch>
        </p:blipFill>
        <p:spPr>
          <a:xfrm>
            <a:off x="6770949" y="2070933"/>
            <a:ext cx="247254" cy="247254"/>
          </a:xfrm>
          <a:prstGeom prst="rect">
            <a:avLst/>
          </a:prstGeom>
        </p:spPr>
      </p:pic>
      <p:sp>
        <p:nvSpPr>
          <p:cNvPr id="13" name="Text 10"/>
          <p:cNvSpPr/>
          <p:nvPr/>
        </p:nvSpPr>
        <p:spPr>
          <a:xfrm>
            <a:off x="7269480" y="2048256"/>
            <a:ext cx="4114800" cy="292608"/>
          </a:xfrm>
          <a:prstGeom prst="rect">
            <a:avLst/>
          </a:prstGeom>
          <a:noFill/>
          <a:ln/>
        </p:spPr>
        <p:txBody>
          <a:bodyPr wrap="square" lIns="0" tIns="0" rIns="0" bIns="0" rtlCol="0" anchor="ctr"/>
          <a:lstStyle/>
          <a:p>
            <a:pPr indent="0" marL="0">
              <a:buNone/>
            </a:pPr>
            <a:r>
              <a:rPr lang="en-US" sz="1250" b="1" spc="200" kern="0" dirty="0">
                <a:solidFill>
                  <a:srgbClr val="993C1D"/>
                </a:solidFill>
                <a:latin typeface="Calibri" pitchFamily="34" charset="0"/>
                <a:ea typeface="Calibri" pitchFamily="34" charset="-122"/>
                <a:cs typeface="Calibri" pitchFamily="34" charset="-120"/>
              </a:rPr>
              <a:t>LA BRECHA CONCEPTUAL</a:t>
            </a:r>
            <a:endParaRPr lang="en-US" sz="1250" dirty="0"/>
          </a:p>
        </p:txBody>
      </p:sp>
      <p:sp>
        <p:nvSpPr>
          <p:cNvPr id="14" name="Text 11"/>
          <p:cNvSpPr/>
          <p:nvPr/>
        </p:nvSpPr>
        <p:spPr>
          <a:xfrm>
            <a:off x="6675120" y="2606040"/>
            <a:ext cx="4553712" cy="868680"/>
          </a:xfrm>
          <a:prstGeom prst="rect">
            <a:avLst/>
          </a:prstGeom>
          <a:noFill/>
          <a:ln/>
        </p:spPr>
        <p:txBody>
          <a:bodyPr wrap="square" lIns="0" tIns="0" rIns="0" bIns="0" rtlCol="0" anchor="ctr"/>
          <a:lstStyle/>
          <a:p>
            <a:pPr indent="0" marL="0">
              <a:buNone/>
            </a:pPr>
            <a:r>
              <a:rPr lang="en-US" sz="1750" b="1" dirty="0">
                <a:solidFill>
                  <a:srgbClr val="712B13"/>
                </a:solidFill>
                <a:latin typeface="Calibri" pitchFamily="34" charset="0"/>
                <a:ea typeface="Calibri" pitchFamily="34" charset="-122"/>
                <a:cs typeface="Calibri" pitchFamily="34" charset="-120"/>
              </a:rPr>
              <a:t>La formulación clásica no incorpora el ciberespacio como dominio operativo y estratégico.</a:t>
            </a:r>
            <a:endParaRPr lang="en-US" sz="1750" dirty="0"/>
          </a:p>
        </p:txBody>
      </p:sp>
      <p:sp>
        <p:nvSpPr>
          <p:cNvPr id="15" name="Text 12"/>
          <p:cNvSpPr/>
          <p:nvPr/>
        </p:nvSpPr>
        <p:spPr>
          <a:xfrm>
            <a:off x="6675120" y="3611880"/>
            <a:ext cx="4553712" cy="2103120"/>
          </a:xfrm>
          <a:prstGeom prst="rect">
            <a:avLst/>
          </a:prstGeom>
          <a:noFill/>
          <a:ln/>
        </p:spPr>
        <p:txBody>
          <a:bodyPr wrap="square" lIns="0" tIns="0" rIns="0" bIns="0" rtlCol="0" anchor="ctr"/>
          <a:lstStyle/>
          <a:p>
            <a:pPr indent="0" marL="0">
              <a:lnSpc>
                <a:spcPts val="2100"/>
              </a:lnSpc>
              <a:buNone/>
            </a:pPr>
            <a:r>
              <a:rPr lang="en-US" sz="1450" dirty="0">
                <a:solidFill>
                  <a:srgbClr val="1A1A1A"/>
                </a:solidFill>
                <a:latin typeface="Calibri" pitchFamily="34" charset="0"/>
                <a:ea typeface="Calibri" pitchFamily="34" charset="-122"/>
                <a:cs typeface="Calibri" pitchFamily="34" charset="-120"/>
              </a:rPr>
              <a:t>Los sistemas de navegación, comunicaciones, control de tráfico e infraestructura portuaria dependen de redes digitales interconectadas.</a:t>
            </a:r>
            <a:endParaRPr lang="en-US" sz="1450" dirty="0"/>
          </a:p>
          <a:p>
            <a:pPr indent="0" marL="0">
              <a:lnSpc>
                <a:spcPts val="2100"/>
              </a:lnSpc>
              <a:buNone/>
            </a:pPr>
            <a:endParaRPr lang="en-US" sz="1450" dirty="0"/>
          </a:p>
          <a:p>
            <a:pPr indent="0" marL="0">
              <a:lnSpc>
                <a:spcPts val="2100"/>
              </a:lnSpc>
              <a:buNone/>
            </a:pPr>
            <a:r>
              <a:rPr lang="en-US" sz="1450" dirty="0">
                <a:solidFill>
                  <a:srgbClr val="1A1A1A"/>
                </a:solidFill>
                <a:latin typeface="Calibri" pitchFamily="34" charset="0"/>
                <a:ea typeface="Calibri" pitchFamily="34" charset="-122"/>
                <a:cs typeface="Calibri" pitchFamily="34" charset="-120"/>
              </a:rPr>
              <a:t>Esa vulnerabilidad altera las condiciones de ejercicio del poder marítimo — especialmente para potencias medias con alta dependencia del dominio marítimo.</a:t>
            </a:r>
            <a:endParaRPr lang="en-US" sz="1450" dirty="0"/>
          </a:p>
        </p:txBody>
      </p:sp>
      <p:sp>
        <p:nvSpPr>
          <p:cNvPr id="16" name="Text 13"/>
          <p:cNvSpPr/>
          <p:nvPr/>
        </p:nvSpPr>
        <p:spPr>
          <a:xfrm>
            <a:off x="640080" y="6108192"/>
            <a:ext cx="10881360" cy="365760"/>
          </a:xfrm>
          <a:prstGeom prst="rect">
            <a:avLst/>
          </a:prstGeom>
          <a:noFill/>
          <a:ln/>
        </p:spPr>
        <p:txBody>
          <a:bodyPr wrap="square" lIns="0" tIns="0" rIns="0" bIns="0" rtlCol="0" anchor="ctr"/>
          <a:lstStyle/>
          <a:p>
            <a:pPr algn="ctr" indent="0" marL="0">
              <a:buNone/>
            </a:pPr>
            <a:r>
              <a:rPr lang="en-US" sz="1500" i="1" dirty="0">
                <a:solidFill>
                  <a:srgbClr val="0D2A42"/>
                </a:solidFill>
                <a:latin typeface="Cambria" pitchFamily="34" charset="0"/>
                <a:ea typeface="Cambria" pitchFamily="34" charset="-122"/>
                <a:cs typeface="Cambria" pitchFamily="34" charset="-120"/>
              </a:rPr>
              <a:t>El artículo actualiza la fórmula — no la reemplaza — en continuidad con la tradición del campo.</a:t>
            </a:r>
            <a:endParaRPr lang="en-US" sz="1500" dirty="0"/>
          </a:p>
        </p:txBody>
      </p:sp>
      <p:sp>
        <p:nvSpPr>
          <p:cNvPr id="17" name="Text 14"/>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993C1D"/>
                </a:solidFill>
                <a:latin typeface="Calibri" pitchFamily="34" charset="0"/>
                <a:ea typeface="Calibri" pitchFamily="34" charset="-122"/>
                <a:cs typeface="Calibri" pitchFamily="34" charset="-120"/>
              </a:rPr>
              <a:t>EVIDENCIA EMPÍRICA</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El ciberespacio ya degrada el poder marítimo</a:t>
            </a:r>
            <a:endParaRPr lang="en-US" sz="3100" dirty="0"/>
          </a:p>
        </p:txBody>
      </p:sp>
      <p:sp>
        <p:nvSpPr>
          <p:cNvPr id="4" name="Shape 2"/>
          <p:cNvSpPr/>
          <p:nvPr/>
        </p:nvSpPr>
        <p:spPr>
          <a:xfrm>
            <a:off x="640080" y="1783080"/>
            <a:ext cx="2670048" cy="3200400"/>
          </a:xfrm>
          <a:prstGeom prst="roundRect">
            <a:avLst>
              <a:gd name="adj" fmla="val 2397"/>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5" name="Text 3"/>
          <p:cNvSpPr/>
          <p:nvPr/>
        </p:nvSpPr>
        <p:spPr>
          <a:xfrm>
            <a:off x="786384" y="2039112"/>
            <a:ext cx="2377440" cy="566928"/>
          </a:xfrm>
          <a:prstGeom prst="rect">
            <a:avLst/>
          </a:prstGeom>
          <a:noFill/>
          <a:ln/>
        </p:spPr>
        <p:txBody>
          <a:bodyPr wrap="square" lIns="0" tIns="0" rIns="0" bIns="0" rtlCol="0" anchor="ctr"/>
          <a:lstStyle/>
          <a:p>
            <a:pPr algn="ctr" indent="0" marL="0">
              <a:buNone/>
            </a:pPr>
            <a:r>
              <a:rPr lang="en-US" sz="2700" b="1" dirty="0">
                <a:solidFill>
                  <a:srgbClr val="993C1D"/>
                </a:solidFill>
                <a:latin typeface="Cambria" pitchFamily="34" charset="0"/>
                <a:ea typeface="Cambria" pitchFamily="34" charset="-122"/>
                <a:cs typeface="Cambria" pitchFamily="34" charset="-120"/>
              </a:rPr>
              <a:t>USD 300 M</a:t>
            </a:r>
            <a:endParaRPr lang="en-US" sz="2700" dirty="0"/>
          </a:p>
        </p:txBody>
      </p:sp>
      <p:sp>
        <p:nvSpPr>
          <p:cNvPr id="6" name="Text 4"/>
          <p:cNvSpPr/>
          <p:nvPr/>
        </p:nvSpPr>
        <p:spPr>
          <a:xfrm>
            <a:off x="822960" y="2743200"/>
            <a:ext cx="2304288" cy="566928"/>
          </a:xfrm>
          <a:prstGeom prst="rect">
            <a:avLst/>
          </a:prstGeom>
          <a:noFill/>
          <a:ln/>
        </p:spPr>
        <p:txBody>
          <a:bodyPr wrap="square" lIns="0" tIns="0" rIns="0" bIns="0" rtlCol="0" anchor="ctr"/>
          <a:lstStyle/>
          <a:p>
            <a:pPr algn="ctr" indent="0" marL="0">
              <a:buNone/>
            </a:pPr>
            <a:r>
              <a:rPr lang="en-US" sz="1400" b="1" dirty="0">
                <a:solidFill>
                  <a:srgbClr val="0D2A42"/>
                </a:solidFill>
                <a:latin typeface="Calibri" pitchFamily="34" charset="0"/>
                <a:ea typeface="Calibri" pitchFamily="34" charset="-122"/>
                <a:cs typeface="Calibri" pitchFamily="34" charset="-120"/>
              </a:rPr>
              <a:t>Ciberataque a Maersk (2017)</a:t>
            </a:r>
            <a:endParaRPr lang="en-US" sz="1400" dirty="0"/>
          </a:p>
        </p:txBody>
      </p:sp>
      <p:sp>
        <p:nvSpPr>
          <p:cNvPr id="7" name="Text 5"/>
          <p:cNvSpPr/>
          <p:nvPr/>
        </p:nvSpPr>
        <p:spPr>
          <a:xfrm>
            <a:off x="822960" y="3355848"/>
            <a:ext cx="2304288" cy="1051560"/>
          </a:xfrm>
          <a:prstGeom prst="rect">
            <a:avLst/>
          </a:prstGeom>
          <a:noFill/>
          <a:ln/>
        </p:spPr>
        <p:txBody>
          <a:bodyPr wrap="square" lIns="0" tIns="0" rIns="0" bIns="0" rtlCol="0" anchor="ctr"/>
          <a:lstStyle/>
          <a:p>
            <a:pPr algn="ctr" indent="0" marL="0">
              <a:lnSpc>
                <a:spcPts val="1700"/>
              </a:lnSpc>
              <a:buNone/>
            </a:pPr>
            <a:r>
              <a:rPr lang="en-US" sz="1250" dirty="0">
                <a:solidFill>
                  <a:srgbClr val="1A1A1A"/>
                </a:solidFill>
                <a:latin typeface="Calibri" pitchFamily="34" charset="0"/>
                <a:ea typeface="Calibri" pitchFamily="34" charset="-122"/>
                <a:cs typeface="Calibri" pitchFamily="34" charset="-120"/>
              </a:rPr>
              <a:t>Operaciones suspendidas ~3 días en 80 puertos; 10 días de recuperación total.</a:t>
            </a:r>
            <a:endParaRPr lang="en-US" sz="1250" dirty="0"/>
          </a:p>
        </p:txBody>
      </p:sp>
      <p:sp>
        <p:nvSpPr>
          <p:cNvPr id="8" name="Text 6"/>
          <p:cNvSpPr/>
          <p:nvPr/>
        </p:nvSpPr>
        <p:spPr>
          <a:xfrm>
            <a:off x="822960" y="4453128"/>
            <a:ext cx="2304288" cy="457200"/>
          </a:xfrm>
          <a:prstGeom prst="rect">
            <a:avLst/>
          </a:prstGeom>
          <a:noFill/>
          <a:ln/>
        </p:spPr>
        <p:txBody>
          <a:bodyPr wrap="square" lIns="0" tIns="0" rIns="0" bIns="0" rtlCol="0" anchor="ctr"/>
          <a:lstStyle/>
          <a:p>
            <a:pPr algn="ctr" indent="0" marL="0">
              <a:lnSpc>
                <a:spcPts val="1300"/>
              </a:lnSpc>
              <a:buNone/>
            </a:pPr>
            <a:r>
              <a:rPr lang="en-US" sz="1000" i="1" dirty="0">
                <a:solidFill>
                  <a:srgbClr val="5A6472"/>
                </a:solidFill>
                <a:latin typeface="Calibri" pitchFamily="34" charset="0"/>
                <a:ea typeface="Calibri" pitchFamily="34" charset="-122"/>
                <a:cs typeface="Calibri" pitchFamily="34" charset="-120"/>
              </a:rPr>
              <a:t>Cabuya-Padilla et al. (2025); Espinel Bermúdez (2022)</a:t>
            </a:r>
            <a:endParaRPr lang="en-US" sz="1000" dirty="0"/>
          </a:p>
        </p:txBody>
      </p:sp>
      <p:sp>
        <p:nvSpPr>
          <p:cNvPr id="9" name="Shape 7"/>
          <p:cNvSpPr/>
          <p:nvPr/>
        </p:nvSpPr>
        <p:spPr>
          <a:xfrm>
            <a:off x="3482950" y="1783080"/>
            <a:ext cx="2670048" cy="3200400"/>
          </a:xfrm>
          <a:prstGeom prst="roundRect">
            <a:avLst>
              <a:gd name="adj" fmla="val 2397"/>
            </a:avLst>
          </a:prstGeom>
          <a:solidFill>
            <a:srgbClr val="EEEDFE"/>
          </a:solidFill>
          <a:ln w="12700">
            <a:solidFill>
              <a:srgbClr val="534AB7"/>
            </a:solidFill>
            <a:prstDash val="solid"/>
          </a:ln>
          <a:effectLst>
            <a:outerShdw sx="100000" sy="100000" kx="0" ky="0" algn="bl" rotWithShape="0" blurRad="88900" dist="25400" dir="5400000">
              <a:srgbClr val="A8B4C2">
                <a:alpha val="28000"/>
              </a:srgbClr>
            </a:outerShdw>
          </a:effectLst>
        </p:spPr>
      </p:sp>
      <p:sp>
        <p:nvSpPr>
          <p:cNvPr id="10" name="Text 8"/>
          <p:cNvSpPr/>
          <p:nvPr/>
        </p:nvSpPr>
        <p:spPr>
          <a:xfrm>
            <a:off x="3629254" y="2039112"/>
            <a:ext cx="2377440" cy="566928"/>
          </a:xfrm>
          <a:prstGeom prst="rect">
            <a:avLst/>
          </a:prstGeom>
          <a:noFill/>
          <a:ln/>
        </p:spPr>
        <p:txBody>
          <a:bodyPr wrap="square" lIns="0" tIns="0" rIns="0" bIns="0" rtlCol="0" anchor="ctr"/>
          <a:lstStyle/>
          <a:p>
            <a:pPr algn="ctr" indent="0" marL="0">
              <a:buNone/>
            </a:pPr>
            <a:r>
              <a:rPr lang="en-US" sz="2700" b="1" dirty="0">
                <a:solidFill>
                  <a:srgbClr val="534AB7"/>
                </a:solidFill>
                <a:latin typeface="Cambria" pitchFamily="34" charset="0"/>
                <a:ea typeface="Cambria" pitchFamily="34" charset="-122"/>
                <a:cs typeface="Cambria" pitchFamily="34" charset="-120"/>
              </a:rPr>
              <a:t>+900 %</a:t>
            </a:r>
            <a:endParaRPr lang="en-US" sz="2700" dirty="0"/>
          </a:p>
        </p:txBody>
      </p:sp>
      <p:sp>
        <p:nvSpPr>
          <p:cNvPr id="11" name="Text 9"/>
          <p:cNvSpPr/>
          <p:nvPr/>
        </p:nvSpPr>
        <p:spPr>
          <a:xfrm>
            <a:off x="3665830" y="2743200"/>
            <a:ext cx="2304288" cy="566928"/>
          </a:xfrm>
          <a:prstGeom prst="rect">
            <a:avLst/>
          </a:prstGeom>
          <a:noFill/>
          <a:ln/>
        </p:spPr>
        <p:txBody>
          <a:bodyPr wrap="square" lIns="0" tIns="0" rIns="0" bIns="0" rtlCol="0" anchor="ctr"/>
          <a:lstStyle/>
          <a:p>
            <a:pPr algn="ctr" indent="0" marL="0">
              <a:buNone/>
            </a:pPr>
            <a:r>
              <a:rPr lang="en-US" sz="1400" b="1" dirty="0">
                <a:solidFill>
                  <a:srgbClr val="0D2A42"/>
                </a:solidFill>
                <a:latin typeface="Calibri" pitchFamily="34" charset="0"/>
                <a:ea typeface="Calibri" pitchFamily="34" charset="-122"/>
                <a:cs typeface="Calibri" pitchFamily="34" charset="-120"/>
              </a:rPr>
              <a:t>Ciberataques al sector marítimo</a:t>
            </a:r>
            <a:endParaRPr lang="en-US" sz="1400" dirty="0"/>
          </a:p>
        </p:txBody>
      </p:sp>
      <p:sp>
        <p:nvSpPr>
          <p:cNvPr id="12" name="Text 10"/>
          <p:cNvSpPr/>
          <p:nvPr/>
        </p:nvSpPr>
        <p:spPr>
          <a:xfrm>
            <a:off x="3665830" y="3355848"/>
            <a:ext cx="2304288" cy="1051560"/>
          </a:xfrm>
          <a:prstGeom prst="rect">
            <a:avLst/>
          </a:prstGeom>
          <a:noFill/>
          <a:ln/>
        </p:spPr>
        <p:txBody>
          <a:bodyPr wrap="square" lIns="0" tIns="0" rIns="0" bIns="0" rtlCol="0" anchor="ctr"/>
          <a:lstStyle/>
          <a:p>
            <a:pPr algn="ctr" indent="0" marL="0">
              <a:lnSpc>
                <a:spcPts val="1700"/>
              </a:lnSpc>
              <a:buNone/>
            </a:pPr>
            <a:r>
              <a:rPr lang="en-US" sz="1250" dirty="0">
                <a:solidFill>
                  <a:srgbClr val="1A1A1A"/>
                </a:solidFill>
                <a:latin typeface="Calibri" pitchFamily="34" charset="0"/>
                <a:ea typeface="Calibri" pitchFamily="34" charset="-122"/>
                <a:cs typeface="Calibri" pitchFamily="34" charset="-120"/>
              </a:rPr>
              <a:t>Incremento en solo tres años contra buques, puertos y sistemas del dominio.</a:t>
            </a:r>
            <a:endParaRPr lang="en-US" sz="1250" dirty="0"/>
          </a:p>
        </p:txBody>
      </p:sp>
      <p:sp>
        <p:nvSpPr>
          <p:cNvPr id="13" name="Text 11"/>
          <p:cNvSpPr/>
          <p:nvPr/>
        </p:nvSpPr>
        <p:spPr>
          <a:xfrm>
            <a:off x="3665830" y="4453128"/>
            <a:ext cx="2304288" cy="457200"/>
          </a:xfrm>
          <a:prstGeom prst="rect">
            <a:avLst/>
          </a:prstGeom>
          <a:noFill/>
          <a:ln/>
        </p:spPr>
        <p:txBody>
          <a:bodyPr wrap="square" lIns="0" tIns="0" rIns="0" bIns="0" rtlCol="0" anchor="ctr"/>
          <a:lstStyle/>
          <a:p>
            <a:pPr algn="ctr" indent="0" marL="0">
              <a:lnSpc>
                <a:spcPts val="1300"/>
              </a:lnSpc>
              <a:buNone/>
            </a:pPr>
            <a:r>
              <a:rPr lang="en-US" sz="1000" i="1" dirty="0">
                <a:solidFill>
                  <a:srgbClr val="5A6472"/>
                </a:solidFill>
                <a:latin typeface="Calibri" pitchFamily="34" charset="0"/>
                <a:ea typeface="Calibri" pitchFamily="34" charset="-122"/>
                <a:cs typeface="Calibri" pitchFamily="34" charset="-120"/>
              </a:rPr>
              <a:t>Cabuya-Padilla &amp; Castaneda-M. (2024, p. 171)</a:t>
            </a:r>
            <a:endParaRPr lang="en-US" sz="1000" dirty="0"/>
          </a:p>
        </p:txBody>
      </p:sp>
      <p:sp>
        <p:nvSpPr>
          <p:cNvPr id="14" name="Shape 12"/>
          <p:cNvSpPr/>
          <p:nvPr/>
        </p:nvSpPr>
        <p:spPr>
          <a:xfrm>
            <a:off x="6325819" y="1783080"/>
            <a:ext cx="2670048" cy="3200400"/>
          </a:xfrm>
          <a:prstGeom prst="roundRect">
            <a:avLst>
              <a:gd name="adj" fmla="val 2397"/>
            </a:avLst>
          </a:prstGeom>
          <a:solidFill>
            <a:srgbClr val="FEF4E4"/>
          </a:solidFill>
          <a:ln w="12700">
            <a:solidFill>
              <a:srgbClr val="854F0B"/>
            </a:solidFill>
            <a:prstDash val="solid"/>
          </a:ln>
          <a:effectLst>
            <a:outerShdw sx="100000" sy="100000" kx="0" ky="0" algn="bl" rotWithShape="0" blurRad="88900" dist="25400" dir="5400000">
              <a:srgbClr val="A8B4C2">
                <a:alpha val="28000"/>
              </a:srgbClr>
            </a:outerShdw>
          </a:effectLst>
        </p:spPr>
      </p:sp>
      <p:sp>
        <p:nvSpPr>
          <p:cNvPr id="15" name="Text 13"/>
          <p:cNvSpPr/>
          <p:nvPr/>
        </p:nvSpPr>
        <p:spPr>
          <a:xfrm>
            <a:off x="6472123" y="2039112"/>
            <a:ext cx="2377440" cy="566928"/>
          </a:xfrm>
          <a:prstGeom prst="rect">
            <a:avLst/>
          </a:prstGeom>
          <a:noFill/>
          <a:ln/>
        </p:spPr>
        <p:txBody>
          <a:bodyPr wrap="square" lIns="0" tIns="0" rIns="0" bIns="0" rtlCol="0" anchor="ctr"/>
          <a:lstStyle/>
          <a:p>
            <a:pPr algn="ctr" indent="0" marL="0">
              <a:buNone/>
            </a:pPr>
            <a:r>
              <a:rPr lang="en-US" sz="1900" b="1" dirty="0">
                <a:solidFill>
                  <a:srgbClr val="854F0B"/>
                </a:solidFill>
                <a:latin typeface="Cambria" pitchFamily="34" charset="0"/>
                <a:ea typeface="Cambria" pitchFamily="34" charset="-122"/>
                <a:cs typeface="Cambria" pitchFamily="34" charset="-120"/>
              </a:rPr>
              <a:t>AIS · GNSS · ECDIS</a:t>
            </a:r>
            <a:endParaRPr lang="en-US" sz="1900" dirty="0"/>
          </a:p>
        </p:txBody>
      </p:sp>
      <p:sp>
        <p:nvSpPr>
          <p:cNvPr id="16" name="Text 14"/>
          <p:cNvSpPr/>
          <p:nvPr/>
        </p:nvSpPr>
        <p:spPr>
          <a:xfrm>
            <a:off x="6508699" y="2743200"/>
            <a:ext cx="2304288" cy="566928"/>
          </a:xfrm>
          <a:prstGeom prst="rect">
            <a:avLst/>
          </a:prstGeom>
          <a:noFill/>
          <a:ln/>
        </p:spPr>
        <p:txBody>
          <a:bodyPr wrap="square" lIns="0" tIns="0" rIns="0" bIns="0" rtlCol="0" anchor="ctr"/>
          <a:lstStyle/>
          <a:p>
            <a:pPr algn="ctr" indent="0" marL="0">
              <a:buNone/>
            </a:pPr>
            <a:r>
              <a:rPr lang="en-US" sz="1400" b="1" dirty="0">
                <a:solidFill>
                  <a:srgbClr val="0D2A42"/>
                </a:solidFill>
                <a:latin typeface="Calibri" pitchFamily="34" charset="0"/>
                <a:ea typeface="Calibri" pitchFamily="34" charset="-122"/>
                <a:cs typeface="Calibri" pitchFamily="34" charset="-120"/>
              </a:rPr>
              <a:t>Sistemas recurrentemente vulnerados</a:t>
            </a:r>
            <a:endParaRPr lang="en-US" sz="1400" dirty="0"/>
          </a:p>
        </p:txBody>
      </p:sp>
      <p:sp>
        <p:nvSpPr>
          <p:cNvPr id="17" name="Text 15"/>
          <p:cNvSpPr/>
          <p:nvPr/>
        </p:nvSpPr>
        <p:spPr>
          <a:xfrm>
            <a:off x="6508699" y="3355848"/>
            <a:ext cx="2304288" cy="1051560"/>
          </a:xfrm>
          <a:prstGeom prst="rect">
            <a:avLst/>
          </a:prstGeom>
          <a:noFill/>
          <a:ln/>
        </p:spPr>
        <p:txBody>
          <a:bodyPr wrap="square" lIns="0" tIns="0" rIns="0" bIns="0" rtlCol="0" anchor="ctr"/>
          <a:lstStyle/>
          <a:p>
            <a:pPr algn="ctr" indent="0" marL="0">
              <a:lnSpc>
                <a:spcPts val="1700"/>
              </a:lnSpc>
              <a:buNone/>
            </a:pPr>
            <a:r>
              <a:rPr lang="en-US" sz="1250" dirty="0">
                <a:solidFill>
                  <a:srgbClr val="1A1A1A"/>
                </a:solidFill>
                <a:latin typeface="Calibri" pitchFamily="34" charset="0"/>
                <a:ea typeface="Calibri" pitchFamily="34" charset="-122"/>
                <a:cs typeface="Calibri" pitchFamily="34" charset="-120"/>
              </a:rPr>
              <a:t>Interferencia, suplantación y compromiso de datos sobre la conciencia del dominio (MDA).</a:t>
            </a:r>
            <a:endParaRPr lang="en-US" sz="1250" dirty="0"/>
          </a:p>
        </p:txBody>
      </p:sp>
      <p:sp>
        <p:nvSpPr>
          <p:cNvPr id="18" name="Text 16"/>
          <p:cNvSpPr/>
          <p:nvPr/>
        </p:nvSpPr>
        <p:spPr>
          <a:xfrm>
            <a:off x="6508699" y="4453128"/>
            <a:ext cx="2304288" cy="457200"/>
          </a:xfrm>
          <a:prstGeom prst="rect">
            <a:avLst/>
          </a:prstGeom>
          <a:noFill/>
          <a:ln/>
        </p:spPr>
        <p:txBody>
          <a:bodyPr wrap="square" lIns="0" tIns="0" rIns="0" bIns="0" rtlCol="0" anchor="ctr"/>
          <a:lstStyle/>
          <a:p>
            <a:pPr algn="ctr" indent="0" marL="0">
              <a:lnSpc>
                <a:spcPts val="1300"/>
              </a:lnSpc>
              <a:buNone/>
            </a:pPr>
            <a:r>
              <a:rPr lang="en-US" sz="1000" i="1" dirty="0">
                <a:solidFill>
                  <a:srgbClr val="5A6472"/>
                </a:solidFill>
                <a:latin typeface="Calibri" pitchFamily="34" charset="0"/>
                <a:ea typeface="Calibri" pitchFamily="34" charset="-122"/>
                <a:cs typeface="Calibri" pitchFamily="34" charset="-120"/>
              </a:rPr>
              <a:t>Martínez et al. (2024)</a:t>
            </a:r>
            <a:endParaRPr lang="en-US" sz="1000" dirty="0"/>
          </a:p>
        </p:txBody>
      </p:sp>
      <p:sp>
        <p:nvSpPr>
          <p:cNvPr id="19" name="Shape 17"/>
          <p:cNvSpPr/>
          <p:nvPr/>
        </p:nvSpPr>
        <p:spPr>
          <a:xfrm>
            <a:off x="9168689" y="1783080"/>
            <a:ext cx="2670048" cy="3200400"/>
          </a:xfrm>
          <a:prstGeom prst="roundRect">
            <a:avLst>
              <a:gd name="adj" fmla="val 2397"/>
            </a:avLst>
          </a:prstGeom>
          <a:solidFill>
            <a:srgbClr val="E1F5EE"/>
          </a:solidFill>
          <a:ln w="12700">
            <a:solidFill>
              <a:srgbClr val="0F6E56"/>
            </a:solidFill>
            <a:prstDash val="solid"/>
          </a:ln>
          <a:effectLst>
            <a:outerShdw sx="100000" sy="100000" kx="0" ky="0" algn="bl" rotWithShape="0" blurRad="88900" dist="25400" dir="5400000">
              <a:srgbClr val="A8B4C2">
                <a:alpha val="28000"/>
              </a:srgbClr>
            </a:outerShdw>
          </a:effectLst>
        </p:spPr>
      </p:sp>
      <p:sp>
        <p:nvSpPr>
          <p:cNvPr id="20" name="Text 18"/>
          <p:cNvSpPr/>
          <p:nvPr/>
        </p:nvSpPr>
        <p:spPr>
          <a:xfrm>
            <a:off x="9314993" y="2039112"/>
            <a:ext cx="2377440" cy="566928"/>
          </a:xfrm>
          <a:prstGeom prst="rect">
            <a:avLst/>
          </a:prstGeom>
          <a:noFill/>
          <a:ln/>
        </p:spPr>
        <p:txBody>
          <a:bodyPr wrap="square" lIns="0" tIns="0" rIns="0" bIns="0" rtlCol="0" anchor="ctr"/>
          <a:lstStyle/>
          <a:p>
            <a:pPr algn="ctr" indent="0" marL="0">
              <a:buNone/>
            </a:pPr>
            <a:r>
              <a:rPr lang="en-US" sz="2700" b="1" dirty="0">
                <a:solidFill>
                  <a:srgbClr val="0F6E56"/>
                </a:solidFill>
                <a:latin typeface="Cambria" pitchFamily="34" charset="0"/>
                <a:ea typeface="Cambria" pitchFamily="34" charset="-122"/>
                <a:cs typeface="Cambria" pitchFamily="34" charset="-120"/>
              </a:rPr>
              <a:t>2017 → 2021</a:t>
            </a:r>
            <a:endParaRPr lang="en-US" sz="2700" dirty="0"/>
          </a:p>
        </p:txBody>
      </p:sp>
      <p:sp>
        <p:nvSpPr>
          <p:cNvPr id="21" name="Text 19"/>
          <p:cNvSpPr/>
          <p:nvPr/>
        </p:nvSpPr>
        <p:spPr>
          <a:xfrm>
            <a:off x="9351569" y="2743200"/>
            <a:ext cx="2304288" cy="566928"/>
          </a:xfrm>
          <a:prstGeom prst="rect">
            <a:avLst/>
          </a:prstGeom>
          <a:noFill/>
          <a:ln/>
        </p:spPr>
        <p:txBody>
          <a:bodyPr wrap="square" lIns="0" tIns="0" rIns="0" bIns="0" rtlCol="0" anchor="ctr"/>
          <a:lstStyle/>
          <a:p>
            <a:pPr algn="ctr" indent="0" marL="0">
              <a:buNone/>
            </a:pPr>
            <a:r>
              <a:rPr lang="en-US" sz="1400" b="1" dirty="0">
                <a:solidFill>
                  <a:srgbClr val="0D2A42"/>
                </a:solidFill>
                <a:latin typeface="Calibri" pitchFamily="34" charset="0"/>
                <a:ea typeface="Calibri" pitchFamily="34" charset="-122"/>
                <a:cs typeface="Calibri" pitchFamily="34" charset="-120"/>
              </a:rPr>
              <a:t>Resolución MSC.428(98) — OMI</a:t>
            </a:r>
            <a:endParaRPr lang="en-US" sz="1400" dirty="0"/>
          </a:p>
        </p:txBody>
      </p:sp>
      <p:sp>
        <p:nvSpPr>
          <p:cNvPr id="22" name="Text 20"/>
          <p:cNvSpPr/>
          <p:nvPr/>
        </p:nvSpPr>
        <p:spPr>
          <a:xfrm>
            <a:off x="9351569" y="3355848"/>
            <a:ext cx="2304288" cy="1051560"/>
          </a:xfrm>
          <a:prstGeom prst="rect">
            <a:avLst/>
          </a:prstGeom>
          <a:noFill/>
          <a:ln/>
        </p:spPr>
        <p:txBody>
          <a:bodyPr wrap="square" lIns="0" tIns="0" rIns="0" bIns="0" rtlCol="0" anchor="ctr"/>
          <a:lstStyle/>
          <a:p>
            <a:pPr algn="ctr" indent="0" marL="0">
              <a:lnSpc>
                <a:spcPts val="1700"/>
              </a:lnSpc>
              <a:buNone/>
            </a:pPr>
            <a:r>
              <a:rPr lang="en-US" sz="1250" dirty="0">
                <a:solidFill>
                  <a:srgbClr val="1A1A1A"/>
                </a:solidFill>
                <a:latin typeface="Calibri" pitchFamily="34" charset="0"/>
                <a:ea typeface="Calibri" pitchFamily="34" charset="-122"/>
                <a:cs typeface="Calibri" pitchFamily="34" charset="-120"/>
              </a:rPr>
              <a:t>Gestión del riesgo cibernético exigible en los sistemas de gestión de la seguridad.</a:t>
            </a:r>
            <a:endParaRPr lang="en-US" sz="1250" dirty="0"/>
          </a:p>
        </p:txBody>
      </p:sp>
      <p:sp>
        <p:nvSpPr>
          <p:cNvPr id="23" name="Text 21"/>
          <p:cNvSpPr/>
          <p:nvPr/>
        </p:nvSpPr>
        <p:spPr>
          <a:xfrm>
            <a:off x="9351569" y="4453128"/>
            <a:ext cx="2304288" cy="457200"/>
          </a:xfrm>
          <a:prstGeom prst="rect">
            <a:avLst/>
          </a:prstGeom>
          <a:noFill/>
          <a:ln/>
        </p:spPr>
        <p:txBody>
          <a:bodyPr wrap="square" lIns="0" tIns="0" rIns="0" bIns="0" rtlCol="0" anchor="ctr"/>
          <a:lstStyle/>
          <a:p>
            <a:pPr algn="ctr" indent="0" marL="0">
              <a:lnSpc>
                <a:spcPts val="1300"/>
              </a:lnSpc>
              <a:buNone/>
            </a:pPr>
            <a:r>
              <a:rPr lang="en-US" sz="1000" i="1" dirty="0">
                <a:solidFill>
                  <a:srgbClr val="5A6472"/>
                </a:solidFill>
                <a:latin typeface="Calibri" pitchFamily="34" charset="0"/>
                <a:ea typeface="Calibri" pitchFamily="34" charset="-122"/>
                <a:cs typeface="Calibri" pitchFamily="34" charset="-120"/>
              </a:rPr>
              <a:t>OMI (2017; 2021)</a:t>
            </a:r>
            <a:endParaRPr lang="en-US" sz="1000" dirty="0"/>
          </a:p>
        </p:txBody>
      </p:sp>
      <p:sp>
        <p:nvSpPr>
          <p:cNvPr id="24" name="Text 22"/>
          <p:cNvSpPr/>
          <p:nvPr/>
        </p:nvSpPr>
        <p:spPr>
          <a:xfrm>
            <a:off x="822960" y="5349240"/>
            <a:ext cx="10515600" cy="685800"/>
          </a:xfrm>
          <a:prstGeom prst="rect">
            <a:avLst/>
          </a:prstGeom>
          <a:noFill/>
          <a:ln/>
        </p:spPr>
        <p:txBody>
          <a:bodyPr wrap="square" lIns="0" tIns="0" rIns="0" bIns="0" rtlCol="0" anchor="ctr"/>
          <a:lstStyle/>
          <a:p>
            <a:pPr algn="ctr" indent="0" marL="0">
              <a:lnSpc>
                <a:spcPts val="2000"/>
              </a:lnSpc>
              <a:buNone/>
            </a:pPr>
            <a:r>
              <a:rPr lang="en-US" sz="1450" b="1" dirty="0">
                <a:solidFill>
                  <a:srgbClr val="0D2A42"/>
                </a:solidFill>
                <a:latin typeface="Calibri" pitchFamily="34" charset="0"/>
                <a:ea typeface="Calibri" pitchFamily="34" charset="-122"/>
                <a:cs typeface="Calibri" pitchFamily="34" charset="-120"/>
              </a:rPr>
              <a:t>Colombia: </a:t>
            </a:r>
            <a:pPr algn="ctr" indent="0" marL="0">
              <a:lnSpc>
                <a:spcPts val="2000"/>
              </a:lnSpc>
              <a:buNone/>
            </a:pPr>
            <a:r>
              <a:rPr lang="en-US" sz="1450" dirty="0">
                <a:solidFill>
                  <a:srgbClr val="5A6472"/>
                </a:solidFill>
                <a:latin typeface="Calibri" pitchFamily="34" charset="0"/>
                <a:ea typeface="Calibri" pitchFamily="34" charset="-122"/>
                <a:cs typeface="Calibri" pitchFamily="34" charset="-120"/>
              </a:rPr>
              <a:t>~988.000 km² de territorio marítimo jurisdiccional y trece intereses marítimos nacionales (ARC, 2020; 2022) — una superficie estratégica ya inseparable del ciberespacio.</a:t>
            </a:r>
            <a:endParaRPr lang="en-US" sz="1450" dirty="0"/>
          </a:p>
        </p:txBody>
      </p:sp>
      <p:sp>
        <p:nvSpPr>
          <p:cNvPr id="25" name="Text 23"/>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PREGUNTA Y OBJETIVO</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Qué responde el artículo — y desde dónde</a:t>
            </a:r>
            <a:endParaRPr lang="en-US" sz="3100" dirty="0"/>
          </a:p>
        </p:txBody>
      </p:sp>
      <p:sp>
        <p:nvSpPr>
          <p:cNvPr id="4" name="Shape 2"/>
          <p:cNvSpPr/>
          <p:nvPr/>
        </p:nvSpPr>
        <p:spPr>
          <a:xfrm>
            <a:off x="640080" y="1737360"/>
            <a:ext cx="10972800" cy="1554480"/>
          </a:xfrm>
          <a:prstGeom prst="roundRect">
            <a:avLst>
              <a:gd name="adj" fmla="val 4118"/>
            </a:avLst>
          </a:prstGeom>
          <a:solidFill>
            <a:srgbClr val="F4F6F9"/>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5" name="Shape 3"/>
          <p:cNvSpPr/>
          <p:nvPr/>
        </p:nvSpPr>
        <p:spPr>
          <a:xfrm>
            <a:off x="932688" y="2084832"/>
            <a:ext cx="566928" cy="566928"/>
          </a:xfrm>
          <a:prstGeom prst="ellipse">
            <a:avLst/>
          </a:prstGeom>
          <a:solidFill>
            <a:srgbClr val="185FA5"/>
          </a:solidFill>
          <a:ln/>
        </p:spPr>
      </p:sp>
      <p:pic>
        <p:nvPicPr>
          <p:cNvPr id="6" name="Image 0" descr="preencoded.png">    </p:cNvPr>
          <p:cNvPicPr>
            <a:picLocks noChangeAspect="1"/>
          </p:cNvPicPr>
          <p:nvPr/>
        </p:nvPicPr>
        <p:blipFill>
          <a:blip r:embed="rId1"/>
          <a:stretch>
            <a:fillRect/>
          </a:stretch>
        </p:blipFill>
        <p:spPr>
          <a:xfrm>
            <a:off x="1068751" y="2220895"/>
            <a:ext cx="294803" cy="294803"/>
          </a:xfrm>
          <a:prstGeom prst="rect">
            <a:avLst/>
          </a:prstGeom>
        </p:spPr>
      </p:pic>
      <p:sp>
        <p:nvSpPr>
          <p:cNvPr id="7" name="Text 4"/>
          <p:cNvSpPr/>
          <p:nvPr/>
        </p:nvSpPr>
        <p:spPr>
          <a:xfrm>
            <a:off x="1691640" y="1874520"/>
            <a:ext cx="7315200" cy="274320"/>
          </a:xfrm>
          <a:prstGeom prst="rect">
            <a:avLst/>
          </a:prstGeom>
          <a:noFill/>
          <a:ln/>
        </p:spPr>
        <p:txBody>
          <a:bodyPr wrap="square" lIns="0" tIns="0" rIns="0" bIns="0" rtlCol="0" anchor="ctr"/>
          <a:lstStyle/>
          <a:p>
            <a:pPr indent="0" marL="0">
              <a:buNone/>
            </a:pPr>
            <a:r>
              <a:rPr lang="en-US" sz="1200" b="1" spc="200" kern="0" dirty="0">
                <a:solidFill>
                  <a:srgbClr val="185FA5"/>
                </a:solidFill>
                <a:latin typeface="Calibri" pitchFamily="34" charset="0"/>
                <a:ea typeface="Calibri" pitchFamily="34" charset="-122"/>
                <a:cs typeface="Calibri" pitchFamily="34" charset="-120"/>
              </a:rPr>
              <a:t>PREGUNTA DE INVESTIGACIÓN</a:t>
            </a:r>
            <a:endParaRPr lang="en-US" sz="1200" dirty="0"/>
          </a:p>
        </p:txBody>
      </p:sp>
      <p:sp>
        <p:nvSpPr>
          <p:cNvPr id="8" name="Text 5"/>
          <p:cNvSpPr/>
          <p:nvPr/>
        </p:nvSpPr>
        <p:spPr>
          <a:xfrm>
            <a:off x="1691640" y="2176272"/>
            <a:ext cx="9601200" cy="914400"/>
          </a:xfrm>
          <a:prstGeom prst="rect">
            <a:avLst/>
          </a:prstGeom>
          <a:noFill/>
          <a:ln/>
        </p:spPr>
        <p:txBody>
          <a:bodyPr wrap="square" lIns="0" tIns="0" rIns="0" bIns="0" rtlCol="0" anchor="ctr"/>
          <a:lstStyle/>
          <a:p>
            <a:pPr indent="0" marL="0">
              <a:lnSpc>
                <a:spcPts val="2500"/>
              </a:lnSpc>
              <a:buNone/>
            </a:pPr>
            <a:r>
              <a:rPr lang="en-US" sz="1850" i="1" dirty="0">
                <a:solidFill>
                  <a:srgbClr val="0D2A42"/>
                </a:solidFill>
                <a:latin typeface="Cambria" pitchFamily="34" charset="0"/>
                <a:ea typeface="Cambria" pitchFamily="34" charset="-122"/>
                <a:cs typeface="Cambria" pitchFamily="34" charset="-120"/>
              </a:rPr>
              <a:t>¿Cómo debe reformularse la expresión conceptual del poder marítimo para incorporar el ciberespacio como dominio estratégico?</a:t>
            </a:r>
            <a:endParaRPr lang="en-US" sz="1850" dirty="0"/>
          </a:p>
        </p:txBody>
      </p:sp>
      <p:sp>
        <p:nvSpPr>
          <p:cNvPr id="9" name="Shape 6"/>
          <p:cNvSpPr/>
          <p:nvPr/>
        </p:nvSpPr>
        <p:spPr>
          <a:xfrm>
            <a:off x="640080" y="3520440"/>
            <a:ext cx="10972800" cy="1417320"/>
          </a:xfrm>
          <a:prstGeom prst="roundRect">
            <a:avLst>
              <a:gd name="adj" fmla="val 4516"/>
            </a:avLst>
          </a:prstGeom>
          <a:solidFill>
            <a:srgbClr val="EBF3FB"/>
          </a:solidFill>
          <a:ln w="12700">
            <a:solidFill>
              <a:srgbClr val="185FA5"/>
            </a:solidFill>
            <a:prstDash val="solid"/>
          </a:ln>
          <a:effectLst>
            <a:outerShdw sx="100000" sy="100000" kx="0" ky="0" algn="bl" rotWithShape="0" blurRad="88900" dist="25400" dir="5400000">
              <a:srgbClr val="A8B4C2">
                <a:alpha val="28000"/>
              </a:srgbClr>
            </a:outerShdw>
          </a:effectLst>
        </p:spPr>
      </p:sp>
      <p:sp>
        <p:nvSpPr>
          <p:cNvPr id="10" name="Shape 7"/>
          <p:cNvSpPr/>
          <p:nvPr/>
        </p:nvSpPr>
        <p:spPr>
          <a:xfrm>
            <a:off x="932688" y="3822192"/>
            <a:ext cx="566928" cy="566928"/>
          </a:xfrm>
          <a:prstGeom prst="ellipse">
            <a:avLst/>
          </a:prstGeom>
          <a:solidFill>
            <a:srgbClr val="0F6E56"/>
          </a:solidFill>
          <a:ln/>
        </p:spPr>
      </p:sp>
      <p:pic>
        <p:nvPicPr>
          <p:cNvPr id="11" name="Image 1" descr="preencoded.png">    </p:cNvPr>
          <p:cNvPicPr>
            <a:picLocks noChangeAspect="1"/>
          </p:cNvPicPr>
          <p:nvPr/>
        </p:nvPicPr>
        <p:blipFill>
          <a:blip r:embed="rId2"/>
          <a:stretch>
            <a:fillRect/>
          </a:stretch>
        </p:blipFill>
        <p:spPr>
          <a:xfrm>
            <a:off x="1068751" y="3958255"/>
            <a:ext cx="294803" cy="294803"/>
          </a:xfrm>
          <a:prstGeom prst="rect">
            <a:avLst/>
          </a:prstGeom>
        </p:spPr>
      </p:pic>
      <p:sp>
        <p:nvSpPr>
          <p:cNvPr id="12" name="Text 8"/>
          <p:cNvSpPr/>
          <p:nvPr/>
        </p:nvSpPr>
        <p:spPr>
          <a:xfrm>
            <a:off x="1691640" y="3657600"/>
            <a:ext cx="7315200" cy="274320"/>
          </a:xfrm>
          <a:prstGeom prst="rect">
            <a:avLst/>
          </a:prstGeom>
          <a:noFill/>
          <a:ln/>
        </p:spPr>
        <p:txBody>
          <a:bodyPr wrap="square" lIns="0" tIns="0" rIns="0" bIns="0" rtlCol="0" anchor="ctr"/>
          <a:lstStyle/>
          <a:p>
            <a:pPr indent="0" marL="0">
              <a:buNone/>
            </a:pPr>
            <a:r>
              <a:rPr lang="en-US" sz="1200" b="1" spc="200" kern="0" dirty="0">
                <a:solidFill>
                  <a:srgbClr val="0F6E56"/>
                </a:solidFill>
                <a:latin typeface="Calibri" pitchFamily="34" charset="0"/>
                <a:ea typeface="Calibri" pitchFamily="34" charset="-122"/>
                <a:cs typeface="Calibri" pitchFamily="34" charset="-120"/>
              </a:rPr>
              <a:t>OBJETIVO GENERAL</a:t>
            </a:r>
            <a:endParaRPr lang="en-US" sz="1200" dirty="0"/>
          </a:p>
        </p:txBody>
      </p:sp>
      <p:sp>
        <p:nvSpPr>
          <p:cNvPr id="13" name="Text 9"/>
          <p:cNvSpPr/>
          <p:nvPr/>
        </p:nvSpPr>
        <p:spPr>
          <a:xfrm>
            <a:off x="1691640" y="3959352"/>
            <a:ext cx="9601200" cy="868680"/>
          </a:xfrm>
          <a:prstGeom prst="rect">
            <a:avLst/>
          </a:prstGeom>
          <a:noFill/>
          <a:ln/>
        </p:spPr>
        <p:txBody>
          <a:bodyPr wrap="square" lIns="0" tIns="0" rIns="0" bIns="0" rtlCol="0" anchor="ctr"/>
          <a:lstStyle/>
          <a:p>
            <a:pPr indent="0" marL="0">
              <a:lnSpc>
                <a:spcPts val="2200"/>
              </a:lnSpc>
              <a:buNone/>
            </a:pPr>
            <a:r>
              <a:rPr lang="en-US" sz="1600" b="1" dirty="0">
                <a:solidFill>
                  <a:srgbClr val="0D2A42"/>
                </a:solidFill>
                <a:latin typeface="Calibri" pitchFamily="34" charset="0"/>
                <a:ea typeface="Calibri" pitchFamily="34" charset="-122"/>
                <a:cs typeface="Calibri" pitchFamily="34" charset="-120"/>
              </a:rPr>
              <a:t>Desarrollar una formulación ampliada del poder marítimo que integre el ciberpoder como variable estructural, fortaleciendo el análisis estratégico en entornos multidominio.</a:t>
            </a:r>
            <a:endParaRPr lang="en-US" sz="1600" dirty="0"/>
          </a:p>
        </p:txBody>
      </p:sp>
      <p:sp>
        <p:nvSpPr>
          <p:cNvPr id="14" name="Text 10"/>
          <p:cNvSpPr/>
          <p:nvPr/>
        </p:nvSpPr>
        <p:spPr>
          <a:xfrm>
            <a:off x="640080" y="5230368"/>
            <a:ext cx="10972800" cy="274320"/>
          </a:xfrm>
          <a:prstGeom prst="rect">
            <a:avLst/>
          </a:prstGeom>
          <a:noFill/>
          <a:ln/>
        </p:spPr>
        <p:txBody>
          <a:bodyPr wrap="square" lIns="0" tIns="0" rIns="0" bIns="0" rtlCol="0" anchor="ctr"/>
          <a:lstStyle/>
          <a:p>
            <a:pPr algn="ctr" indent="0" marL="0">
              <a:buNone/>
            </a:pPr>
            <a:r>
              <a:rPr lang="en-US" sz="1150" b="1" spc="200" kern="0" dirty="0">
                <a:solidFill>
                  <a:srgbClr val="5A6472"/>
                </a:solidFill>
                <a:latin typeface="Calibri" pitchFamily="34" charset="0"/>
                <a:ea typeface="Calibri" pitchFamily="34" charset="-122"/>
                <a:cs typeface="Calibri" pitchFamily="34" charset="-120"/>
              </a:rPr>
              <a:t>MARCO ANALÍTICO — PERSPECTIVA DE POTENCIA MEDIA REGIONAL</a:t>
            </a:r>
            <a:endParaRPr lang="en-US" sz="1150" dirty="0"/>
          </a:p>
        </p:txBody>
      </p:sp>
      <p:sp>
        <p:nvSpPr>
          <p:cNvPr id="15" name="Shape 11"/>
          <p:cNvSpPr/>
          <p:nvPr/>
        </p:nvSpPr>
        <p:spPr>
          <a:xfrm>
            <a:off x="896112" y="5596128"/>
            <a:ext cx="3383280" cy="658368"/>
          </a:xfrm>
          <a:prstGeom prst="roundRect">
            <a:avLst>
              <a:gd name="adj" fmla="val 9722"/>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6" name="Shape 12"/>
          <p:cNvSpPr/>
          <p:nvPr/>
        </p:nvSpPr>
        <p:spPr>
          <a:xfrm>
            <a:off x="1024128" y="5715000"/>
            <a:ext cx="420624" cy="420624"/>
          </a:xfrm>
          <a:prstGeom prst="ellipse">
            <a:avLst/>
          </a:prstGeom>
          <a:solidFill>
            <a:srgbClr val="185FA5"/>
          </a:solidFill>
          <a:ln/>
        </p:spPr>
      </p:sp>
      <p:pic>
        <p:nvPicPr>
          <p:cNvPr id="17" name="Image 2" descr="preencoded.png">    </p:cNvPr>
          <p:cNvPicPr>
            <a:picLocks noChangeAspect="1"/>
          </p:cNvPicPr>
          <p:nvPr/>
        </p:nvPicPr>
        <p:blipFill>
          <a:blip r:embed="rId3"/>
          <a:stretch>
            <a:fillRect/>
          </a:stretch>
        </p:blipFill>
        <p:spPr>
          <a:xfrm>
            <a:off x="1125078" y="5815950"/>
            <a:ext cx="218724" cy="218724"/>
          </a:xfrm>
          <a:prstGeom prst="rect">
            <a:avLst/>
          </a:prstGeom>
        </p:spPr>
      </p:pic>
      <p:sp>
        <p:nvSpPr>
          <p:cNvPr id="18" name="Text 13"/>
          <p:cNvSpPr/>
          <p:nvPr/>
        </p:nvSpPr>
        <p:spPr>
          <a:xfrm>
            <a:off x="1554480" y="5596128"/>
            <a:ext cx="2606040" cy="658368"/>
          </a:xfrm>
          <a:prstGeom prst="rect">
            <a:avLst/>
          </a:prstGeom>
          <a:noFill/>
          <a:ln/>
        </p:spPr>
        <p:txBody>
          <a:bodyPr wrap="square" lIns="0" tIns="0" rIns="0" bIns="0" rtlCol="0" anchor="ctr"/>
          <a:lstStyle/>
          <a:p>
            <a:pPr indent="0" marL="0">
              <a:lnSpc>
                <a:spcPts val="1500"/>
              </a:lnSpc>
              <a:buNone/>
            </a:pPr>
            <a:r>
              <a:rPr lang="en-US" sz="1300" b="1" dirty="0">
                <a:solidFill>
                  <a:srgbClr val="0D2A42"/>
                </a:solidFill>
                <a:latin typeface="Calibri" pitchFamily="34" charset="0"/>
                <a:ea typeface="Calibri" pitchFamily="34" charset="-122"/>
                <a:cs typeface="Calibri" pitchFamily="34" charset="-120"/>
              </a:rPr>
              <a:t>Visión estratégica de la Armada Nacional</a:t>
            </a:r>
            <a:endParaRPr lang="en-US" sz="1300" dirty="0"/>
          </a:p>
        </p:txBody>
      </p:sp>
      <p:sp>
        <p:nvSpPr>
          <p:cNvPr id="19" name="Shape 14"/>
          <p:cNvSpPr/>
          <p:nvPr/>
        </p:nvSpPr>
        <p:spPr>
          <a:xfrm>
            <a:off x="4507992" y="5596128"/>
            <a:ext cx="3383280" cy="658368"/>
          </a:xfrm>
          <a:prstGeom prst="roundRect">
            <a:avLst>
              <a:gd name="adj" fmla="val 9722"/>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20" name="Shape 15"/>
          <p:cNvSpPr/>
          <p:nvPr/>
        </p:nvSpPr>
        <p:spPr>
          <a:xfrm>
            <a:off x="4636008" y="5715000"/>
            <a:ext cx="420624" cy="420624"/>
          </a:xfrm>
          <a:prstGeom prst="ellipse">
            <a:avLst/>
          </a:prstGeom>
          <a:solidFill>
            <a:srgbClr val="0F6E56"/>
          </a:solidFill>
          <a:ln/>
        </p:spPr>
      </p:sp>
      <p:pic>
        <p:nvPicPr>
          <p:cNvPr id="21" name="Image 3" descr="preencoded.png">    </p:cNvPr>
          <p:cNvPicPr>
            <a:picLocks noChangeAspect="1"/>
          </p:cNvPicPr>
          <p:nvPr/>
        </p:nvPicPr>
        <p:blipFill>
          <a:blip r:embed="rId4"/>
          <a:stretch>
            <a:fillRect/>
          </a:stretch>
        </p:blipFill>
        <p:spPr>
          <a:xfrm>
            <a:off x="4736958" y="5815950"/>
            <a:ext cx="218724" cy="218724"/>
          </a:xfrm>
          <a:prstGeom prst="rect">
            <a:avLst/>
          </a:prstGeom>
        </p:spPr>
      </p:pic>
      <p:sp>
        <p:nvSpPr>
          <p:cNvPr id="22" name="Text 16"/>
          <p:cNvSpPr/>
          <p:nvPr/>
        </p:nvSpPr>
        <p:spPr>
          <a:xfrm>
            <a:off x="5166360" y="5596128"/>
            <a:ext cx="2606040" cy="658368"/>
          </a:xfrm>
          <a:prstGeom prst="rect">
            <a:avLst/>
          </a:prstGeom>
          <a:noFill/>
          <a:ln/>
        </p:spPr>
        <p:txBody>
          <a:bodyPr wrap="square" lIns="0" tIns="0" rIns="0" bIns="0" rtlCol="0" anchor="ctr"/>
          <a:lstStyle/>
          <a:p>
            <a:pPr indent="0" marL="0">
              <a:lnSpc>
                <a:spcPts val="1500"/>
              </a:lnSpc>
              <a:buNone/>
            </a:pPr>
            <a:r>
              <a:rPr lang="en-US" sz="1300" b="1" dirty="0">
                <a:solidFill>
                  <a:srgbClr val="0D2A42"/>
                </a:solidFill>
                <a:latin typeface="Calibri" pitchFamily="34" charset="0"/>
                <a:ea typeface="Calibri" pitchFamily="34" charset="-122"/>
                <a:cs typeface="Calibri" pitchFamily="34" charset="-120"/>
              </a:rPr>
              <a:t>Contexto nacional de Colombia</a:t>
            </a:r>
            <a:endParaRPr lang="en-US" sz="1300" dirty="0"/>
          </a:p>
        </p:txBody>
      </p:sp>
      <p:sp>
        <p:nvSpPr>
          <p:cNvPr id="23" name="Shape 17"/>
          <p:cNvSpPr/>
          <p:nvPr/>
        </p:nvSpPr>
        <p:spPr>
          <a:xfrm>
            <a:off x="8119872" y="5596128"/>
            <a:ext cx="3383280" cy="658368"/>
          </a:xfrm>
          <a:prstGeom prst="roundRect">
            <a:avLst>
              <a:gd name="adj" fmla="val 9722"/>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24" name="Shape 18"/>
          <p:cNvSpPr/>
          <p:nvPr/>
        </p:nvSpPr>
        <p:spPr>
          <a:xfrm>
            <a:off x="8247888" y="5715000"/>
            <a:ext cx="420624" cy="420624"/>
          </a:xfrm>
          <a:prstGeom prst="ellipse">
            <a:avLst/>
          </a:prstGeom>
          <a:solidFill>
            <a:srgbClr val="854F0B"/>
          </a:solidFill>
          <a:ln/>
        </p:spPr>
      </p:sp>
      <p:pic>
        <p:nvPicPr>
          <p:cNvPr id="25" name="Image 4" descr="preencoded.png">    </p:cNvPr>
          <p:cNvPicPr>
            <a:picLocks noChangeAspect="1"/>
          </p:cNvPicPr>
          <p:nvPr/>
        </p:nvPicPr>
        <p:blipFill>
          <a:blip r:embed="rId5"/>
          <a:stretch>
            <a:fillRect/>
          </a:stretch>
        </p:blipFill>
        <p:spPr>
          <a:xfrm>
            <a:off x="8348838" y="5815950"/>
            <a:ext cx="218724" cy="218724"/>
          </a:xfrm>
          <a:prstGeom prst="rect">
            <a:avLst/>
          </a:prstGeom>
        </p:spPr>
      </p:pic>
      <p:sp>
        <p:nvSpPr>
          <p:cNvPr id="26" name="Text 19"/>
          <p:cNvSpPr/>
          <p:nvPr/>
        </p:nvSpPr>
        <p:spPr>
          <a:xfrm>
            <a:off x="8778240" y="5596128"/>
            <a:ext cx="2606040" cy="658368"/>
          </a:xfrm>
          <a:prstGeom prst="rect">
            <a:avLst/>
          </a:prstGeom>
          <a:noFill/>
          <a:ln/>
        </p:spPr>
        <p:txBody>
          <a:bodyPr wrap="square" lIns="0" tIns="0" rIns="0" bIns="0" rtlCol="0" anchor="ctr"/>
          <a:lstStyle/>
          <a:p>
            <a:pPr indent="0" marL="0">
              <a:lnSpc>
                <a:spcPts val="1500"/>
              </a:lnSpc>
              <a:buNone/>
            </a:pPr>
            <a:r>
              <a:rPr lang="en-US" sz="1300" b="1" dirty="0">
                <a:solidFill>
                  <a:srgbClr val="0D2A42"/>
                </a:solidFill>
                <a:latin typeface="Calibri" pitchFamily="34" charset="0"/>
                <a:ea typeface="Calibri" pitchFamily="34" charset="-122"/>
                <a:cs typeface="Calibri" pitchFamily="34" charset="-120"/>
              </a:rPr>
              <a:t>Entorno regional suramericano</a:t>
            </a:r>
            <a:endParaRPr lang="en-US" sz="1300" dirty="0"/>
          </a:p>
        </p:txBody>
      </p:sp>
      <p:sp>
        <p:nvSpPr>
          <p:cNvPr id="27" name="Text 20"/>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MARCO TEÓRICO</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Una tradición de 130 años — y su siguiente eslabón</a:t>
            </a:r>
            <a:endParaRPr lang="en-US" sz="3100" dirty="0"/>
          </a:p>
        </p:txBody>
      </p:sp>
      <p:sp>
        <p:nvSpPr>
          <p:cNvPr id="4" name="Shape 2"/>
          <p:cNvSpPr/>
          <p:nvPr/>
        </p:nvSpPr>
        <p:spPr>
          <a:xfrm>
            <a:off x="868680" y="3246120"/>
            <a:ext cx="10469880" cy="0"/>
          </a:xfrm>
          <a:prstGeom prst="line">
            <a:avLst/>
          </a:prstGeom>
          <a:noFill/>
          <a:ln w="31750">
            <a:solidFill>
              <a:srgbClr val="D8DEE6"/>
            </a:solidFill>
            <a:prstDash val="solid"/>
          </a:ln>
        </p:spPr>
      </p:sp>
      <p:sp>
        <p:nvSpPr>
          <p:cNvPr id="5" name="Shape 3"/>
          <p:cNvSpPr/>
          <p:nvPr/>
        </p:nvSpPr>
        <p:spPr>
          <a:xfrm>
            <a:off x="1261872" y="3118104"/>
            <a:ext cx="256032" cy="256032"/>
          </a:xfrm>
          <a:prstGeom prst="ellipse">
            <a:avLst/>
          </a:prstGeom>
          <a:solidFill>
            <a:srgbClr val="0D2A42"/>
          </a:solidFill>
          <a:ln w="25400">
            <a:solidFill>
              <a:srgbClr val="FFFFFF"/>
            </a:solidFill>
            <a:prstDash val="solid"/>
          </a:ln>
        </p:spPr>
      </p:sp>
      <p:sp>
        <p:nvSpPr>
          <p:cNvPr id="6" name="Text 4"/>
          <p:cNvSpPr/>
          <p:nvPr/>
        </p:nvSpPr>
        <p:spPr>
          <a:xfrm>
            <a:off x="475488" y="1764792"/>
            <a:ext cx="1828800" cy="274320"/>
          </a:xfrm>
          <a:prstGeom prst="rect">
            <a:avLst/>
          </a:prstGeom>
          <a:noFill/>
          <a:ln/>
        </p:spPr>
        <p:txBody>
          <a:bodyPr wrap="square" lIns="0" tIns="0" rIns="0" bIns="0" rtlCol="0" anchor="ctr"/>
          <a:lstStyle/>
          <a:p>
            <a:pPr algn="ctr" indent="0" marL="0">
              <a:buNone/>
            </a:pPr>
            <a:r>
              <a:rPr lang="en-US" sz="1600" b="1" dirty="0">
                <a:solidFill>
                  <a:srgbClr val="0D2A42"/>
                </a:solidFill>
                <a:latin typeface="Cambria" pitchFamily="34" charset="0"/>
                <a:ea typeface="Cambria" pitchFamily="34" charset="-122"/>
                <a:cs typeface="Cambria" pitchFamily="34" charset="-120"/>
              </a:rPr>
              <a:t>1890</a:t>
            </a:r>
            <a:endParaRPr lang="en-US" sz="1600" dirty="0"/>
          </a:p>
        </p:txBody>
      </p:sp>
      <p:sp>
        <p:nvSpPr>
          <p:cNvPr id="7" name="Text 5"/>
          <p:cNvSpPr/>
          <p:nvPr/>
        </p:nvSpPr>
        <p:spPr>
          <a:xfrm>
            <a:off x="475488" y="2048256"/>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Mahan</a:t>
            </a:r>
            <a:endParaRPr lang="en-US" sz="1350" dirty="0"/>
          </a:p>
        </p:txBody>
      </p:sp>
      <p:sp>
        <p:nvSpPr>
          <p:cNvPr id="8" name="Text 6"/>
          <p:cNvSpPr/>
          <p:nvPr/>
        </p:nvSpPr>
        <p:spPr>
          <a:xfrm>
            <a:off x="457200" y="2331720"/>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Elementos del poder naval; el mar como fuente de poder nacional</a:t>
            </a:r>
            <a:endParaRPr lang="en-US" sz="1100" dirty="0"/>
          </a:p>
        </p:txBody>
      </p:sp>
      <p:sp>
        <p:nvSpPr>
          <p:cNvPr id="9" name="Shape 7"/>
          <p:cNvSpPr/>
          <p:nvPr/>
        </p:nvSpPr>
        <p:spPr>
          <a:xfrm>
            <a:off x="2752344" y="3118104"/>
            <a:ext cx="256032" cy="256032"/>
          </a:xfrm>
          <a:prstGeom prst="ellipse">
            <a:avLst/>
          </a:prstGeom>
          <a:solidFill>
            <a:srgbClr val="185FA5"/>
          </a:solidFill>
          <a:ln w="25400">
            <a:solidFill>
              <a:srgbClr val="FFFFFF"/>
            </a:solidFill>
            <a:prstDash val="solid"/>
          </a:ln>
        </p:spPr>
      </p:sp>
      <p:sp>
        <p:nvSpPr>
          <p:cNvPr id="10" name="Text 8"/>
          <p:cNvSpPr/>
          <p:nvPr/>
        </p:nvSpPr>
        <p:spPr>
          <a:xfrm>
            <a:off x="1965960" y="3538728"/>
            <a:ext cx="1828800" cy="274320"/>
          </a:xfrm>
          <a:prstGeom prst="rect">
            <a:avLst/>
          </a:prstGeom>
          <a:noFill/>
          <a:ln/>
        </p:spPr>
        <p:txBody>
          <a:bodyPr wrap="square" lIns="0" tIns="0" rIns="0" bIns="0" rtlCol="0" anchor="ctr"/>
          <a:lstStyle/>
          <a:p>
            <a:pPr algn="ctr" indent="0" marL="0">
              <a:buNone/>
            </a:pPr>
            <a:r>
              <a:rPr lang="en-US" sz="1600" b="1" dirty="0">
                <a:solidFill>
                  <a:srgbClr val="185FA5"/>
                </a:solidFill>
                <a:latin typeface="Cambria" pitchFamily="34" charset="0"/>
                <a:ea typeface="Cambria" pitchFamily="34" charset="-122"/>
                <a:cs typeface="Cambria" pitchFamily="34" charset="-120"/>
              </a:rPr>
              <a:t>1911</a:t>
            </a:r>
            <a:endParaRPr lang="en-US" sz="1600" dirty="0"/>
          </a:p>
        </p:txBody>
      </p:sp>
      <p:sp>
        <p:nvSpPr>
          <p:cNvPr id="11" name="Text 9"/>
          <p:cNvSpPr/>
          <p:nvPr/>
        </p:nvSpPr>
        <p:spPr>
          <a:xfrm>
            <a:off x="1965960" y="3822192"/>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Corbett</a:t>
            </a:r>
            <a:endParaRPr lang="en-US" sz="1350" dirty="0"/>
          </a:p>
        </p:txBody>
      </p:sp>
      <p:sp>
        <p:nvSpPr>
          <p:cNvPr id="12" name="Text 10"/>
          <p:cNvSpPr/>
          <p:nvPr/>
        </p:nvSpPr>
        <p:spPr>
          <a:xfrm>
            <a:off x="1947672" y="4105656"/>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Control de comunicaciones marítimas; guerra limitada</a:t>
            </a:r>
            <a:endParaRPr lang="en-US" sz="1100" dirty="0"/>
          </a:p>
        </p:txBody>
      </p:sp>
      <p:sp>
        <p:nvSpPr>
          <p:cNvPr id="13" name="Shape 11"/>
          <p:cNvSpPr/>
          <p:nvPr/>
        </p:nvSpPr>
        <p:spPr>
          <a:xfrm>
            <a:off x="4489704" y="3118104"/>
            <a:ext cx="256032" cy="256032"/>
          </a:xfrm>
          <a:prstGeom prst="ellipse">
            <a:avLst/>
          </a:prstGeom>
          <a:solidFill>
            <a:srgbClr val="534AB7"/>
          </a:solidFill>
          <a:ln w="25400">
            <a:solidFill>
              <a:srgbClr val="FFFFFF"/>
            </a:solidFill>
            <a:prstDash val="solid"/>
          </a:ln>
        </p:spPr>
      </p:sp>
      <p:sp>
        <p:nvSpPr>
          <p:cNvPr id="14" name="Text 12"/>
          <p:cNvSpPr/>
          <p:nvPr/>
        </p:nvSpPr>
        <p:spPr>
          <a:xfrm>
            <a:off x="3703320" y="1764792"/>
            <a:ext cx="1828800" cy="274320"/>
          </a:xfrm>
          <a:prstGeom prst="rect">
            <a:avLst/>
          </a:prstGeom>
          <a:noFill/>
          <a:ln/>
        </p:spPr>
        <p:txBody>
          <a:bodyPr wrap="square" lIns="0" tIns="0" rIns="0" bIns="0" rtlCol="0" anchor="ctr"/>
          <a:lstStyle/>
          <a:p>
            <a:pPr algn="ctr" indent="0" marL="0">
              <a:buNone/>
            </a:pPr>
            <a:r>
              <a:rPr lang="en-US" sz="1600" b="1" dirty="0">
                <a:solidFill>
                  <a:srgbClr val="534AB7"/>
                </a:solidFill>
                <a:latin typeface="Cambria" pitchFamily="34" charset="0"/>
                <a:ea typeface="Cambria" pitchFamily="34" charset="-122"/>
                <a:cs typeface="Cambria" pitchFamily="34" charset="-120"/>
              </a:rPr>
              <a:t>1997</a:t>
            </a:r>
            <a:endParaRPr lang="en-US" sz="1600" dirty="0"/>
          </a:p>
        </p:txBody>
      </p:sp>
      <p:sp>
        <p:nvSpPr>
          <p:cNvPr id="15" name="Text 13"/>
          <p:cNvSpPr/>
          <p:nvPr/>
        </p:nvSpPr>
        <p:spPr>
          <a:xfrm>
            <a:off x="3703320" y="2048256"/>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Solís Oyarzún</a:t>
            </a:r>
            <a:endParaRPr lang="en-US" sz="1350" dirty="0"/>
          </a:p>
        </p:txBody>
      </p:sp>
      <p:sp>
        <p:nvSpPr>
          <p:cNvPr id="16" name="Text 14"/>
          <p:cNvSpPr/>
          <p:nvPr/>
        </p:nvSpPr>
        <p:spPr>
          <a:xfrm>
            <a:off x="3685032" y="2331720"/>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PM = IM × PN — formalización del binomio</a:t>
            </a:r>
            <a:endParaRPr lang="en-US" sz="1100" dirty="0"/>
          </a:p>
        </p:txBody>
      </p:sp>
      <p:sp>
        <p:nvSpPr>
          <p:cNvPr id="17" name="Shape 15"/>
          <p:cNvSpPr/>
          <p:nvPr/>
        </p:nvSpPr>
        <p:spPr>
          <a:xfrm>
            <a:off x="6227064" y="3118104"/>
            <a:ext cx="256032" cy="256032"/>
          </a:xfrm>
          <a:prstGeom prst="ellipse">
            <a:avLst/>
          </a:prstGeom>
          <a:solidFill>
            <a:srgbClr val="0F6E56"/>
          </a:solidFill>
          <a:ln w="25400">
            <a:solidFill>
              <a:srgbClr val="FFFFFF"/>
            </a:solidFill>
            <a:prstDash val="solid"/>
          </a:ln>
        </p:spPr>
      </p:sp>
      <p:sp>
        <p:nvSpPr>
          <p:cNvPr id="18" name="Text 16"/>
          <p:cNvSpPr/>
          <p:nvPr/>
        </p:nvSpPr>
        <p:spPr>
          <a:xfrm>
            <a:off x="5440680" y="3538728"/>
            <a:ext cx="1828800" cy="274320"/>
          </a:xfrm>
          <a:prstGeom prst="rect">
            <a:avLst/>
          </a:prstGeom>
          <a:noFill/>
          <a:ln/>
        </p:spPr>
        <p:txBody>
          <a:bodyPr wrap="square" lIns="0" tIns="0" rIns="0" bIns="0" rtlCol="0" anchor="ctr"/>
          <a:lstStyle/>
          <a:p>
            <a:pPr algn="ctr" indent="0" marL="0">
              <a:buNone/>
            </a:pPr>
            <a:r>
              <a:rPr lang="en-US" sz="1600" b="1" dirty="0">
                <a:solidFill>
                  <a:srgbClr val="0F6E56"/>
                </a:solidFill>
                <a:latin typeface="Cambria" pitchFamily="34" charset="0"/>
                <a:ea typeface="Cambria" pitchFamily="34" charset="-122"/>
                <a:cs typeface="Cambria" pitchFamily="34" charset="-120"/>
              </a:rPr>
              <a:t>2007</a:t>
            </a:r>
            <a:endParaRPr lang="en-US" sz="1600" dirty="0"/>
          </a:p>
        </p:txBody>
      </p:sp>
      <p:sp>
        <p:nvSpPr>
          <p:cNvPr id="19" name="Text 17"/>
          <p:cNvSpPr/>
          <p:nvPr/>
        </p:nvSpPr>
        <p:spPr>
          <a:xfrm>
            <a:off x="5440680" y="3822192"/>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Till</a:t>
            </a:r>
            <a:endParaRPr lang="en-US" sz="1350" dirty="0"/>
          </a:p>
        </p:txBody>
      </p:sp>
      <p:sp>
        <p:nvSpPr>
          <p:cNvPr id="20" name="Text 18"/>
          <p:cNvSpPr/>
          <p:nvPr/>
        </p:nvSpPr>
        <p:spPr>
          <a:xfrm>
            <a:off x="5422392" y="4105656"/>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Sistema ceñido e indivisible; armadas posmodernas</a:t>
            </a:r>
            <a:endParaRPr lang="en-US" sz="1100" dirty="0"/>
          </a:p>
        </p:txBody>
      </p:sp>
      <p:sp>
        <p:nvSpPr>
          <p:cNvPr id="21" name="Shape 19"/>
          <p:cNvSpPr/>
          <p:nvPr/>
        </p:nvSpPr>
        <p:spPr>
          <a:xfrm>
            <a:off x="7964424" y="3118104"/>
            <a:ext cx="256032" cy="256032"/>
          </a:xfrm>
          <a:prstGeom prst="ellipse">
            <a:avLst/>
          </a:prstGeom>
          <a:solidFill>
            <a:srgbClr val="854F0B"/>
          </a:solidFill>
          <a:ln w="25400">
            <a:solidFill>
              <a:srgbClr val="FFFFFF"/>
            </a:solidFill>
            <a:prstDash val="solid"/>
          </a:ln>
        </p:spPr>
      </p:sp>
      <p:sp>
        <p:nvSpPr>
          <p:cNvPr id="22" name="Text 20"/>
          <p:cNvSpPr/>
          <p:nvPr/>
        </p:nvSpPr>
        <p:spPr>
          <a:xfrm>
            <a:off x="7178040" y="1764792"/>
            <a:ext cx="1828800" cy="274320"/>
          </a:xfrm>
          <a:prstGeom prst="rect">
            <a:avLst/>
          </a:prstGeom>
          <a:noFill/>
          <a:ln/>
        </p:spPr>
        <p:txBody>
          <a:bodyPr wrap="square" lIns="0" tIns="0" rIns="0" bIns="0" rtlCol="0" anchor="ctr"/>
          <a:lstStyle/>
          <a:p>
            <a:pPr algn="ctr" indent="0" marL="0">
              <a:buNone/>
            </a:pPr>
            <a:r>
              <a:rPr lang="en-US" sz="1600" b="1" dirty="0">
                <a:solidFill>
                  <a:srgbClr val="854F0B"/>
                </a:solidFill>
                <a:latin typeface="Cambria" pitchFamily="34" charset="0"/>
                <a:ea typeface="Cambria" pitchFamily="34" charset="-122"/>
                <a:cs typeface="Cambria" pitchFamily="34" charset="-120"/>
              </a:rPr>
              <a:t>2016</a:t>
            </a:r>
            <a:endParaRPr lang="en-US" sz="1600" dirty="0"/>
          </a:p>
        </p:txBody>
      </p:sp>
      <p:sp>
        <p:nvSpPr>
          <p:cNvPr id="23" name="Text 21"/>
          <p:cNvSpPr/>
          <p:nvPr/>
        </p:nvSpPr>
        <p:spPr>
          <a:xfrm>
            <a:off x="7178040" y="2048256"/>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Uribe Cáceres et al.</a:t>
            </a:r>
            <a:endParaRPr lang="en-US" sz="1350" dirty="0"/>
          </a:p>
        </p:txBody>
      </p:sp>
      <p:sp>
        <p:nvSpPr>
          <p:cNvPr id="24" name="Text 22"/>
          <p:cNvSpPr/>
          <p:nvPr/>
        </p:nvSpPr>
        <p:spPr>
          <a:xfrm>
            <a:off x="7159752" y="2331720"/>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Adopción doctrinal en Colombia; Conciencia Marítima</a:t>
            </a:r>
            <a:endParaRPr lang="en-US" sz="1100" dirty="0"/>
          </a:p>
        </p:txBody>
      </p:sp>
      <p:sp>
        <p:nvSpPr>
          <p:cNvPr id="25" name="Shape 23"/>
          <p:cNvSpPr/>
          <p:nvPr/>
        </p:nvSpPr>
        <p:spPr>
          <a:xfrm>
            <a:off x="9884664" y="3118104"/>
            <a:ext cx="256032" cy="256032"/>
          </a:xfrm>
          <a:prstGeom prst="ellipse">
            <a:avLst/>
          </a:prstGeom>
          <a:solidFill>
            <a:srgbClr val="993C1D"/>
          </a:solidFill>
          <a:ln w="25400">
            <a:solidFill>
              <a:srgbClr val="FFFFFF"/>
            </a:solidFill>
            <a:prstDash val="solid"/>
          </a:ln>
        </p:spPr>
      </p:sp>
      <p:sp>
        <p:nvSpPr>
          <p:cNvPr id="26" name="Text 24"/>
          <p:cNvSpPr/>
          <p:nvPr/>
        </p:nvSpPr>
        <p:spPr>
          <a:xfrm>
            <a:off x="9098280" y="3538728"/>
            <a:ext cx="1828800" cy="274320"/>
          </a:xfrm>
          <a:prstGeom prst="rect">
            <a:avLst/>
          </a:prstGeom>
          <a:noFill/>
          <a:ln/>
        </p:spPr>
        <p:txBody>
          <a:bodyPr wrap="square" lIns="0" tIns="0" rIns="0" bIns="0" rtlCol="0" anchor="ctr"/>
          <a:lstStyle/>
          <a:p>
            <a:pPr algn="ctr" indent="0" marL="0">
              <a:buNone/>
            </a:pPr>
            <a:r>
              <a:rPr lang="en-US" sz="1600" b="1" dirty="0">
                <a:solidFill>
                  <a:srgbClr val="993C1D"/>
                </a:solidFill>
                <a:latin typeface="Cambria" pitchFamily="34" charset="0"/>
                <a:ea typeface="Cambria" pitchFamily="34" charset="-122"/>
                <a:cs typeface="Cambria" pitchFamily="34" charset="-120"/>
              </a:rPr>
              <a:t>2027</a:t>
            </a:r>
            <a:endParaRPr lang="en-US" sz="1600" dirty="0"/>
          </a:p>
        </p:txBody>
      </p:sp>
      <p:sp>
        <p:nvSpPr>
          <p:cNvPr id="27" name="Text 25"/>
          <p:cNvSpPr/>
          <p:nvPr/>
        </p:nvSpPr>
        <p:spPr>
          <a:xfrm>
            <a:off x="9098280" y="3822192"/>
            <a:ext cx="1828800" cy="274320"/>
          </a:xfrm>
          <a:prstGeom prst="rect">
            <a:avLst/>
          </a:prstGeom>
          <a:noFill/>
          <a:ln/>
        </p:spPr>
        <p:txBody>
          <a:bodyPr wrap="square" lIns="0" tIns="0" rIns="0" bIns="0" rtlCol="0" anchor="ctr"/>
          <a:lstStyle/>
          <a:p>
            <a:pPr algn="ctr" indent="0" marL="0">
              <a:buNone/>
            </a:pPr>
            <a:r>
              <a:rPr lang="en-US" sz="1350" b="1" dirty="0">
                <a:solidFill>
                  <a:srgbClr val="0D2A42"/>
                </a:solidFill>
                <a:latin typeface="Calibri" pitchFamily="34" charset="0"/>
                <a:ea typeface="Calibri" pitchFamily="34" charset="-122"/>
                <a:cs typeface="Calibri" pitchFamily="34" charset="-120"/>
              </a:rPr>
              <a:t>Esta propuesta</a:t>
            </a:r>
            <a:endParaRPr lang="en-US" sz="1350" dirty="0"/>
          </a:p>
        </p:txBody>
      </p:sp>
      <p:sp>
        <p:nvSpPr>
          <p:cNvPr id="28" name="Text 26"/>
          <p:cNvSpPr/>
          <p:nvPr/>
        </p:nvSpPr>
        <p:spPr>
          <a:xfrm>
            <a:off x="9079992" y="4105656"/>
            <a:ext cx="1865376" cy="777240"/>
          </a:xfrm>
          <a:prstGeom prst="rect">
            <a:avLst/>
          </a:prstGeom>
          <a:noFill/>
          <a:ln/>
        </p:spPr>
        <p:txBody>
          <a:bodyPr wrap="square" lIns="0" tIns="0" rIns="0" bIns="0" rtlCol="0" anchor="ctr"/>
          <a:lstStyle/>
          <a:p>
            <a:pPr algn="ctr" indent="0" marL="0">
              <a:lnSpc>
                <a:spcPts val="1400"/>
              </a:lnSpc>
              <a:buNone/>
            </a:pPr>
            <a:r>
              <a:rPr lang="en-US" sz="1100" dirty="0">
                <a:solidFill>
                  <a:srgbClr val="5A6472"/>
                </a:solidFill>
                <a:latin typeface="Calibri" pitchFamily="34" charset="0"/>
                <a:ea typeface="Calibri" pitchFamily="34" charset="-122"/>
                <a:cs typeface="Calibri" pitchFamily="34" charset="-120"/>
              </a:rPr>
              <a:t>Fórmula ampliada: + VE · SM^γ · CP^α, normalizada</a:t>
            </a:r>
            <a:endParaRPr lang="en-US" sz="1100" dirty="0"/>
          </a:p>
        </p:txBody>
      </p:sp>
      <p:sp>
        <p:nvSpPr>
          <p:cNvPr id="29" name="Shape 27"/>
          <p:cNvSpPr/>
          <p:nvPr/>
        </p:nvSpPr>
        <p:spPr>
          <a:xfrm>
            <a:off x="640080" y="5138928"/>
            <a:ext cx="10972800" cy="1143000"/>
          </a:xfrm>
          <a:prstGeom prst="roundRect">
            <a:avLst>
              <a:gd name="adj" fmla="val 5600"/>
            </a:avLst>
          </a:prstGeom>
          <a:solidFill>
            <a:srgbClr val="F4F6F9"/>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30" name="Text 28"/>
          <p:cNvSpPr/>
          <p:nvPr/>
        </p:nvSpPr>
        <p:spPr>
          <a:xfrm>
            <a:off x="914400" y="5303520"/>
            <a:ext cx="10424160" cy="256032"/>
          </a:xfrm>
          <a:prstGeom prst="rect">
            <a:avLst/>
          </a:prstGeom>
          <a:noFill/>
          <a:ln/>
        </p:spPr>
        <p:txBody>
          <a:bodyPr wrap="square" lIns="0" tIns="0" rIns="0" bIns="0" rtlCol="0" anchor="ctr"/>
          <a:lstStyle/>
          <a:p>
            <a:pPr indent="0" marL="0">
              <a:buNone/>
            </a:pPr>
            <a:r>
              <a:rPr lang="en-US" sz="1150" b="1" spc="200" kern="0" dirty="0">
                <a:solidFill>
                  <a:srgbClr val="5A6472"/>
                </a:solidFill>
                <a:latin typeface="Calibri" pitchFamily="34" charset="0"/>
                <a:ea typeface="Calibri" pitchFamily="34" charset="-122"/>
                <a:cs typeface="Calibri" pitchFamily="34" charset="-120"/>
              </a:rPr>
              <a:t>TRES LITERATURAS QUE EL ARTÍCULO HACE CONVERGER</a:t>
            </a:r>
            <a:endParaRPr lang="en-US" sz="1150" dirty="0"/>
          </a:p>
        </p:txBody>
      </p:sp>
      <p:sp>
        <p:nvSpPr>
          <p:cNvPr id="31" name="Text 29"/>
          <p:cNvSpPr/>
          <p:nvPr/>
        </p:nvSpPr>
        <p:spPr>
          <a:xfrm>
            <a:off x="914400" y="5596128"/>
            <a:ext cx="3429000" cy="621792"/>
          </a:xfrm>
          <a:prstGeom prst="rect">
            <a:avLst/>
          </a:prstGeom>
          <a:noFill/>
          <a:ln/>
        </p:spPr>
        <p:txBody>
          <a:bodyPr wrap="square" lIns="0" tIns="0" rIns="0" bIns="0" rtlCol="0" anchor="ctr"/>
          <a:lstStyle/>
          <a:p>
            <a:pPr indent="0" marL="0">
              <a:lnSpc>
                <a:spcPts val="1700"/>
              </a:lnSpc>
              <a:buNone/>
            </a:pPr>
            <a:r>
              <a:rPr lang="en-US" sz="1450" b="1" dirty="0">
                <a:solidFill>
                  <a:srgbClr val="185FA5"/>
                </a:solidFill>
                <a:latin typeface="Calibri" pitchFamily="34" charset="0"/>
                <a:ea typeface="Calibri" pitchFamily="34" charset="-122"/>
                <a:cs typeface="Calibri" pitchFamily="34" charset="-120"/>
              </a:rPr>
              <a:t>Poder marítimo</a:t>
            </a:r>
            <a:endParaRPr lang="en-US" sz="1450" dirty="0"/>
          </a:p>
          <a:p>
            <a:pPr indent="0" marL="0">
              <a:lnSpc>
                <a:spcPts val="1700"/>
              </a:lnSpc>
              <a:buNone/>
            </a:pPr>
            <a:r>
              <a:rPr lang="en-US" sz="1150" dirty="0">
                <a:solidFill>
                  <a:srgbClr val="5A6472"/>
                </a:solidFill>
                <a:latin typeface="Calibri" pitchFamily="34" charset="0"/>
                <a:ea typeface="Calibri" pitchFamily="34" charset="-122"/>
                <a:cs typeface="Calibri" pitchFamily="34" charset="-120"/>
              </a:rPr>
              <a:t>Mahan · Corbett · Till · Solís · Uribe</a:t>
            </a:r>
            <a:endParaRPr lang="en-US" sz="1450" dirty="0"/>
          </a:p>
        </p:txBody>
      </p:sp>
      <p:sp>
        <p:nvSpPr>
          <p:cNvPr id="32" name="Text 30"/>
          <p:cNvSpPr/>
          <p:nvPr/>
        </p:nvSpPr>
        <p:spPr>
          <a:xfrm>
            <a:off x="4526280" y="5596128"/>
            <a:ext cx="3429000" cy="621792"/>
          </a:xfrm>
          <a:prstGeom prst="rect">
            <a:avLst/>
          </a:prstGeom>
          <a:noFill/>
          <a:ln/>
        </p:spPr>
        <p:txBody>
          <a:bodyPr wrap="square" lIns="0" tIns="0" rIns="0" bIns="0" rtlCol="0" anchor="ctr"/>
          <a:lstStyle/>
          <a:p>
            <a:pPr indent="0" marL="0">
              <a:lnSpc>
                <a:spcPts val="1700"/>
              </a:lnSpc>
              <a:buNone/>
            </a:pPr>
            <a:r>
              <a:rPr lang="en-US" sz="1450" b="1" dirty="0">
                <a:solidFill>
                  <a:srgbClr val="854F0B"/>
                </a:solidFill>
                <a:latin typeface="Calibri" pitchFamily="34" charset="0"/>
                <a:ea typeface="Calibri" pitchFamily="34" charset="-122"/>
                <a:cs typeface="Calibri" pitchFamily="34" charset="-120"/>
              </a:rPr>
              <a:t>Seguridad marítima</a:t>
            </a:r>
            <a:endParaRPr lang="en-US" sz="1450" dirty="0"/>
          </a:p>
          <a:p>
            <a:pPr indent="0" marL="0">
              <a:lnSpc>
                <a:spcPts val="1700"/>
              </a:lnSpc>
              <a:buNone/>
            </a:pPr>
            <a:r>
              <a:rPr lang="en-US" sz="1150" dirty="0">
                <a:solidFill>
                  <a:srgbClr val="5A6472"/>
                </a:solidFill>
                <a:latin typeface="Calibri" pitchFamily="34" charset="0"/>
                <a:ea typeface="Calibri" pitchFamily="34" charset="-122"/>
                <a:cs typeface="Calibri" pitchFamily="34" charset="-120"/>
              </a:rPr>
              <a:t>Bueger &amp; Edmunds (2024) — CI · TE · BC</a:t>
            </a:r>
            <a:endParaRPr lang="en-US" sz="1450" dirty="0"/>
          </a:p>
        </p:txBody>
      </p:sp>
      <p:sp>
        <p:nvSpPr>
          <p:cNvPr id="33" name="Text 31"/>
          <p:cNvSpPr/>
          <p:nvPr/>
        </p:nvSpPr>
        <p:spPr>
          <a:xfrm>
            <a:off x="8138160" y="5596128"/>
            <a:ext cx="3429000" cy="621792"/>
          </a:xfrm>
          <a:prstGeom prst="rect">
            <a:avLst/>
          </a:prstGeom>
          <a:noFill/>
          <a:ln/>
        </p:spPr>
        <p:txBody>
          <a:bodyPr wrap="square" lIns="0" tIns="0" rIns="0" bIns="0" rtlCol="0" anchor="ctr"/>
          <a:lstStyle/>
          <a:p>
            <a:pPr indent="0" marL="0">
              <a:lnSpc>
                <a:spcPts val="1700"/>
              </a:lnSpc>
              <a:buNone/>
            </a:pPr>
            <a:r>
              <a:rPr lang="en-US" sz="1450" b="1" dirty="0">
                <a:solidFill>
                  <a:srgbClr val="993C1D"/>
                </a:solidFill>
                <a:latin typeface="Calibri" pitchFamily="34" charset="0"/>
                <a:ea typeface="Calibri" pitchFamily="34" charset="-122"/>
                <a:cs typeface="Calibri" pitchFamily="34" charset="-120"/>
              </a:rPr>
              <a:t>Ciberpoder</a:t>
            </a:r>
            <a:endParaRPr lang="en-US" sz="1450" dirty="0"/>
          </a:p>
          <a:p>
            <a:pPr indent="0" marL="0">
              <a:lnSpc>
                <a:spcPts val="1700"/>
              </a:lnSpc>
              <a:buNone/>
            </a:pPr>
            <a:r>
              <a:rPr lang="en-US" sz="1150" dirty="0">
                <a:solidFill>
                  <a:srgbClr val="5A6472"/>
                </a:solidFill>
                <a:latin typeface="Calibri" pitchFamily="34" charset="0"/>
                <a:ea typeface="Calibri" pitchFamily="34" charset="-122"/>
                <a:cs typeface="Calibri" pitchFamily="34" charset="-120"/>
              </a:rPr>
              <a:t>Nye (2010) · Bebber (2022) · Cabuya-Padilla (2024)</a:t>
            </a:r>
            <a:endParaRPr lang="en-US" sz="1450" dirty="0"/>
          </a:p>
        </p:txBody>
      </p:sp>
      <p:sp>
        <p:nvSpPr>
          <p:cNvPr id="34" name="Text 32"/>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ESTADO DEL ARTE</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Cuatro vacíos que ningún antecedente resuelve</a:t>
            </a:r>
            <a:endParaRPr lang="en-US" sz="3100" dirty="0"/>
          </a:p>
        </p:txBody>
      </p:sp>
      <p:sp>
        <p:nvSpPr>
          <p:cNvPr id="4" name="Shape 2"/>
          <p:cNvSpPr/>
          <p:nvPr/>
        </p:nvSpPr>
        <p:spPr>
          <a:xfrm>
            <a:off x="640080" y="1783080"/>
            <a:ext cx="5413248" cy="1901952"/>
          </a:xfrm>
          <a:prstGeom prst="roundRect">
            <a:avLst>
              <a:gd name="adj" fmla="val 3365"/>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5" name="Shape 3"/>
          <p:cNvSpPr/>
          <p:nvPr/>
        </p:nvSpPr>
        <p:spPr>
          <a:xfrm>
            <a:off x="841248" y="2020824"/>
            <a:ext cx="512064" cy="512064"/>
          </a:xfrm>
          <a:prstGeom prst="ellipse">
            <a:avLst/>
          </a:prstGeom>
          <a:solidFill>
            <a:srgbClr val="993C1D"/>
          </a:solidFill>
          <a:ln/>
        </p:spPr>
      </p:sp>
      <p:sp>
        <p:nvSpPr>
          <p:cNvPr id="6" name="Text 4"/>
          <p:cNvSpPr/>
          <p:nvPr/>
        </p:nvSpPr>
        <p:spPr>
          <a:xfrm>
            <a:off x="841248" y="2011680"/>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7" name="Text 5"/>
          <p:cNvSpPr/>
          <p:nvPr/>
        </p:nvSpPr>
        <p:spPr>
          <a:xfrm>
            <a:off x="1508760" y="1965960"/>
            <a:ext cx="4315968" cy="566928"/>
          </a:xfrm>
          <a:prstGeom prst="rect">
            <a:avLst/>
          </a:prstGeom>
          <a:noFill/>
          <a:ln/>
        </p:spPr>
        <p:txBody>
          <a:bodyPr wrap="square" lIns="0" tIns="0" rIns="0" bIns="0" rtlCol="0" anchor="ctr"/>
          <a:lstStyle/>
          <a:p>
            <a:pPr indent="0" marL="0">
              <a:lnSpc>
                <a:spcPts val="1900"/>
              </a:lnSpc>
              <a:buNone/>
            </a:pPr>
            <a:r>
              <a:rPr lang="en-US" sz="1550" b="1" dirty="0">
                <a:solidFill>
                  <a:srgbClr val="0D2A42"/>
                </a:solidFill>
                <a:latin typeface="Calibri" pitchFamily="34" charset="0"/>
                <a:ea typeface="Calibri" pitchFamily="34" charset="-122"/>
                <a:cs typeface="Calibri" pitchFamily="34" charset="-120"/>
              </a:rPr>
              <a:t>El ciberpoder no está formalizado</a:t>
            </a:r>
            <a:endParaRPr lang="en-US" sz="1550" dirty="0"/>
          </a:p>
        </p:txBody>
      </p:sp>
      <p:sp>
        <p:nvSpPr>
          <p:cNvPr id="8" name="Text 6"/>
          <p:cNvSpPr/>
          <p:nvPr/>
        </p:nvSpPr>
        <p:spPr>
          <a:xfrm>
            <a:off x="1508760" y="2569464"/>
            <a:ext cx="4315968" cy="100584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Ningún modelo lo incorpora como variable de la fórmula conceptual del PM — ni siquiera los que reconocen su relevancia (Bebber, 2022).</a:t>
            </a:r>
            <a:endParaRPr lang="en-US" sz="1250" dirty="0"/>
          </a:p>
        </p:txBody>
      </p:sp>
      <p:sp>
        <p:nvSpPr>
          <p:cNvPr id="9" name="Shape 7"/>
          <p:cNvSpPr/>
          <p:nvPr/>
        </p:nvSpPr>
        <p:spPr>
          <a:xfrm>
            <a:off x="6199632" y="1783080"/>
            <a:ext cx="5413248" cy="1901952"/>
          </a:xfrm>
          <a:prstGeom prst="roundRect">
            <a:avLst>
              <a:gd name="adj" fmla="val 3365"/>
            </a:avLst>
          </a:prstGeom>
          <a:solidFill>
            <a:srgbClr val="E1F5EE"/>
          </a:solidFill>
          <a:ln w="12700">
            <a:solidFill>
              <a:srgbClr val="0F6E56"/>
            </a:solidFill>
            <a:prstDash val="solid"/>
          </a:ln>
          <a:effectLst>
            <a:outerShdw sx="100000" sy="100000" kx="0" ky="0" algn="bl" rotWithShape="0" blurRad="88900" dist="25400" dir="5400000">
              <a:srgbClr val="A8B4C2">
                <a:alpha val="28000"/>
              </a:srgbClr>
            </a:outerShdw>
          </a:effectLst>
        </p:spPr>
      </p:sp>
      <p:sp>
        <p:nvSpPr>
          <p:cNvPr id="10" name="Shape 8"/>
          <p:cNvSpPr/>
          <p:nvPr/>
        </p:nvSpPr>
        <p:spPr>
          <a:xfrm>
            <a:off x="6400800" y="2020824"/>
            <a:ext cx="512064" cy="512064"/>
          </a:xfrm>
          <a:prstGeom prst="ellipse">
            <a:avLst/>
          </a:prstGeom>
          <a:solidFill>
            <a:srgbClr val="0F6E56"/>
          </a:solidFill>
          <a:ln/>
        </p:spPr>
      </p:sp>
      <p:sp>
        <p:nvSpPr>
          <p:cNvPr id="11" name="Text 9"/>
          <p:cNvSpPr/>
          <p:nvPr/>
        </p:nvSpPr>
        <p:spPr>
          <a:xfrm>
            <a:off x="6400800" y="2011680"/>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2" name="Text 10"/>
          <p:cNvSpPr/>
          <p:nvPr/>
        </p:nvSpPr>
        <p:spPr>
          <a:xfrm>
            <a:off x="7068312" y="1965960"/>
            <a:ext cx="4315968" cy="566928"/>
          </a:xfrm>
          <a:prstGeom prst="rect">
            <a:avLst/>
          </a:prstGeom>
          <a:noFill/>
          <a:ln/>
        </p:spPr>
        <p:txBody>
          <a:bodyPr wrap="square" lIns="0" tIns="0" rIns="0" bIns="0" rtlCol="0" anchor="ctr"/>
          <a:lstStyle/>
          <a:p>
            <a:pPr indent="0" marL="0">
              <a:lnSpc>
                <a:spcPts val="1900"/>
              </a:lnSpc>
              <a:buNone/>
            </a:pPr>
            <a:r>
              <a:rPr lang="en-US" sz="1550" b="1" dirty="0">
                <a:solidFill>
                  <a:srgbClr val="0D2A42"/>
                </a:solidFill>
                <a:latin typeface="Calibri" pitchFamily="34" charset="0"/>
                <a:ea typeface="Calibri" pitchFamily="34" charset="-122"/>
                <a:cs typeface="Calibri" pitchFamily="34" charset="-120"/>
              </a:rPr>
              <a:t>La voluntad estratégica queda fuera del sistema</a:t>
            </a:r>
            <a:endParaRPr lang="en-US" sz="1550" dirty="0"/>
          </a:p>
        </p:txBody>
      </p:sp>
      <p:sp>
        <p:nvSpPr>
          <p:cNvPr id="13" name="Text 11"/>
          <p:cNvSpPr/>
          <p:nvPr/>
        </p:nvSpPr>
        <p:spPr>
          <a:xfrm>
            <a:off x="7068312" y="2569464"/>
            <a:ext cx="4315968" cy="100584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La literatura la trata como dinamizador del poder naval, no como condición del sistema completo de poder marítimo.</a:t>
            </a:r>
            <a:endParaRPr lang="en-US" sz="1250" dirty="0"/>
          </a:p>
        </p:txBody>
      </p:sp>
      <p:sp>
        <p:nvSpPr>
          <p:cNvPr id="14" name="Shape 12"/>
          <p:cNvSpPr/>
          <p:nvPr/>
        </p:nvSpPr>
        <p:spPr>
          <a:xfrm>
            <a:off x="640080" y="3886200"/>
            <a:ext cx="5413248" cy="1901952"/>
          </a:xfrm>
          <a:prstGeom prst="roundRect">
            <a:avLst>
              <a:gd name="adj" fmla="val 3365"/>
            </a:avLst>
          </a:prstGeom>
          <a:solidFill>
            <a:srgbClr val="FEF4E4"/>
          </a:solidFill>
          <a:ln w="12700">
            <a:solidFill>
              <a:srgbClr val="854F0B"/>
            </a:solidFill>
            <a:prstDash val="solid"/>
          </a:ln>
          <a:effectLst>
            <a:outerShdw sx="100000" sy="100000" kx="0" ky="0" algn="bl" rotWithShape="0" blurRad="88900" dist="25400" dir="5400000">
              <a:srgbClr val="A8B4C2">
                <a:alpha val="28000"/>
              </a:srgbClr>
            </a:outerShdw>
          </a:effectLst>
        </p:spPr>
      </p:sp>
      <p:sp>
        <p:nvSpPr>
          <p:cNvPr id="15" name="Shape 13"/>
          <p:cNvSpPr/>
          <p:nvPr/>
        </p:nvSpPr>
        <p:spPr>
          <a:xfrm>
            <a:off x="841248" y="4123944"/>
            <a:ext cx="512064" cy="512064"/>
          </a:xfrm>
          <a:prstGeom prst="ellipse">
            <a:avLst/>
          </a:prstGeom>
          <a:solidFill>
            <a:srgbClr val="854F0B"/>
          </a:solidFill>
          <a:ln/>
        </p:spPr>
      </p:sp>
      <p:sp>
        <p:nvSpPr>
          <p:cNvPr id="16" name="Text 14"/>
          <p:cNvSpPr/>
          <p:nvPr/>
        </p:nvSpPr>
        <p:spPr>
          <a:xfrm>
            <a:off x="841248" y="4114800"/>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17" name="Text 15"/>
          <p:cNvSpPr/>
          <p:nvPr/>
        </p:nvSpPr>
        <p:spPr>
          <a:xfrm>
            <a:off x="1508760" y="4069080"/>
            <a:ext cx="4315968" cy="566928"/>
          </a:xfrm>
          <a:prstGeom prst="rect">
            <a:avLst/>
          </a:prstGeom>
          <a:noFill/>
          <a:ln/>
        </p:spPr>
        <p:txBody>
          <a:bodyPr wrap="square" lIns="0" tIns="0" rIns="0" bIns="0" rtlCol="0" anchor="ctr"/>
          <a:lstStyle/>
          <a:p>
            <a:pPr indent="0" marL="0">
              <a:lnSpc>
                <a:spcPts val="1900"/>
              </a:lnSpc>
              <a:buNone/>
            </a:pPr>
            <a:r>
              <a:rPr lang="en-US" sz="1550" b="1" dirty="0">
                <a:solidFill>
                  <a:srgbClr val="0D2A42"/>
                </a:solidFill>
                <a:latin typeface="Calibri" pitchFamily="34" charset="0"/>
                <a:ea typeface="Calibri" pitchFamily="34" charset="-122"/>
                <a:cs typeface="Calibri" pitchFamily="34" charset="-120"/>
              </a:rPr>
              <a:t>La seguridad marítima sin desagregación</a:t>
            </a:r>
            <a:endParaRPr lang="en-US" sz="1550" dirty="0"/>
          </a:p>
        </p:txBody>
      </p:sp>
      <p:sp>
        <p:nvSpPr>
          <p:cNvPr id="18" name="Text 16"/>
          <p:cNvSpPr/>
          <p:nvPr/>
        </p:nvSpPr>
        <p:spPr>
          <a:xfrm>
            <a:off x="1508760" y="4672584"/>
            <a:ext cx="4315968" cy="100584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Vargas Suárez et al. (2021) la miden pero no la formalizan como variable estructural del entorno con dimensiones diferenciadas.</a:t>
            </a:r>
            <a:endParaRPr lang="en-US" sz="1250" dirty="0"/>
          </a:p>
        </p:txBody>
      </p:sp>
      <p:sp>
        <p:nvSpPr>
          <p:cNvPr id="19" name="Shape 17"/>
          <p:cNvSpPr/>
          <p:nvPr/>
        </p:nvSpPr>
        <p:spPr>
          <a:xfrm>
            <a:off x="6199632" y="3886200"/>
            <a:ext cx="5413248" cy="1901952"/>
          </a:xfrm>
          <a:prstGeom prst="roundRect">
            <a:avLst>
              <a:gd name="adj" fmla="val 3365"/>
            </a:avLst>
          </a:prstGeom>
          <a:solidFill>
            <a:srgbClr val="EEEDFE"/>
          </a:solidFill>
          <a:ln w="12700">
            <a:solidFill>
              <a:srgbClr val="534AB7"/>
            </a:solidFill>
            <a:prstDash val="solid"/>
          </a:ln>
          <a:effectLst>
            <a:outerShdw sx="100000" sy="100000" kx="0" ky="0" algn="bl" rotWithShape="0" blurRad="88900" dist="25400" dir="5400000">
              <a:srgbClr val="A8B4C2">
                <a:alpha val="28000"/>
              </a:srgbClr>
            </a:outerShdw>
          </a:effectLst>
        </p:spPr>
      </p:sp>
      <p:sp>
        <p:nvSpPr>
          <p:cNvPr id="20" name="Shape 18"/>
          <p:cNvSpPr/>
          <p:nvPr/>
        </p:nvSpPr>
        <p:spPr>
          <a:xfrm>
            <a:off x="6400800" y="4123944"/>
            <a:ext cx="512064" cy="512064"/>
          </a:xfrm>
          <a:prstGeom prst="ellipse">
            <a:avLst/>
          </a:prstGeom>
          <a:solidFill>
            <a:srgbClr val="534AB7"/>
          </a:solidFill>
          <a:ln/>
        </p:spPr>
      </p:sp>
      <p:sp>
        <p:nvSpPr>
          <p:cNvPr id="21" name="Text 19"/>
          <p:cNvSpPr/>
          <p:nvPr/>
        </p:nvSpPr>
        <p:spPr>
          <a:xfrm>
            <a:off x="6400800" y="4114800"/>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4</a:t>
            </a:r>
            <a:endParaRPr lang="en-US" sz="2100" dirty="0"/>
          </a:p>
        </p:txBody>
      </p:sp>
      <p:sp>
        <p:nvSpPr>
          <p:cNvPr id="22" name="Text 20"/>
          <p:cNvSpPr/>
          <p:nvPr/>
        </p:nvSpPr>
        <p:spPr>
          <a:xfrm>
            <a:off x="7068312" y="4069080"/>
            <a:ext cx="4315968" cy="566928"/>
          </a:xfrm>
          <a:prstGeom prst="rect">
            <a:avLst/>
          </a:prstGeom>
          <a:noFill/>
          <a:ln/>
        </p:spPr>
        <p:txBody>
          <a:bodyPr wrap="square" lIns="0" tIns="0" rIns="0" bIns="0" rtlCol="0" anchor="ctr"/>
          <a:lstStyle/>
          <a:p>
            <a:pPr indent="0" marL="0">
              <a:lnSpc>
                <a:spcPts val="1900"/>
              </a:lnSpc>
              <a:buNone/>
            </a:pPr>
            <a:r>
              <a:rPr lang="en-US" sz="1550" b="1" dirty="0">
                <a:solidFill>
                  <a:srgbClr val="0D2A42"/>
                </a:solidFill>
                <a:latin typeface="Calibri" pitchFamily="34" charset="0"/>
                <a:ea typeface="Calibri" pitchFamily="34" charset="-122"/>
                <a:cs typeface="Calibri" pitchFamily="34" charset="-120"/>
              </a:rPr>
              <a:t>Sin normalización ni escala interpretativa</a:t>
            </a:r>
            <a:endParaRPr lang="en-US" sz="1550" dirty="0"/>
          </a:p>
        </p:txBody>
      </p:sp>
      <p:sp>
        <p:nvSpPr>
          <p:cNvPr id="23" name="Text 21"/>
          <p:cNvSpPr/>
          <p:nvPr/>
        </p:nvSpPr>
        <p:spPr>
          <a:xfrm>
            <a:off x="7068312" y="4672584"/>
            <a:ext cx="4315968" cy="100584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Los modelos multiplicativos comprimen el resultado hacia valores ininterpretables; ninguno resuelve la consistencia de rango.</a:t>
            </a:r>
            <a:endParaRPr lang="en-US" sz="1250" dirty="0"/>
          </a:p>
        </p:txBody>
      </p:sp>
      <p:sp>
        <p:nvSpPr>
          <p:cNvPr id="24" name="Text 22"/>
          <p:cNvSpPr/>
          <p:nvPr/>
        </p:nvSpPr>
        <p:spPr>
          <a:xfrm>
            <a:off x="640080" y="6035040"/>
            <a:ext cx="10972800" cy="365760"/>
          </a:xfrm>
          <a:prstGeom prst="rect">
            <a:avLst/>
          </a:prstGeom>
          <a:noFill/>
          <a:ln/>
        </p:spPr>
        <p:txBody>
          <a:bodyPr wrap="square" lIns="0" tIns="0" rIns="0" bIns="0" rtlCol="0" anchor="ctr"/>
          <a:lstStyle/>
          <a:p>
            <a:pPr algn="ctr" indent="0" marL="0">
              <a:buNone/>
            </a:pPr>
            <a:r>
              <a:rPr lang="en-US" sz="1500" b="1" dirty="0">
                <a:solidFill>
                  <a:srgbClr val="0D2A42"/>
                </a:solidFill>
                <a:latin typeface="Calibri" pitchFamily="34" charset="0"/>
                <a:ea typeface="Calibri" pitchFamily="34" charset="-122"/>
                <a:cs typeface="Calibri" pitchFamily="34" charset="-120"/>
              </a:rPr>
              <a:t>La propuesta resuelve los cuatro vacíos </a:t>
            </a:r>
            <a:pPr algn="ctr" indent="0" marL="0">
              <a:buNone/>
            </a:pPr>
            <a:r>
              <a:rPr lang="en-US" sz="1500" dirty="0">
                <a:solidFill>
                  <a:srgbClr val="5A6472"/>
                </a:solidFill>
                <a:latin typeface="Calibri" pitchFamily="34" charset="0"/>
                <a:ea typeface="Calibri" pitchFamily="34" charset="-122"/>
                <a:cs typeface="Calibri" pitchFamily="34" charset="-120"/>
              </a:rPr>
              <a:t>— con alcance internacional e ilustración sobre Colombia.</a:t>
            </a:r>
            <a:endParaRPr lang="en-US" sz="1500" dirty="0"/>
          </a:p>
        </p:txBody>
      </p:sp>
      <p:sp>
        <p:nvSpPr>
          <p:cNvPr id="25" name="Text 23"/>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METODOLOGÍA</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Enfoque analítico-conceptual, en cuatro etapas</a:t>
            </a:r>
            <a:endParaRPr lang="en-US" sz="3100" dirty="0"/>
          </a:p>
        </p:txBody>
      </p:sp>
      <p:sp>
        <p:nvSpPr>
          <p:cNvPr id="4" name="Text 2"/>
          <p:cNvSpPr/>
          <p:nvPr/>
        </p:nvSpPr>
        <p:spPr>
          <a:xfrm>
            <a:off x="640080" y="1572768"/>
            <a:ext cx="10972800" cy="868680"/>
          </a:xfrm>
          <a:prstGeom prst="rect">
            <a:avLst/>
          </a:prstGeom>
          <a:noFill/>
          <a:ln/>
        </p:spPr>
        <p:txBody>
          <a:bodyPr wrap="square" lIns="0" tIns="0" rIns="0" bIns="0" rtlCol="0" anchor="ctr"/>
          <a:lstStyle/>
          <a:p>
            <a:pPr indent="0" marL="0">
              <a:lnSpc>
                <a:spcPts val="1900"/>
              </a:lnSpc>
              <a:buNone/>
            </a:pPr>
            <a:r>
              <a:rPr lang="en-US" sz="1450" b="1" dirty="0">
                <a:solidFill>
                  <a:srgbClr val="0D2A42"/>
                </a:solidFill>
                <a:latin typeface="Calibri" pitchFamily="34" charset="0"/>
                <a:ea typeface="Calibri" pitchFamily="34" charset="-122"/>
                <a:cs typeface="Calibri" pitchFamily="34" charset="-120"/>
              </a:rPr>
              <a:t>La formalización conceptual precede a la operacionalización cuantitativa </a:t>
            </a:r>
            <a:pPr indent="0" marL="0">
              <a:lnSpc>
                <a:spcPts val="1900"/>
              </a:lnSpc>
              <a:buNone/>
            </a:pPr>
            <a:r>
              <a:rPr lang="en-US" sz="1450" dirty="0">
                <a:solidFill>
                  <a:srgbClr val="5A6472"/>
                </a:solidFill>
                <a:latin typeface="Calibri" pitchFamily="34" charset="0"/>
                <a:ea typeface="Calibri" pitchFamily="34" charset="-122"/>
                <a:cs typeface="Calibri" pitchFamily="34" charset="-120"/>
              </a:rPr>
              <a:t>— la misma tradición de Mahan, Corbett, Till y Solís Oyarzún, que construyeron el campo sistematizando principios estratégicos, sin calcular índices.</a:t>
            </a:r>
            <a:endParaRPr lang="en-US" sz="1450" dirty="0"/>
          </a:p>
        </p:txBody>
      </p:sp>
      <p:sp>
        <p:nvSpPr>
          <p:cNvPr id="5" name="Shape 3"/>
          <p:cNvSpPr/>
          <p:nvPr/>
        </p:nvSpPr>
        <p:spPr>
          <a:xfrm>
            <a:off x="640080" y="2514600"/>
            <a:ext cx="2670048" cy="2880360"/>
          </a:xfrm>
          <a:prstGeom prst="roundRect">
            <a:avLst>
              <a:gd name="adj" fmla="val 2397"/>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6" name="Shape 4"/>
          <p:cNvSpPr/>
          <p:nvPr/>
        </p:nvSpPr>
        <p:spPr>
          <a:xfrm>
            <a:off x="1664208" y="2788920"/>
            <a:ext cx="621792" cy="621792"/>
          </a:xfrm>
          <a:prstGeom prst="ellipse">
            <a:avLst/>
          </a:prstGeom>
          <a:solidFill>
            <a:srgbClr val="185FA5"/>
          </a:solidFill>
          <a:ln/>
        </p:spPr>
      </p:sp>
      <p:pic>
        <p:nvPicPr>
          <p:cNvPr id="7" name="Image 0" descr="preencoded.png">    </p:cNvPr>
          <p:cNvPicPr>
            <a:picLocks noChangeAspect="1"/>
          </p:cNvPicPr>
          <p:nvPr/>
        </p:nvPicPr>
        <p:blipFill>
          <a:blip r:embed="rId1"/>
          <a:stretch>
            <a:fillRect/>
          </a:stretch>
        </p:blipFill>
        <p:spPr>
          <a:xfrm>
            <a:off x="1813438" y="2938150"/>
            <a:ext cx="323332" cy="323332"/>
          </a:xfrm>
          <a:prstGeom prst="rect">
            <a:avLst/>
          </a:prstGeom>
        </p:spPr>
      </p:pic>
      <p:sp>
        <p:nvSpPr>
          <p:cNvPr id="8" name="Text 5"/>
          <p:cNvSpPr/>
          <p:nvPr/>
        </p:nvSpPr>
        <p:spPr>
          <a:xfrm>
            <a:off x="777240" y="3520440"/>
            <a:ext cx="2395728" cy="256032"/>
          </a:xfrm>
          <a:prstGeom prst="rect">
            <a:avLst/>
          </a:prstGeom>
          <a:noFill/>
          <a:ln/>
        </p:spPr>
        <p:txBody>
          <a:bodyPr wrap="square" lIns="0" tIns="0" rIns="0" bIns="0" rtlCol="0" anchor="ctr"/>
          <a:lstStyle/>
          <a:p>
            <a:pPr algn="ctr" indent="0" marL="0">
              <a:buNone/>
            </a:pPr>
            <a:r>
              <a:rPr lang="en-US" sz="1100" b="1" spc="200" kern="0" dirty="0">
                <a:solidFill>
                  <a:srgbClr val="185FA5"/>
                </a:solidFill>
                <a:latin typeface="Calibri" pitchFamily="34" charset="0"/>
                <a:ea typeface="Calibri" pitchFamily="34" charset="-122"/>
                <a:cs typeface="Calibri" pitchFamily="34" charset="-120"/>
              </a:rPr>
              <a:t>ETAPA 1</a:t>
            </a:r>
            <a:endParaRPr lang="en-US" sz="1100" dirty="0"/>
          </a:p>
        </p:txBody>
      </p:sp>
      <p:sp>
        <p:nvSpPr>
          <p:cNvPr id="9" name="Text 6"/>
          <p:cNvSpPr/>
          <p:nvPr/>
        </p:nvSpPr>
        <p:spPr>
          <a:xfrm>
            <a:off x="777240" y="3794760"/>
            <a:ext cx="239572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0D2A42"/>
                </a:solidFill>
                <a:latin typeface="Calibri" pitchFamily="34" charset="0"/>
                <a:ea typeface="Calibri" pitchFamily="34" charset="-122"/>
                <a:cs typeface="Calibri" pitchFamily="34" charset="-120"/>
              </a:rPr>
              <a:t>Revisión sistemática</a:t>
            </a:r>
            <a:endParaRPr lang="en-US" sz="1500" dirty="0"/>
          </a:p>
        </p:txBody>
      </p:sp>
      <p:sp>
        <p:nvSpPr>
          <p:cNvPr id="10" name="Text 7"/>
          <p:cNvSpPr/>
          <p:nvPr/>
        </p:nvSpPr>
        <p:spPr>
          <a:xfrm>
            <a:off x="822960" y="4325112"/>
            <a:ext cx="2304288" cy="960120"/>
          </a:xfrm>
          <a:prstGeom prst="rect">
            <a:avLst/>
          </a:prstGeom>
          <a:noFill/>
          <a:ln/>
        </p:spPr>
        <p:txBody>
          <a:bodyPr wrap="square" lIns="0" tIns="0" rIns="0" bIns="0" rtlCol="0" anchor="ctr"/>
          <a:lstStyle/>
          <a:p>
            <a:pPr algn="ctr" indent="0" marL="0">
              <a:lnSpc>
                <a:spcPts val="1550"/>
              </a:lnSpc>
              <a:buNone/>
            </a:pPr>
            <a:r>
              <a:rPr lang="en-US" sz="1180" dirty="0">
                <a:solidFill>
                  <a:srgbClr val="5A6472"/>
                </a:solidFill>
                <a:latin typeface="Calibri" pitchFamily="34" charset="0"/>
                <a:ea typeface="Calibri" pitchFamily="34" charset="-122"/>
                <a:cs typeface="Calibri" pitchFamily="34" charset="-120"/>
              </a:rPr>
              <a:t>Scopus, Web of Science y repositorios navales; prioridad 2014–2024 sin excluir fuentes seminales.</a:t>
            </a:r>
            <a:endParaRPr lang="en-US" sz="1180" dirty="0"/>
          </a:p>
        </p:txBody>
      </p:sp>
      <p:sp>
        <p:nvSpPr>
          <p:cNvPr id="11" name="Shape 8"/>
          <p:cNvSpPr/>
          <p:nvPr/>
        </p:nvSpPr>
        <p:spPr>
          <a:xfrm>
            <a:off x="3483864" y="2514600"/>
            <a:ext cx="2670048" cy="2880360"/>
          </a:xfrm>
          <a:prstGeom prst="roundRect">
            <a:avLst>
              <a:gd name="adj" fmla="val 2397"/>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2" name="Shape 9"/>
          <p:cNvSpPr/>
          <p:nvPr/>
        </p:nvSpPr>
        <p:spPr>
          <a:xfrm>
            <a:off x="4507992" y="2788920"/>
            <a:ext cx="621792" cy="621792"/>
          </a:xfrm>
          <a:prstGeom prst="ellipse">
            <a:avLst/>
          </a:prstGeom>
          <a:solidFill>
            <a:srgbClr val="534AB7"/>
          </a:solidFill>
          <a:ln/>
        </p:spPr>
      </p:sp>
      <p:pic>
        <p:nvPicPr>
          <p:cNvPr id="13" name="Image 1" descr="preencoded.png">    </p:cNvPr>
          <p:cNvPicPr>
            <a:picLocks noChangeAspect="1"/>
          </p:cNvPicPr>
          <p:nvPr/>
        </p:nvPicPr>
        <p:blipFill>
          <a:blip r:embed="rId2"/>
          <a:stretch>
            <a:fillRect/>
          </a:stretch>
        </p:blipFill>
        <p:spPr>
          <a:xfrm>
            <a:off x="4657222" y="2938150"/>
            <a:ext cx="323332" cy="323332"/>
          </a:xfrm>
          <a:prstGeom prst="rect">
            <a:avLst/>
          </a:prstGeom>
        </p:spPr>
      </p:pic>
      <p:sp>
        <p:nvSpPr>
          <p:cNvPr id="14" name="Text 10"/>
          <p:cNvSpPr/>
          <p:nvPr/>
        </p:nvSpPr>
        <p:spPr>
          <a:xfrm>
            <a:off x="3621024" y="3520440"/>
            <a:ext cx="2395728" cy="256032"/>
          </a:xfrm>
          <a:prstGeom prst="rect">
            <a:avLst/>
          </a:prstGeom>
          <a:noFill/>
          <a:ln/>
        </p:spPr>
        <p:txBody>
          <a:bodyPr wrap="square" lIns="0" tIns="0" rIns="0" bIns="0" rtlCol="0" anchor="ctr"/>
          <a:lstStyle/>
          <a:p>
            <a:pPr algn="ctr" indent="0" marL="0">
              <a:buNone/>
            </a:pPr>
            <a:r>
              <a:rPr lang="en-US" sz="1100" b="1" spc="200" kern="0" dirty="0">
                <a:solidFill>
                  <a:srgbClr val="534AB7"/>
                </a:solidFill>
                <a:latin typeface="Calibri" pitchFamily="34" charset="0"/>
                <a:ea typeface="Calibri" pitchFamily="34" charset="-122"/>
                <a:cs typeface="Calibri" pitchFamily="34" charset="-120"/>
              </a:rPr>
              <a:t>ETAPA 2</a:t>
            </a:r>
            <a:endParaRPr lang="en-US" sz="1100" dirty="0"/>
          </a:p>
        </p:txBody>
      </p:sp>
      <p:sp>
        <p:nvSpPr>
          <p:cNvPr id="15" name="Text 11"/>
          <p:cNvSpPr/>
          <p:nvPr/>
        </p:nvSpPr>
        <p:spPr>
          <a:xfrm>
            <a:off x="3621024" y="3794760"/>
            <a:ext cx="239572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0D2A42"/>
                </a:solidFill>
                <a:latin typeface="Calibri" pitchFamily="34" charset="0"/>
                <a:ea typeface="Calibri" pitchFamily="34" charset="-122"/>
                <a:cs typeface="Calibri" pitchFamily="34" charset="-120"/>
              </a:rPr>
              <a:t>Análisis conceptual</a:t>
            </a:r>
            <a:endParaRPr lang="en-US" sz="1500" dirty="0"/>
          </a:p>
        </p:txBody>
      </p:sp>
      <p:sp>
        <p:nvSpPr>
          <p:cNvPr id="16" name="Text 12"/>
          <p:cNvSpPr/>
          <p:nvPr/>
        </p:nvSpPr>
        <p:spPr>
          <a:xfrm>
            <a:off x="3666744" y="4325112"/>
            <a:ext cx="2304288" cy="960120"/>
          </a:xfrm>
          <a:prstGeom prst="rect">
            <a:avLst/>
          </a:prstGeom>
          <a:noFill/>
          <a:ln/>
        </p:spPr>
        <p:txBody>
          <a:bodyPr wrap="square" lIns="0" tIns="0" rIns="0" bIns="0" rtlCol="0" anchor="ctr"/>
          <a:lstStyle/>
          <a:p>
            <a:pPr algn="ctr" indent="0" marL="0">
              <a:lnSpc>
                <a:spcPts val="1550"/>
              </a:lnSpc>
              <a:buNone/>
            </a:pPr>
            <a:r>
              <a:rPr lang="en-US" sz="1180" dirty="0">
                <a:solidFill>
                  <a:srgbClr val="5A6472"/>
                </a:solidFill>
                <a:latin typeface="Calibri" pitchFamily="34" charset="0"/>
                <a:ea typeface="Calibri" pitchFamily="34" charset="-122"/>
                <a:cs typeface="Calibri" pitchFamily="34" charset="-120"/>
              </a:rPr>
              <a:t>Definición doctrinal de las cinco variables y de sus relaciones estructurales.</a:t>
            </a:r>
            <a:endParaRPr lang="en-US" sz="1180" dirty="0"/>
          </a:p>
        </p:txBody>
      </p:sp>
      <p:sp>
        <p:nvSpPr>
          <p:cNvPr id="17" name="Shape 13"/>
          <p:cNvSpPr/>
          <p:nvPr/>
        </p:nvSpPr>
        <p:spPr>
          <a:xfrm>
            <a:off x="6327648" y="2514600"/>
            <a:ext cx="2670048" cy="2880360"/>
          </a:xfrm>
          <a:prstGeom prst="roundRect">
            <a:avLst>
              <a:gd name="adj" fmla="val 2397"/>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8" name="Shape 14"/>
          <p:cNvSpPr/>
          <p:nvPr/>
        </p:nvSpPr>
        <p:spPr>
          <a:xfrm>
            <a:off x="7351776" y="2788920"/>
            <a:ext cx="621792" cy="621792"/>
          </a:xfrm>
          <a:prstGeom prst="ellipse">
            <a:avLst/>
          </a:prstGeom>
          <a:solidFill>
            <a:srgbClr val="0F6E56"/>
          </a:solidFill>
          <a:ln/>
        </p:spPr>
      </p:sp>
      <p:pic>
        <p:nvPicPr>
          <p:cNvPr id="19" name="Image 2" descr="preencoded.png">    </p:cNvPr>
          <p:cNvPicPr>
            <a:picLocks noChangeAspect="1"/>
          </p:cNvPicPr>
          <p:nvPr/>
        </p:nvPicPr>
        <p:blipFill>
          <a:blip r:embed="rId3"/>
          <a:stretch>
            <a:fillRect/>
          </a:stretch>
        </p:blipFill>
        <p:spPr>
          <a:xfrm>
            <a:off x="7501006" y="2938150"/>
            <a:ext cx="323332" cy="323332"/>
          </a:xfrm>
          <a:prstGeom prst="rect">
            <a:avLst/>
          </a:prstGeom>
        </p:spPr>
      </p:pic>
      <p:sp>
        <p:nvSpPr>
          <p:cNvPr id="20" name="Text 15"/>
          <p:cNvSpPr/>
          <p:nvPr/>
        </p:nvSpPr>
        <p:spPr>
          <a:xfrm>
            <a:off x="6464808" y="3520440"/>
            <a:ext cx="2395728" cy="256032"/>
          </a:xfrm>
          <a:prstGeom prst="rect">
            <a:avLst/>
          </a:prstGeom>
          <a:noFill/>
          <a:ln/>
        </p:spPr>
        <p:txBody>
          <a:bodyPr wrap="square" lIns="0" tIns="0" rIns="0" bIns="0" rtlCol="0" anchor="ctr"/>
          <a:lstStyle/>
          <a:p>
            <a:pPr algn="ctr" indent="0" marL="0">
              <a:buNone/>
            </a:pPr>
            <a:r>
              <a:rPr lang="en-US" sz="1100" b="1" spc="200" kern="0" dirty="0">
                <a:solidFill>
                  <a:srgbClr val="0F6E56"/>
                </a:solidFill>
                <a:latin typeface="Calibri" pitchFamily="34" charset="0"/>
                <a:ea typeface="Calibri" pitchFamily="34" charset="-122"/>
                <a:cs typeface="Calibri" pitchFamily="34" charset="-120"/>
              </a:rPr>
              <a:t>ETAPA 3</a:t>
            </a:r>
            <a:endParaRPr lang="en-US" sz="1100" dirty="0"/>
          </a:p>
        </p:txBody>
      </p:sp>
      <p:sp>
        <p:nvSpPr>
          <p:cNvPr id="21" name="Text 16"/>
          <p:cNvSpPr/>
          <p:nvPr/>
        </p:nvSpPr>
        <p:spPr>
          <a:xfrm>
            <a:off x="6464808" y="3794760"/>
            <a:ext cx="239572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0D2A42"/>
                </a:solidFill>
                <a:latin typeface="Calibri" pitchFamily="34" charset="0"/>
                <a:ea typeface="Calibri" pitchFamily="34" charset="-122"/>
                <a:cs typeface="Calibri" pitchFamily="34" charset="-120"/>
              </a:rPr>
              <a:t>Construcción de la fórmula</a:t>
            </a:r>
            <a:endParaRPr lang="en-US" sz="1500" dirty="0"/>
          </a:p>
        </p:txBody>
      </p:sp>
      <p:sp>
        <p:nvSpPr>
          <p:cNvPr id="22" name="Text 17"/>
          <p:cNvSpPr/>
          <p:nvPr/>
        </p:nvSpPr>
        <p:spPr>
          <a:xfrm>
            <a:off x="6510528" y="4325112"/>
            <a:ext cx="2304288" cy="960120"/>
          </a:xfrm>
          <a:prstGeom prst="rect">
            <a:avLst/>
          </a:prstGeom>
          <a:noFill/>
          <a:ln/>
        </p:spPr>
        <p:txBody>
          <a:bodyPr wrap="square" lIns="0" tIns="0" rIns="0" bIns="0" rtlCol="0" anchor="ctr"/>
          <a:lstStyle/>
          <a:p>
            <a:pPr algn="ctr" indent="0" marL="0">
              <a:lnSpc>
                <a:spcPts val="1550"/>
              </a:lnSpc>
              <a:buNone/>
            </a:pPr>
            <a:r>
              <a:rPr lang="en-US" sz="1180" dirty="0">
                <a:solidFill>
                  <a:srgbClr val="5A6472"/>
                </a:solidFill>
                <a:latin typeface="Calibri" pitchFamily="34" charset="0"/>
                <a:ea typeface="Calibri" pitchFamily="34" charset="-122"/>
                <a:cs typeface="Calibri" pitchFamily="34" charset="-120"/>
              </a:rPr>
              <a:t>Dos niveles, formas funcionales justificadas y normalización mediante n_eff (OCDE, 2008; PNUD, 2010).</a:t>
            </a:r>
            <a:endParaRPr lang="en-US" sz="1180" dirty="0"/>
          </a:p>
        </p:txBody>
      </p:sp>
      <p:sp>
        <p:nvSpPr>
          <p:cNvPr id="23" name="Shape 18"/>
          <p:cNvSpPr/>
          <p:nvPr/>
        </p:nvSpPr>
        <p:spPr>
          <a:xfrm>
            <a:off x="9171432" y="2514600"/>
            <a:ext cx="2670048" cy="2880360"/>
          </a:xfrm>
          <a:prstGeom prst="roundRect">
            <a:avLst>
              <a:gd name="adj" fmla="val 2397"/>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24" name="Shape 19"/>
          <p:cNvSpPr/>
          <p:nvPr/>
        </p:nvSpPr>
        <p:spPr>
          <a:xfrm>
            <a:off x="10195560" y="2788920"/>
            <a:ext cx="621792" cy="621792"/>
          </a:xfrm>
          <a:prstGeom prst="ellipse">
            <a:avLst/>
          </a:prstGeom>
          <a:solidFill>
            <a:srgbClr val="993C1D"/>
          </a:solidFill>
          <a:ln/>
        </p:spPr>
      </p:sp>
      <p:pic>
        <p:nvPicPr>
          <p:cNvPr id="25" name="Image 3" descr="preencoded.png">    </p:cNvPr>
          <p:cNvPicPr>
            <a:picLocks noChangeAspect="1"/>
          </p:cNvPicPr>
          <p:nvPr/>
        </p:nvPicPr>
        <p:blipFill>
          <a:blip r:embed="rId4"/>
          <a:stretch>
            <a:fillRect/>
          </a:stretch>
        </p:blipFill>
        <p:spPr>
          <a:xfrm>
            <a:off x="10344790" y="2938150"/>
            <a:ext cx="323332" cy="323332"/>
          </a:xfrm>
          <a:prstGeom prst="rect">
            <a:avLst/>
          </a:prstGeom>
        </p:spPr>
      </p:pic>
      <p:sp>
        <p:nvSpPr>
          <p:cNvPr id="26" name="Text 20"/>
          <p:cNvSpPr/>
          <p:nvPr/>
        </p:nvSpPr>
        <p:spPr>
          <a:xfrm>
            <a:off x="9308592" y="3520440"/>
            <a:ext cx="2395728" cy="256032"/>
          </a:xfrm>
          <a:prstGeom prst="rect">
            <a:avLst/>
          </a:prstGeom>
          <a:noFill/>
          <a:ln/>
        </p:spPr>
        <p:txBody>
          <a:bodyPr wrap="square" lIns="0" tIns="0" rIns="0" bIns="0" rtlCol="0" anchor="ctr"/>
          <a:lstStyle/>
          <a:p>
            <a:pPr algn="ctr" indent="0" marL="0">
              <a:buNone/>
            </a:pPr>
            <a:r>
              <a:rPr lang="en-US" sz="1100" b="1" spc="200" kern="0" dirty="0">
                <a:solidFill>
                  <a:srgbClr val="993C1D"/>
                </a:solidFill>
                <a:latin typeface="Calibri" pitchFamily="34" charset="0"/>
                <a:ea typeface="Calibri" pitchFamily="34" charset="-122"/>
                <a:cs typeface="Calibri" pitchFamily="34" charset="-120"/>
              </a:rPr>
              <a:t>ETAPA 4</a:t>
            </a:r>
            <a:endParaRPr lang="en-US" sz="1100" dirty="0"/>
          </a:p>
        </p:txBody>
      </p:sp>
      <p:sp>
        <p:nvSpPr>
          <p:cNvPr id="27" name="Text 21"/>
          <p:cNvSpPr/>
          <p:nvPr/>
        </p:nvSpPr>
        <p:spPr>
          <a:xfrm>
            <a:off x="9308592" y="3794760"/>
            <a:ext cx="239572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0D2A42"/>
                </a:solidFill>
                <a:latin typeface="Calibri" pitchFamily="34" charset="0"/>
                <a:ea typeface="Calibri" pitchFamily="34" charset="-122"/>
                <a:cs typeface="Calibri" pitchFamily="34" charset="-120"/>
              </a:rPr>
              <a:t>Ilustración: caso Colombia</a:t>
            </a:r>
            <a:endParaRPr lang="en-US" sz="1500" dirty="0"/>
          </a:p>
        </p:txBody>
      </p:sp>
      <p:sp>
        <p:nvSpPr>
          <p:cNvPr id="28" name="Text 22"/>
          <p:cNvSpPr/>
          <p:nvPr/>
        </p:nvSpPr>
        <p:spPr>
          <a:xfrm>
            <a:off x="9354312" y="4325112"/>
            <a:ext cx="2304288" cy="960120"/>
          </a:xfrm>
          <a:prstGeom prst="rect">
            <a:avLst/>
          </a:prstGeom>
          <a:noFill/>
          <a:ln/>
        </p:spPr>
        <p:txBody>
          <a:bodyPr wrap="square" lIns="0" tIns="0" rIns="0" bIns="0" rtlCol="0" anchor="ctr"/>
          <a:lstStyle/>
          <a:p>
            <a:pPr algn="ctr" indent="0" marL="0">
              <a:lnSpc>
                <a:spcPts val="1550"/>
              </a:lnSpc>
              <a:buNone/>
            </a:pPr>
            <a:r>
              <a:rPr lang="en-US" sz="1180" dirty="0">
                <a:solidFill>
                  <a:srgbClr val="5A6472"/>
                </a:solidFill>
                <a:latin typeface="Calibri" pitchFamily="34" charset="0"/>
                <a:ea typeface="Calibri" pitchFamily="34" charset="-122"/>
                <a:cs typeface="Calibri" pitchFamily="34" charset="-120"/>
              </a:rPr>
              <a:t>Datos de Vargas Suárez et al. (2021) y Cabuya-Padilla (2024); verificación de coherencia del resultado.</a:t>
            </a:r>
            <a:endParaRPr lang="en-US" sz="1180" dirty="0"/>
          </a:p>
        </p:txBody>
      </p:sp>
      <p:sp>
        <p:nvSpPr>
          <p:cNvPr id="29" name="Text 23"/>
          <p:cNvSpPr/>
          <p:nvPr/>
        </p:nvSpPr>
        <p:spPr>
          <a:xfrm>
            <a:off x="640080" y="5742432"/>
            <a:ext cx="10972800" cy="365760"/>
          </a:xfrm>
          <a:prstGeom prst="rect">
            <a:avLst/>
          </a:prstGeom>
          <a:noFill/>
          <a:ln/>
        </p:spPr>
        <p:txBody>
          <a:bodyPr wrap="square" lIns="0" tIns="0" rIns="0" bIns="0" rtlCol="0" anchor="ctr"/>
          <a:lstStyle/>
          <a:p>
            <a:pPr algn="ctr" indent="0" marL="0">
              <a:buNone/>
            </a:pPr>
            <a:r>
              <a:rPr lang="en-US" sz="1350" i="1" dirty="0">
                <a:solidFill>
                  <a:srgbClr val="5A6472"/>
                </a:solidFill>
                <a:latin typeface="Calibri" pitchFamily="34" charset="0"/>
                <a:ea typeface="Calibri" pitchFamily="34" charset="-122"/>
                <a:cs typeface="Calibri" pitchFamily="34" charset="-120"/>
              </a:rPr>
              <a:t>Modelo conceptual con parámetros calibrables — aplicable a cualquier potencia con intereses marítimos.</a:t>
            </a:r>
            <a:endParaRPr lang="en-US" sz="1350" dirty="0"/>
          </a:p>
        </p:txBody>
      </p:sp>
      <p:sp>
        <p:nvSpPr>
          <p:cNvPr id="30" name="Text 24"/>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A42"/>
        </a:solidFill>
      </p:bgPr>
    </p:bg>
    <p:spTree>
      <p:nvGrpSpPr>
        <p:cNvPr id="1" name=""/>
        <p:cNvGrpSpPr/>
        <p:nvPr/>
      </p:nvGrpSpPr>
      <p:grpSpPr>
        <a:xfrm>
          <a:off x="0" y="0"/>
          <a:ext cx="0" cy="0"/>
          <a:chOff x="0" y="0"/>
          <a:chExt cx="0" cy="0"/>
        </a:xfrm>
      </p:grpSpPr>
      <p:sp>
        <p:nvSpPr>
          <p:cNvPr id="2" name="Text 0"/>
          <p:cNvSpPr/>
          <p:nvPr/>
        </p:nvSpPr>
        <p:spPr>
          <a:xfrm>
            <a:off x="822960" y="502920"/>
            <a:ext cx="10515600" cy="292608"/>
          </a:xfrm>
          <a:prstGeom prst="rect">
            <a:avLst/>
          </a:prstGeom>
          <a:noFill/>
          <a:ln/>
        </p:spPr>
        <p:txBody>
          <a:bodyPr wrap="square" lIns="0" tIns="0" rIns="0" bIns="0" rtlCol="0" anchor="ctr"/>
          <a:lstStyle/>
          <a:p>
            <a:pPr indent="0" marL="0">
              <a:buNone/>
            </a:pPr>
            <a:r>
              <a:rPr lang="en-US" sz="1250" b="1" spc="300" kern="0" dirty="0">
                <a:solidFill>
                  <a:srgbClr val="9EC8E4"/>
                </a:solidFill>
                <a:latin typeface="Calibri" pitchFamily="34" charset="0"/>
                <a:ea typeface="Calibri" pitchFamily="34" charset="-122"/>
                <a:cs typeface="Calibri" pitchFamily="34" charset="-120"/>
              </a:rPr>
              <a:t>RESULTADO CENTRAL</a:t>
            </a:r>
            <a:endParaRPr lang="en-US" sz="1250" dirty="0"/>
          </a:p>
        </p:txBody>
      </p:sp>
      <p:sp>
        <p:nvSpPr>
          <p:cNvPr id="3" name="Text 1"/>
          <p:cNvSpPr/>
          <p:nvPr/>
        </p:nvSpPr>
        <p:spPr>
          <a:xfrm>
            <a:off x="822960" y="822960"/>
            <a:ext cx="10607040" cy="59436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La fórmula ampliada del poder marítimo</a:t>
            </a:r>
            <a:endParaRPr lang="en-US" sz="3100" dirty="0"/>
          </a:p>
        </p:txBody>
      </p:sp>
      <p:sp>
        <p:nvSpPr>
          <p:cNvPr id="4" name="Text 2"/>
          <p:cNvSpPr/>
          <p:nvPr/>
        </p:nvSpPr>
        <p:spPr>
          <a:xfrm>
            <a:off x="777240" y="1947672"/>
            <a:ext cx="224028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PM</a:t>
            </a:r>
            <a:pPr indent="0" marL="0">
              <a:buNone/>
            </a:pPr>
            <a:r>
              <a:rPr lang="en-US" sz="1700" b="1" baseline="-40000" dirty="0">
                <a:solidFill>
                  <a:srgbClr val="FFFFFF"/>
                </a:solidFill>
                <a:latin typeface="Cambria" pitchFamily="34" charset="0"/>
                <a:ea typeface="Cambria" pitchFamily="34" charset="-122"/>
                <a:cs typeface="Cambria" pitchFamily="34" charset="-120"/>
              </a:rPr>
              <a:t>norm</a:t>
            </a:r>
            <a:pPr indent="0" marL="0">
              <a:buNone/>
            </a:pPr>
            <a:r>
              <a:rPr lang="en-US" sz="2900" dirty="0">
                <a:solidFill>
                  <a:srgbClr val="7FA8C8"/>
                </a:solidFill>
                <a:latin typeface="Cambria" pitchFamily="34" charset="0"/>
                <a:ea typeface="Cambria" pitchFamily="34" charset="-122"/>
                <a:cs typeface="Cambria" pitchFamily="34" charset="-120"/>
              </a:rPr>
              <a:t> =</a:t>
            </a:r>
            <a:endParaRPr lang="en-US" sz="3300" dirty="0"/>
          </a:p>
        </p:txBody>
      </p:sp>
      <p:sp>
        <p:nvSpPr>
          <p:cNvPr id="5" name="Text 3"/>
          <p:cNvSpPr/>
          <p:nvPr/>
        </p:nvSpPr>
        <p:spPr>
          <a:xfrm>
            <a:off x="3017520" y="1965960"/>
            <a:ext cx="530352" cy="868680"/>
          </a:xfrm>
          <a:prstGeom prst="rect">
            <a:avLst/>
          </a:prstGeom>
          <a:noFill/>
          <a:ln/>
        </p:spPr>
        <p:txBody>
          <a:bodyPr wrap="square" lIns="0" tIns="0" rIns="0" bIns="0" rtlCol="0" anchor="ctr"/>
          <a:lstStyle/>
          <a:p>
            <a:pPr algn="ctr" indent="0" marL="0">
              <a:buNone/>
            </a:pPr>
            <a:r>
              <a:rPr lang="en-US" sz="3000" dirty="0">
                <a:solidFill>
                  <a:srgbClr val="7FA8C8"/>
                </a:solidFill>
                <a:latin typeface="Calibri" pitchFamily="34" charset="0"/>
                <a:ea typeface="Calibri" pitchFamily="34" charset="-122"/>
                <a:cs typeface="Calibri" pitchFamily="34" charset="-120"/>
              </a:rPr>
              <a:t>[ (</a:t>
            </a:r>
            <a:endParaRPr lang="en-US" sz="3000" dirty="0"/>
          </a:p>
        </p:txBody>
      </p:sp>
      <p:sp>
        <p:nvSpPr>
          <p:cNvPr id="6" name="Shape 4"/>
          <p:cNvSpPr/>
          <p:nvPr/>
        </p:nvSpPr>
        <p:spPr>
          <a:xfrm>
            <a:off x="3566160" y="1965960"/>
            <a:ext cx="1024128" cy="868680"/>
          </a:xfrm>
          <a:prstGeom prst="roundRect">
            <a:avLst>
              <a:gd name="adj" fmla="val 9474"/>
            </a:avLst>
          </a:prstGeom>
          <a:solidFill>
            <a:srgbClr val="EBF3FB"/>
          </a:solidFill>
          <a:ln w="25400">
            <a:solidFill>
              <a:srgbClr val="185FA5"/>
            </a:solidFill>
            <a:prstDash val="solid"/>
          </a:ln>
        </p:spPr>
      </p:sp>
      <p:sp>
        <p:nvSpPr>
          <p:cNvPr id="7" name="Text 5"/>
          <p:cNvSpPr/>
          <p:nvPr/>
        </p:nvSpPr>
        <p:spPr>
          <a:xfrm>
            <a:off x="3566160" y="1947672"/>
            <a:ext cx="1024128" cy="868680"/>
          </a:xfrm>
          <a:prstGeom prst="rect">
            <a:avLst/>
          </a:prstGeom>
          <a:noFill/>
          <a:ln/>
        </p:spPr>
        <p:txBody>
          <a:bodyPr wrap="square" lIns="0" tIns="0" rIns="0" bIns="0" rtlCol="0" anchor="ctr"/>
          <a:lstStyle/>
          <a:p>
            <a:pPr algn="ctr" indent="0" marL="0">
              <a:buNone/>
            </a:pPr>
            <a:r>
              <a:rPr lang="en-US" sz="2500" b="1" dirty="0">
                <a:solidFill>
                  <a:srgbClr val="0C447C"/>
                </a:solidFill>
                <a:latin typeface="Courier New" pitchFamily="34" charset="0"/>
                <a:ea typeface="Courier New" pitchFamily="34" charset="-122"/>
                <a:cs typeface="Courier New" pitchFamily="34" charset="-120"/>
              </a:rPr>
              <a:t>IM</a:t>
            </a:r>
            <a:endParaRPr lang="en-US" sz="2500" dirty="0"/>
          </a:p>
        </p:txBody>
      </p:sp>
      <p:sp>
        <p:nvSpPr>
          <p:cNvPr id="8" name="Text 6"/>
          <p:cNvSpPr/>
          <p:nvPr/>
        </p:nvSpPr>
        <p:spPr>
          <a:xfrm>
            <a:off x="4626864" y="1965960"/>
            <a:ext cx="384048" cy="868680"/>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5029200" y="1965960"/>
            <a:ext cx="1024128" cy="868680"/>
          </a:xfrm>
          <a:prstGeom prst="roundRect">
            <a:avLst>
              <a:gd name="adj" fmla="val 9474"/>
            </a:avLst>
          </a:prstGeom>
          <a:solidFill>
            <a:srgbClr val="EEEDFE"/>
          </a:solidFill>
          <a:ln w="25400">
            <a:solidFill>
              <a:srgbClr val="534AB7"/>
            </a:solidFill>
            <a:prstDash val="solid"/>
          </a:ln>
        </p:spPr>
      </p:sp>
      <p:sp>
        <p:nvSpPr>
          <p:cNvPr id="10" name="Text 8"/>
          <p:cNvSpPr/>
          <p:nvPr/>
        </p:nvSpPr>
        <p:spPr>
          <a:xfrm>
            <a:off x="5029200" y="1947672"/>
            <a:ext cx="1024128" cy="868680"/>
          </a:xfrm>
          <a:prstGeom prst="rect">
            <a:avLst/>
          </a:prstGeom>
          <a:noFill/>
          <a:ln/>
        </p:spPr>
        <p:txBody>
          <a:bodyPr wrap="square" lIns="0" tIns="0" rIns="0" bIns="0" rtlCol="0" anchor="ctr"/>
          <a:lstStyle/>
          <a:p>
            <a:pPr algn="ctr" indent="0" marL="0">
              <a:buNone/>
            </a:pPr>
            <a:r>
              <a:rPr lang="en-US" sz="2500" b="1" dirty="0">
                <a:solidFill>
                  <a:srgbClr val="3C3489"/>
                </a:solidFill>
                <a:latin typeface="Courier New" pitchFamily="34" charset="0"/>
                <a:ea typeface="Courier New" pitchFamily="34" charset="-122"/>
                <a:cs typeface="Courier New" pitchFamily="34" charset="-120"/>
              </a:rPr>
              <a:t>PN</a:t>
            </a:r>
            <a:endParaRPr lang="en-US" sz="2500" dirty="0"/>
          </a:p>
        </p:txBody>
      </p:sp>
      <p:sp>
        <p:nvSpPr>
          <p:cNvPr id="11" name="Text 9"/>
          <p:cNvSpPr/>
          <p:nvPr/>
        </p:nvSpPr>
        <p:spPr>
          <a:xfrm>
            <a:off x="6089904" y="1965960"/>
            <a:ext cx="237744" cy="868680"/>
          </a:xfrm>
          <a:prstGeom prst="rect">
            <a:avLst/>
          </a:prstGeom>
          <a:noFill/>
          <a:ln/>
        </p:spPr>
        <p:txBody>
          <a:bodyPr wrap="square" lIns="0" tIns="0" rIns="0" bIns="0" rtlCol="0" anchor="ctr"/>
          <a:lstStyle/>
          <a:p>
            <a:pPr algn="ctr" indent="0" marL="0">
              <a:buNone/>
            </a:pPr>
            <a:r>
              <a:rPr lang="en-US" sz="3000" dirty="0">
                <a:solidFill>
                  <a:srgbClr val="7FA8C8"/>
                </a:solidFill>
                <a:latin typeface="Calibri" pitchFamily="34" charset="0"/>
                <a:ea typeface="Calibri" pitchFamily="34" charset="-122"/>
                <a:cs typeface="Calibri" pitchFamily="34" charset="-120"/>
              </a:rPr>
              <a:t>)</a:t>
            </a:r>
            <a:endParaRPr lang="en-US" sz="3000" dirty="0"/>
          </a:p>
        </p:txBody>
      </p:sp>
      <p:sp>
        <p:nvSpPr>
          <p:cNvPr id="12" name="Text 10"/>
          <p:cNvSpPr/>
          <p:nvPr/>
        </p:nvSpPr>
        <p:spPr>
          <a:xfrm>
            <a:off x="6364224" y="1965960"/>
            <a:ext cx="384048" cy="868680"/>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6784848" y="1965960"/>
            <a:ext cx="1024128" cy="868680"/>
          </a:xfrm>
          <a:prstGeom prst="roundRect">
            <a:avLst>
              <a:gd name="adj" fmla="val 9474"/>
            </a:avLst>
          </a:prstGeom>
          <a:solidFill>
            <a:srgbClr val="E1F5EE"/>
          </a:solidFill>
          <a:ln w="25400">
            <a:solidFill>
              <a:srgbClr val="0F6E56"/>
            </a:solidFill>
            <a:prstDash val="solid"/>
          </a:ln>
        </p:spPr>
      </p:sp>
      <p:sp>
        <p:nvSpPr>
          <p:cNvPr id="14" name="Text 12"/>
          <p:cNvSpPr/>
          <p:nvPr/>
        </p:nvSpPr>
        <p:spPr>
          <a:xfrm>
            <a:off x="6784848" y="1947672"/>
            <a:ext cx="1024128" cy="868680"/>
          </a:xfrm>
          <a:prstGeom prst="rect">
            <a:avLst/>
          </a:prstGeom>
          <a:noFill/>
          <a:ln/>
        </p:spPr>
        <p:txBody>
          <a:bodyPr wrap="square" lIns="0" tIns="0" rIns="0" bIns="0" rtlCol="0" anchor="ctr"/>
          <a:lstStyle/>
          <a:p>
            <a:pPr algn="ctr" indent="0" marL="0">
              <a:buNone/>
            </a:pPr>
            <a:r>
              <a:rPr lang="en-US" sz="2500" b="1" dirty="0">
                <a:solidFill>
                  <a:srgbClr val="085041"/>
                </a:solidFill>
                <a:latin typeface="Courier New" pitchFamily="34" charset="0"/>
                <a:ea typeface="Courier New" pitchFamily="34" charset="-122"/>
                <a:cs typeface="Courier New" pitchFamily="34" charset="-120"/>
              </a:rPr>
              <a:t>VE</a:t>
            </a:r>
            <a:endParaRPr lang="en-US" sz="2500" dirty="0"/>
          </a:p>
        </p:txBody>
      </p:sp>
      <p:sp>
        <p:nvSpPr>
          <p:cNvPr id="15" name="Text 13"/>
          <p:cNvSpPr/>
          <p:nvPr/>
        </p:nvSpPr>
        <p:spPr>
          <a:xfrm>
            <a:off x="7845552" y="1965960"/>
            <a:ext cx="384048" cy="868680"/>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8266176" y="1965960"/>
            <a:ext cx="1133856" cy="868680"/>
          </a:xfrm>
          <a:prstGeom prst="roundRect">
            <a:avLst>
              <a:gd name="adj" fmla="val 9474"/>
            </a:avLst>
          </a:prstGeom>
          <a:solidFill>
            <a:srgbClr val="FEF4E4"/>
          </a:solidFill>
          <a:ln w="25400">
            <a:solidFill>
              <a:srgbClr val="854F0B"/>
            </a:solidFill>
            <a:prstDash val="solid"/>
          </a:ln>
        </p:spPr>
      </p:sp>
      <p:sp>
        <p:nvSpPr>
          <p:cNvPr id="17" name="Text 15"/>
          <p:cNvSpPr/>
          <p:nvPr/>
        </p:nvSpPr>
        <p:spPr>
          <a:xfrm>
            <a:off x="8266176" y="1947672"/>
            <a:ext cx="1133856" cy="868680"/>
          </a:xfrm>
          <a:prstGeom prst="rect">
            <a:avLst/>
          </a:prstGeom>
          <a:noFill/>
          <a:ln/>
        </p:spPr>
        <p:txBody>
          <a:bodyPr wrap="square" lIns="0" tIns="0" rIns="0" bIns="0" rtlCol="0" anchor="ctr"/>
          <a:lstStyle/>
          <a:p>
            <a:pPr algn="ctr" indent="0" marL="0">
              <a:buNone/>
            </a:pPr>
            <a:r>
              <a:rPr lang="en-US" sz="2500" b="1" dirty="0">
                <a:solidFill>
                  <a:srgbClr val="633806"/>
                </a:solidFill>
                <a:latin typeface="Courier New" pitchFamily="34" charset="0"/>
                <a:ea typeface="Courier New" pitchFamily="34" charset="-122"/>
                <a:cs typeface="Courier New" pitchFamily="34" charset="-120"/>
              </a:rPr>
              <a:t>SM</a:t>
            </a:r>
            <a:pPr algn="ctr" indent="0" marL="0">
              <a:buNone/>
            </a:pPr>
            <a:r>
              <a:rPr lang="en-US" sz="1550" b="1" baseline="30000" dirty="0">
                <a:solidFill>
                  <a:srgbClr val="633806"/>
                </a:solidFill>
                <a:latin typeface="Courier New" pitchFamily="34" charset="0"/>
                <a:ea typeface="Courier New" pitchFamily="34" charset="-122"/>
                <a:cs typeface="Courier New" pitchFamily="34" charset="-120"/>
              </a:rPr>
              <a:t>γ</a:t>
            </a:r>
            <a:endParaRPr lang="en-US" sz="2500" dirty="0"/>
          </a:p>
        </p:txBody>
      </p:sp>
      <p:sp>
        <p:nvSpPr>
          <p:cNvPr id="18" name="Text 16"/>
          <p:cNvSpPr/>
          <p:nvPr/>
        </p:nvSpPr>
        <p:spPr>
          <a:xfrm>
            <a:off x="9436608" y="1965960"/>
            <a:ext cx="384048" cy="868680"/>
          </a:xfrm>
          <a:prstGeom prst="rect">
            <a:avLst/>
          </a:prstGeom>
          <a:noFill/>
          <a:ln/>
        </p:spPr>
        <p:txBody>
          <a:bodyPr wrap="square" lIns="0" tIns="0" rIns="0" bIns="0" rtlCol="0" anchor="ctr"/>
          <a:lstStyle/>
          <a:p>
            <a:pPr algn="ctr" indent="0" marL="0">
              <a:buNone/>
            </a:pPr>
            <a:r>
              <a:rPr lang="en-US" sz="2400" dirty="0">
                <a:solidFill>
                  <a:srgbClr val="7FA8C8"/>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9857232" y="1965960"/>
            <a:ext cx="1133856" cy="868680"/>
          </a:xfrm>
          <a:prstGeom prst="roundRect">
            <a:avLst>
              <a:gd name="adj" fmla="val 9474"/>
            </a:avLst>
          </a:prstGeom>
          <a:solidFill>
            <a:srgbClr val="FAECE7"/>
          </a:solidFill>
          <a:ln w="25400">
            <a:solidFill>
              <a:srgbClr val="993C1D"/>
            </a:solidFill>
            <a:prstDash val="solid"/>
          </a:ln>
        </p:spPr>
      </p:sp>
      <p:sp>
        <p:nvSpPr>
          <p:cNvPr id="20" name="Text 18"/>
          <p:cNvSpPr/>
          <p:nvPr/>
        </p:nvSpPr>
        <p:spPr>
          <a:xfrm>
            <a:off x="9857232" y="1947672"/>
            <a:ext cx="1133856" cy="868680"/>
          </a:xfrm>
          <a:prstGeom prst="rect">
            <a:avLst/>
          </a:prstGeom>
          <a:noFill/>
          <a:ln/>
        </p:spPr>
        <p:txBody>
          <a:bodyPr wrap="square" lIns="0" tIns="0" rIns="0" bIns="0" rtlCol="0" anchor="ctr"/>
          <a:lstStyle/>
          <a:p>
            <a:pPr algn="ctr" indent="0" marL="0">
              <a:buNone/>
            </a:pPr>
            <a:r>
              <a:rPr lang="en-US" sz="2500" b="1" dirty="0">
                <a:solidFill>
                  <a:srgbClr val="712B13"/>
                </a:solidFill>
                <a:latin typeface="Courier New" pitchFamily="34" charset="0"/>
                <a:ea typeface="Courier New" pitchFamily="34" charset="-122"/>
                <a:cs typeface="Courier New" pitchFamily="34" charset="-120"/>
              </a:rPr>
              <a:t>CP</a:t>
            </a:r>
            <a:pPr algn="ctr" indent="0" marL="0">
              <a:buNone/>
            </a:pPr>
            <a:r>
              <a:rPr lang="en-US" sz="1550" b="1" baseline="30000" dirty="0">
                <a:solidFill>
                  <a:srgbClr val="712B13"/>
                </a:solidFill>
                <a:latin typeface="Courier New" pitchFamily="34" charset="0"/>
                <a:ea typeface="Courier New" pitchFamily="34" charset="-122"/>
                <a:cs typeface="Courier New" pitchFamily="34" charset="-120"/>
              </a:rPr>
              <a:t>α</a:t>
            </a:r>
            <a:endParaRPr lang="en-US" sz="2500" dirty="0"/>
          </a:p>
        </p:txBody>
      </p:sp>
      <p:sp>
        <p:nvSpPr>
          <p:cNvPr id="23" name="Text 21"/>
          <p:cNvSpPr/>
          <p:nvPr/>
        </p:nvSpPr>
        <p:spPr>
          <a:xfrm>
            <a:off x="11045952" y="1892808"/>
            <a:ext cx="1234440" cy="1014984"/>
          </a:xfrm>
          <a:prstGeom prst="rect">
            <a:avLst/>
          </a:prstGeom>
          <a:noFill/>
          <a:ln/>
        </p:spPr>
        <p:txBody>
          <a:bodyPr wrap="square" lIns="0" tIns="0" rIns="0" bIns="0" rtlCol="0" anchor="ctr"/>
          <a:lstStyle/>
          <a:p>
            <a:pPr indent="0" marL="0">
              <a:buNone/>
            </a:pPr>
            <a:r>
              <a:rPr lang="en-US" sz="3000" dirty="0">
                <a:solidFill>
                  <a:srgbClr val="7FA8C8"/>
                </a:solidFill>
                <a:latin typeface="Calibri" pitchFamily="34" charset="0"/>
                <a:ea typeface="Calibri" pitchFamily="34" charset="-122"/>
                <a:cs typeface="Calibri" pitchFamily="34" charset="-120"/>
              </a:rPr>
              <a:t>]</a:t>
            </a:r>
            <a:pPr indent="0" marL="0">
              <a:buNone/>
            </a:pPr>
            <a:r>
              <a:rPr lang="en-US" sz="1400" b="1" baseline="30000" dirty="0">
                <a:solidFill>
                  <a:srgbClr val="9EC8E4"/>
                </a:solidFill>
                <a:latin typeface="Courier New" pitchFamily="34" charset="0"/>
                <a:ea typeface="Courier New" pitchFamily="34" charset="-122"/>
                <a:cs typeface="Courier New" pitchFamily="34" charset="-120"/>
              </a:rPr>
              <a:t> 1/nₑff</a:t>
            </a:r>
            <a:endParaRPr lang="en-US" sz="3000" dirty="0"/>
          </a:p>
        </p:txBody>
      </p:sp>
      <p:sp>
        <p:nvSpPr>
          <p:cNvPr id="24" name="Text 22"/>
          <p:cNvSpPr/>
          <p:nvPr/>
        </p:nvSpPr>
        <p:spPr>
          <a:xfrm>
            <a:off x="822960" y="3035808"/>
            <a:ext cx="10515600" cy="320040"/>
          </a:xfrm>
          <a:prstGeom prst="rect">
            <a:avLst/>
          </a:prstGeom>
          <a:noFill/>
          <a:ln/>
        </p:spPr>
        <p:txBody>
          <a:bodyPr wrap="square" lIns="0" tIns="0" rIns="0" bIns="0" rtlCol="0" anchor="ctr"/>
          <a:lstStyle/>
          <a:p>
            <a:pPr algn="ctr" indent="0" marL="0">
              <a:buNone/>
            </a:pPr>
            <a:r>
              <a:rPr lang="en-US" sz="1400" dirty="0">
                <a:solidFill>
                  <a:srgbClr val="9EC8E4"/>
                </a:solidFill>
                <a:latin typeface="Courier New" pitchFamily="34" charset="0"/>
                <a:ea typeface="Courier New" pitchFamily="34" charset="-122"/>
                <a:cs typeface="Courier New" pitchFamily="34" charset="-120"/>
              </a:rPr>
              <a:t>n_eff = 2 + γ + α   →   PM_norm ∈ (0, 1], interpretable en una escala de cinco niveles</a:t>
            </a:r>
            <a:endParaRPr lang="en-US" sz="1400" dirty="0"/>
          </a:p>
        </p:txBody>
      </p:sp>
      <p:sp>
        <p:nvSpPr>
          <p:cNvPr id="25" name="Shape 23"/>
          <p:cNvSpPr/>
          <p:nvPr/>
        </p:nvSpPr>
        <p:spPr>
          <a:xfrm>
            <a:off x="822960" y="3703320"/>
            <a:ext cx="2103120" cy="1481328"/>
          </a:xfrm>
          <a:prstGeom prst="roundRect">
            <a:avLst>
              <a:gd name="adj" fmla="val 4321"/>
            </a:avLst>
          </a:prstGeom>
          <a:solidFill>
            <a:srgbClr val="EBF3FB"/>
          </a:solidFill>
          <a:ln w="15875">
            <a:solidFill>
              <a:srgbClr val="185FA5"/>
            </a:solidFill>
            <a:prstDash val="solid"/>
          </a:ln>
        </p:spPr>
      </p:sp>
      <p:sp>
        <p:nvSpPr>
          <p:cNvPr id="26" name="Text 24"/>
          <p:cNvSpPr/>
          <p:nvPr/>
        </p:nvSpPr>
        <p:spPr>
          <a:xfrm>
            <a:off x="969264" y="3813048"/>
            <a:ext cx="914400" cy="365760"/>
          </a:xfrm>
          <a:prstGeom prst="rect">
            <a:avLst/>
          </a:prstGeom>
          <a:noFill/>
          <a:ln/>
        </p:spPr>
        <p:txBody>
          <a:bodyPr wrap="square" lIns="0" tIns="0" rIns="0" bIns="0" rtlCol="0" anchor="ctr"/>
          <a:lstStyle/>
          <a:p>
            <a:pPr indent="0" marL="0">
              <a:buNone/>
            </a:pPr>
            <a:r>
              <a:rPr lang="en-US" sz="1800" b="1" dirty="0">
                <a:solidFill>
                  <a:srgbClr val="185FA5"/>
                </a:solidFill>
                <a:latin typeface="Courier New" pitchFamily="34" charset="0"/>
                <a:ea typeface="Courier New" pitchFamily="34" charset="-122"/>
                <a:cs typeface="Courier New" pitchFamily="34" charset="-120"/>
              </a:rPr>
              <a:t>IM</a:t>
            </a:r>
            <a:endParaRPr lang="en-US" sz="1800" dirty="0"/>
          </a:p>
        </p:txBody>
      </p:sp>
      <p:sp>
        <p:nvSpPr>
          <p:cNvPr id="27" name="Text 25"/>
          <p:cNvSpPr/>
          <p:nvPr/>
        </p:nvSpPr>
        <p:spPr>
          <a:xfrm>
            <a:off x="969264" y="4178808"/>
            <a:ext cx="1810512" cy="475488"/>
          </a:xfrm>
          <a:prstGeom prst="rect">
            <a:avLst/>
          </a:prstGeom>
          <a:noFill/>
          <a:ln/>
        </p:spPr>
        <p:txBody>
          <a:bodyPr wrap="square" lIns="0" tIns="0" rIns="0" bIns="0" rtlCol="0" anchor="ctr"/>
          <a:lstStyle/>
          <a:p>
            <a:pPr indent="0" marL="0">
              <a:lnSpc>
                <a:spcPts val="1500"/>
              </a:lnSpc>
              <a:buNone/>
            </a:pPr>
            <a:r>
              <a:rPr lang="en-US" sz="1250" b="1" dirty="0">
                <a:solidFill>
                  <a:srgbClr val="0D2A42"/>
                </a:solidFill>
                <a:latin typeface="Calibri" pitchFamily="34" charset="0"/>
                <a:ea typeface="Calibri" pitchFamily="34" charset="-122"/>
                <a:cs typeface="Calibri" pitchFamily="34" charset="-120"/>
              </a:rPr>
              <a:t>Intereses Marítimos</a:t>
            </a:r>
            <a:endParaRPr lang="en-US" sz="1250" dirty="0"/>
          </a:p>
        </p:txBody>
      </p:sp>
      <p:sp>
        <p:nvSpPr>
          <p:cNvPr id="28" name="Text 26"/>
          <p:cNvSpPr/>
          <p:nvPr/>
        </p:nvSpPr>
        <p:spPr>
          <a:xfrm>
            <a:off x="969264" y="4636008"/>
            <a:ext cx="1810512" cy="502920"/>
          </a:xfrm>
          <a:prstGeom prst="rect">
            <a:avLst/>
          </a:prstGeom>
          <a:noFill/>
          <a:ln/>
        </p:spPr>
        <p:txBody>
          <a:bodyPr wrap="square" lIns="0" tIns="0" rIns="0" bIns="0" rtlCol="0" anchor="ctr"/>
          <a:lstStyle/>
          <a:p>
            <a:pPr indent="0" marL="0">
              <a:lnSpc>
                <a:spcPts val="1300"/>
              </a:lnSpc>
              <a:buNone/>
            </a:pPr>
            <a:r>
              <a:rPr lang="en-US" sz="1050" dirty="0">
                <a:solidFill>
                  <a:srgbClr val="3A4450"/>
                </a:solidFill>
                <a:latin typeface="Calibri" pitchFamily="34" charset="0"/>
                <a:ea typeface="Calibri" pitchFamily="34" charset="-122"/>
                <a:cs typeface="Calibri" pitchFamily="34" charset="-120"/>
              </a:rPr>
              <a:t>Propósito: lo que el Estado busca en el mar</a:t>
            </a:r>
            <a:endParaRPr lang="en-US" sz="1050" dirty="0"/>
          </a:p>
        </p:txBody>
      </p:sp>
      <p:sp>
        <p:nvSpPr>
          <p:cNvPr id="29" name="Shape 27"/>
          <p:cNvSpPr/>
          <p:nvPr/>
        </p:nvSpPr>
        <p:spPr>
          <a:xfrm>
            <a:off x="3017520" y="3703320"/>
            <a:ext cx="2103120" cy="1481328"/>
          </a:xfrm>
          <a:prstGeom prst="roundRect">
            <a:avLst>
              <a:gd name="adj" fmla="val 4321"/>
            </a:avLst>
          </a:prstGeom>
          <a:solidFill>
            <a:srgbClr val="EEEDFE"/>
          </a:solidFill>
          <a:ln w="15875">
            <a:solidFill>
              <a:srgbClr val="534AB7"/>
            </a:solidFill>
            <a:prstDash val="solid"/>
          </a:ln>
        </p:spPr>
      </p:sp>
      <p:sp>
        <p:nvSpPr>
          <p:cNvPr id="30" name="Text 28"/>
          <p:cNvSpPr/>
          <p:nvPr/>
        </p:nvSpPr>
        <p:spPr>
          <a:xfrm>
            <a:off x="3163824" y="3813048"/>
            <a:ext cx="914400" cy="365760"/>
          </a:xfrm>
          <a:prstGeom prst="rect">
            <a:avLst/>
          </a:prstGeom>
          <a:noFill/>
          <a:ln/>
        </p:spPr>
        <p:txBody>
          <a:bodyPr wrap="square" lIns="0" tIns="0" rIns="0" bIns="0" rtlCol="0" anchor="ctr"/>
          <a:lstStyle/>
          <a:p>
            <a:pPr indent="0" marL="0">
              <a:buNone/>
            </a:pPr>
            <a:r>
              <a:rPr lang="en-US" sz="1800" b="1" dirty="0">
                <a:solidFill>
                  <a:srgbClr val="534AB7"/>
                </a:solidFill>
                <a:latin typeface="Courier New" pitchFamily="34" charset="0"/>
                <a:ea typeface="Courier New" pitchFamily="34" charset="-122"/>
                <a:cs typeface="Courier New" pitchFamily="34" charset="-120"/>
              </a:rPr>
              <a:t>PN</a:t>
            </a:r>
            <a:endParaRPr lang="en-US" sz="1800" dirty="0"/>
          </a:p>
        </p:txBody>
      </p:sp>
      <p:sp>
        <p:nvSpPr>
          <p:cNvPr id="31" name="Text 29"/>
          <p:cNvSpPr/>
          <p:nvPr/>
        </p:nvSpPr>
        <p:spPr>
          <a:xfrm>
            <a:off x="3163824" y="4178808"/>
            <a:ext cx="1810512" cy="475488"/>
          </a:xfrm>
          <a:prstGeom prst="rect">
            <a:avLst/>
          </a:prstGeom>
          <a:noFill/>
          <a:ln/>
        </p:spPr>
        <p:txBody>
          <a:bodyPr wrap="square" lIns="0" tIns="0" rIns="0" bIns="0" rtlCol="0" anchor="ctr"/>
          <a:lstStyle/>
          <a:p>
            <a:pPr indent="0" marL="0">
              <a:lnSpc>
                <a:spcPts val="1500"/>
              </a:lnSpc>
              <a:buNone/>
            </a:pPr>
            <a:r>
              <a:rPr lang="en-US" sz="1250" b="1" dirty="0">
                <a:solidFill>
                  <a:srgbClr val="0D2A42"/>
                </a:solidFill>
                <a:latin typeface="Calibri" pitchFamily="34" charset="0"/>
                <a:ea typeface="Calibri" pitchFamily="34" charset="-122"/>
                <a:cs typeface="Calibri" pitchFamily="34" charset="-120"/>
              </a:rPr>
              <a:t>Poder Naval</a:t>
            </a:r>
            <a:endParaRPr lang="en-US" sz="1250" dirty="0"/>
          </a:p>
        </p:txBody>
      </p:sp>
      <p:sp>
        <p:nvSpPr>
          <p:cNvPr id="32" name="Text 30"/>
          <p:cNvSpPr/>
          <p:nvPr/>
        </p:nvSpPr>
        <p:spPr>
          <a:xfrm>
            <a:off x="3163824" y="4636008"/>
            <a:ext cx="1810512" cy="502920"/>
          </a:xfrm>
          <a:prstGeom prst="rect">
            <a:avLst/>
          </a:prstGeom>
          <a:noFill/>
          <a:ln/>
        </p:spPr>
        <p:txBody>
          <a:bodyPr wrap="square" lIns="0" tIns="0" rIns="0" bIns="0" rtlCol="0" anchor="ctr"/>
          <a:lstStyle/>
          <a:p>
            <a:pPr indent="0" marL="0">
              <a:lnSpc>
                <a:spcPts val="1300"/>
              </a:lnSpc>
              <a:buNone/>
            </a:pPr>
            <a:r>
              <a:rPr lang="en-US" sz="1050" dirty="0">
                <a:solidFill>
                  <a:srgbClr val="3A4450"/>
                </a:solidFill>
                <a:latin typeface="Calibri" pitchFamily="34" charset="0"/>
                <a:ea typeface="Calibri" pitchFamily="34" charset="-122"/>
                <a:cs typeface="Calibri" pitchFamily="34" charset="-120"/>
              </a:rPr>
              <a:t>Medio: fuerza, posición y MDA</a:t>
            </a:r>
            <a:endParaRPr lang="en-US" sz="1050" dirty="0"/>
          </a:p>
        </p:txBody>
      </p:sp>
      <p:sp>
        <p:nvSpPr>
          <p:cNvPr id="33" name="Shape 31"/>
          <p:cNvSpPr/>
          <p:nvPr/>
        </p:nvSpPr>
        <p:spPr>
          <a:xfrm>
            <a:off x="5212080" y="3703320"/>
            <a:ext cx="2103120" cy="1481328"/>
          </a:xfrm>
          <a:prstGeom prst="roundRect">
            <a:avLst>
              <a:gd name="adj" fmla="val 4321"/>
            </a:avLst>
          </a:prstGeom>
          <a:solidFill>
            <a:srgbClr val="E1F5EE"/>
          </a:solidFill>
          <a:ln w="15875">
            <a:solidFill>
              <a:srgbClr val="0F6E56"/>
            </a:solidFill>
            <a:prstDash val="solid"/>
          </a:ln>
        </p:spPr>
      </p:sp>
      <p:sp>
        <p:nvSpPr>
          <p:cNvPr id="34" name="Text 32"/>
          <p:cNvSpPr/>
          <p:nvPr/>
        </p:nvSpPr>
        <p:spPr>
          <a:xfrm>
            <a:off x="5358384" y="3813048"/>
            <a:ext cx="914400" cy="365760"/>
          </a:xfrm>
          <a:prstGeom prst="rect">
            <a:avLst/>
          </a:prstGeom>
          <a:noFill/>
          <a:ln/>
        </p:spPr>
        <p:txBody>
          <a:bodyPr wrap="square" lIns="0" tIns="0" rIns="0" bIns="0" rtlCol="0" anchor="ctr"/>
          <a:lstStyle/>
          <a:p>
            <a:pPr indent="0" marL="0">
              <a:buNone/>
            </a:pPr>
            <a:r>
              <a:rPr lang="en-US" sz="1800" b="1" dirty="0">
                <a:solidFill>
                  <a:srgbClr val="0F6E56"/>
                </a:solidFill>
                <a:latin typeface="Courier New" pitchFamily="34" charset="0"/>
                <a:ea typeface="Courier New" pitchFamily="34" charset="-122"/>
                <a:cs typeface="Courier New" pitchFamily="34" charset="-120"/>
              </a:rPr>
              <a:t>VE</a:t>
            </a:r>
            <a:endParaRPr lang="en-US" sz="1800" dirty="0"/>
          </a:p>
        </p:txBody>
      </p:sp>
      <p:sp>
        <p:nvSpPr>
          <p:cNvPr id="35" name="Text 33"/>
          <p:cNvSpPr/>
          <p:nvPr/>
        </p:nvSpPr>
        <p:spPr>
          <a:xfrm>
            <a:off x="5358384" y="4178808"/>
            <a:ext cx="1810512" cy="475488"/>
          </a:xfrm>
          <a:prstGeom prst="rect">
            <a:avLst/>
          </a:prstGeom>
          <a:noFill/>
          <a:ln/>
        </p:spPr>
        <p:txBody>
          <a:bodyPr wrap="square" lIns="0" tIns="0" rIns="0" bIns="0" rtlCol="0" anchor="ctr"/>
          <a:lstStyle/>
          <a:p>
            <a:pPr indent="0" marL="0">
              <a:lnSpc>
                <a:spcPts val="1500"/>
              </a:lnSpc>
              <a:buNone/>
            </a:pPr>
            <a:r>
              <a:rPr lang="en-US" sz="1250" b="1" dirty="0">
                <a:solidFill>
                  <a:srgbClr val="0D2A42"/>
                </a:solidFill>
                <a:latin typeface="Calibri" pitchFamily="34" charset="0"/>
                <a:ea typeface="Calibri" pitchFamily="34" charset="-122"/>
                <a:cs typeface="Calibri" pitchFamily="34" charset="-120"/>
              </a:rPr>
              <a:t>Voluntad Estratégica</a:t>
            </a:r>
            <a:endParaRPr lang="en-US" sz="1250" dirty="0"/>
          </a:p>
        </p:txBody>
      </p:sp>
      <p:sp>
        <p:nvSpPr>
          <p:cNvPr id="36" name="Text 34"/>
          <p:cNvSpPr/>
          <p:nvPr/>
        </p:nvSpPr>
        <p:spPr>
          <a:xfrm>
            <a:off x="5358384" y="4636008"/>
            <a:ext cx="1810512" cy="502920"/>
          </a:xfrm>
          <a:prstGeom prst="rect">
            <a:avLst/>
          </a:prstGeom>
          <a:noFill/>
          <a:ln/>
        </p:spPr>
        <p:txBody>
          <a:bodyPr wrap="square" lIns="0" tIns="0" rIns="0" bIns="0" rtlCol="0" anchor="ctr"/>
          <a:lstStyle/>
          <a:p>
            <a:pPr indent="0" marL="0">
              <a:lnSpc>
                <a:spcPts val="1300"/>
              </a:lnSpc>
              <a:buNone/>
            </a:pPr>
            <a:r>
              <a:rPr lang="en-US" sz="1050" dirty="0">
                <a:solidFill>
                  <a:srgbClr val="3A4450"/>
                </a:solidFill>
                <a:latin typeface="Calibri" pitchFamily="34" charset="0"/>
                <a:ea typeface="Calibri" pitchFamily="34" charset="-122"/>
                <a:cs typeface="Calibri" pitchFamily="34" charset="-120"/>
              </a:rPr>
              <a:t>Multiplicador del sistema completo</a:t>
            </a:r>
            <a:endParaRPr lang="en-US" sz="1050" dirty="0"/>
          </a:p>
        </p:txBody>
      </p:sp>
      <p:sp>
        <p:nvSpPr>
          <p:cNvPr id="37" name="Shape 35"/>
          <p:cNvSpPr/>
          <p:nvPr/>
        </p:nvSpPr>
        <p:spPr>
          <a:xfrm>
            <a:off x="7406640" y="3703320"/>
            <a:ext cx="2103120" cy="1481328"/>
          </a:xfrm>
          <a:prstGeom prst="roundRect">
            <a:avLst>
              <a:gd name="adj" fmla="val 4321"/>
            </a:avLst>
          </a:prstGeom>
          <a:solidFill>
            <a:srgbClr val="FEF4E4"/>
          </a:solidFill>
          <a:ln w="15875">
            <a:solidFill>
              <a:srgbClr val="854F0B"/>
            </a:solidFill>
            <a:prstDash val="solid"/>
          </a:ln>
        </p:spPr>
      </p:sp>
      <p:sp>
        <p:nvSpPr>
          <p:cNvPr id="38" name="Text 36"/>
          <p:cNvSpPr/>
          <p:nvPr/>
        </p:nvSpPr>
        <p:spPr>
          <a:xfrm>
            <a:off x="7552944" y="3813048"/>
            <a:ext cx="914400" cy="365760"/>
          </a:xfrm>
          <a:prstGeom prst="rect">
            <a:avLst/>
          </a:prstGeom>
          <a:noFill/>
          <a:ln/>
        </p:spPr>
        <p:txBody>
          <a:bodyPr wrap="square" lIns="0" tIns="0" rIns="0" bIns="0" rtlCol="0" anchor="ctr"/>
          <a:lstStyle/>
          <a:p>
            <a:pPr indent="0" marL="0">
              <a:buNone/>
            </a:pPr>
            <a:r>
              <a:rPr lang="en-US" sz="1800" b="1" dirty="0">
                <a:solidFill>
                  <a:srgbClr val="854F0B"/>
                </a:solidFill>
                <a:latin typeface="Courier New" pitchFamily="34" charset="0"/>
                <a:ea typeface="Courier New" pitchFamily="34" charset="-122"/>
                <a:cs typeface="Courier New" pitchFamily="34" charset="-120"/>
              </a:rPr>
              <a:t>SM</a:t>
            </a:r>
            <a:endParaRPr lang="en-US" sz="1800" dirty="0"/>
          </a:p>
        </p:txBody>
      </p:sp>
      <p:sp>
        <p:nvSpPr>
          <p:cNvPr id="39" name="Text 37"/>
          <p:cNvSpPr/>
          <p:nvPr/>
        </p:nvSpPr>
        <p:spPr>
          <a:xfrm>
            <a:off x="7552944" y="4178808"/>
            <a:ext cx="1810512" cy="475488"/>
          </a:xfrm>
          <a:prstGeom prst="rect">
            <a:avLst/>
          </a:prstGeom>
          <a:noFill/>
          <a:ln/>
        </p:spPr>
        <p:txBody>
          <a:bodyPr wrap="square" lIns="0" tIns="0" rIns="0" bIns="0" rtlCol="0" anchor="ctr"/>
          <a:lstStyle/>
          <a:p>
            <a:pPr indent="0" marL="0">
              <a:lnSpc>
                <a:spcPts val="1500"/>
              </a:lnSpc>
              <a:buNone/>
            </a:pPr>
            <a:r>
              <a:rPr lang="en-US" sz="1250" b="1" dirty="0">
                <a:solidFill>
                  <a:srgbClr val="0D2A42"/>
                </a:solidFill>
                <a:latin typeface="Calibri" pitchFamily="34" charset="0"/>
                <a:ea typeface="Calibri" pitchFamily="34" charset="-122"/>
                <a:cs typeface="Calibri" pitchFamily="34" charset="-120"/>
              </a:rPr>
              <a:t>Seguridad Marítima</a:t>
            </a:r>
            <a:endParaRPr lang="en-US" sz="1250" dirty="0"/>
          </a:p>
        </p:txBody>
      </p:sp>
      <p:sp>
        <p:nvSpPr>
          <p:cNvPr id="40" name="Text 38"/>
          <p:cNvSpPr/>
          <p:nvPr/>
        </p:nvSpPr>
        <p:spPr>
          <a:xfrm>
            <a:off x="7552944" y="4636008"/>
            <a:ext cx="1810512" cy="502920"/>
          </a:xfrm>
          <a:prstGeom prst="rect">
            <a:avLst/>
          </a:prstGeom>
          <a:noFill/>
          <a:ln/>
        </p:spPr>
        <p:txBody>
          <a:bodyPr wrap="square" lIns="0" tIns="0" rIns="0" bIns="0" rtlCol="0" anchor="ctr"/>
          <a:lstStyle/>
          <a:p>
            <a:pPr indent="0" marL="0">
              <a:lnSpc>
                <a:spcPts val="1300"/>
              </a:lnSpc>
              <a:buNone/>
            </a:pPr>
            <a:r>
              <a:rPr lang="en-US" sz="1050" dirty="0">
                <a:solidFill>
                  <a:srgbClr val="3A4450"/>
                </a:solidFill>
                <a:latin typeface="Calibri" pitchFamily="34" charset="0"/>
                <a:ea typeface="Calibri" pitchFamily="34" charset="-122"/>
                <a:cs typeface="Calibri" pitchFamily="34" charset="-120"/>
              </a:rPr>
              <a:t>Condición del entorno (exponente γ)</a:t>
            </a:r>
            <a:endParaRPr lang="en-US" sz="1050" dirty="0"/>
          </a:p>
        </p:txBody>
      </p:sp>
      <p:sp>
        <p:nvSpPr>
          <p:cNvPr id="41" name="Shape 39"/>
          <p:cNvSpPr/>
          <p:nvPr/>
        </p:nvSpPr>
        <p:spPr>
          <a:xfrm>
            <a:off x="9601200" y="3703320"/>
            <a:ext cx="2103120" cy="1481328"/>
          </a:xfrm>
          <a:prstGeom prst="roundRect">
            <a:avLst>
              <a:gd name="adj" fmla="val 4321"/>
            </a:avLst>
          </a:prstGeom>
          <a:solidFill>
            <a:srgbClr val="FAECE7"/>
          </a:solidFill>
          <a:ln w="31750">
            <a:solidFill>
              <a:srgbClr val="993C1D"/>
            </a:solidFill>
            <a:prstDash val="solid"/>
          </a:ln>
        </p:spPr>
      </p:sp>
      <p:sp>
        <p:nvSpPr>
          <p:cNvPr id="42" name="Text 40"/>
          <p:cNvSpPr/>
          <p:nvPr/>
        </p:nvSpPr>
        <p:spPr>
          <a:xfrm>
            <a:off x="9747504" y="3813048"/>
            <a:ext cx="914400" cy="365760"/>
          </a:xfrm>
          <a:prstGeom prst="rect">
            <a:avLst/>
          </a:prstGeom>
          <a:noFill/>
          <a:ln/>
        </p:spPr>
        <p:txBody>
          <a:bodyPr wrap="square" lIns="0" tIns="0" rIns="0" bIns="0" rtlCol="0" anchor="ctr"/>
          <a:lstStyle/>
          <a:p>
            <a:pPr indent="0" marL="0">
              <a:buNone/>
            </a:pPr>
            <a:r>
              <a:rPr lang="en-US" sz="1800" b="1" dirty="0">
                <a:solidFill>
                  <a:srgbClr val="993C1D"/>
                </a:solidFill>
                <a:latin typeface="Courier New" pitchFamily="34" charset="0"/>
                <a:ea typeface="Courier New" pitchFamily="34" charset="-122"/>
                <a:cs typeface="Courier New" pitchFamily="34" charset="-120"/>
              </a:rPr>
              <a:t>CP</a:t>
            </a:r>
            <a:endParaRPr lang="en-US" sz="1800" dirty="0"/>
          </a:p>
        </p:txBody>
      </p:sp>
      <p:sp>
        <p:nvSpPr>
          <p:cNvPr id="43" name="Text 41"/>
          <p:cNvSpPr/>
          <p:nvPr/>
        </p:nvSpPr>
        <p:spPr>
          <a:xfrm>
            <a:off x="9747504" y="4178808"/>
            <a:ext cx="1810512" cy="475488"/>
          </a:xfrm>
          <a:prstGeom prst="rect">
            <a:avLst/>
          </a:prstGeom>
          <a:noFill/>
          <a:ln/>
        </p:spPr>
        <p:txBody>
          <a:bodyPr wrap="square" lIns="0" tIns="0" rIns="0" bIns="0" rtlCol="0" anchor="ctr"/>
          <a:lstStyle/>
          <a:p>
            <a:pPr indent="0" marL="0">
              <a:lnSpc>
                <a:spcPts val="1500"/>
              </a:lnSpc>
              <a:buNone/>
            </a:pPr>
            <a:r>
              <a:rPr lang="en-US" sz="1250" b="1" dirty="0">
                <a:solidFill>
                  <a:srgbClr val="0D2A42"/>
                </a:solidFill>
                <a:latin typeface="Calibri" pitchFamily="34" charset="0"/>
                <a:ea typeface="Calibri" pitchFamily="34" charset="-122"/>
                <a:cs typeface="Calibri" pitchFamily="34" charset="-120"/>
              </a:rPr>
              <a:t>Ciberpoder</a:t>
            </a:r>
            <a:endParaRPr lang="en-US" sz="1250" dirty="0"/>
          </a:p>
        </p:txBody>
      </p:sp>
      <p:sp>
        <p:nvSpPr>
          <p:cNvPr id="44" name="Text 42"/>
          <p:cNvSpPr/>
          <p:nvPr/>
        </p:nvSpPr>
        <p:spPr>
          <a:xfrm>
            <a:off x="9747504" y="4636008"/>
            <a:ext cx="1810512" cy="502920"/>
          </a:xfrm>
          <a:prstGeom prst="rect">
            <a:avLst/>
          </a:prstGeom>
          <a:noFill/>
          <a:ln/>
        </p:spPr>
        <p:txBody>
          <a:bodyPr wrap="square" lIns="0" tIns="0" rIns="0" bIns="0" rtlCol="0" anchor="ctr"/>
          <a:lstStyle/>
          <a:p>
            <a:pPr indent="0" marL="0">
              <a:lnSpc>
                <a:spcPts val="1300"/>
              </a:lnSpc>
              <a:buNone/>
            </a:pPr>
            <a:r>
              <a:rPr lang="en-US" sz="1050" dirty="0">
                <a:solidFill>
                  <a:srgbClr val="3A4450"/>
                </a:solidFill>
                <a:latin typeface="Calibri" pitchFamily="34" charset="0"/>
                <a:ea typeface="Calibri" pitchFamily="34" charset="-122"/>
                <a:cs typeface="Calibri" pitchFamily="34" charset="-120"/>
              </a:rPr>
              <a:t>Variable estructural propuesta (exponente α)</a:t>
            </a:r>
            <a:endParaRPr lang="en-US" sz="1050" dirty="0"/>
          </a:p>
        </p:txBody>
      </p:sp>
      <p:sp>
        <p:nvSpPr>
          <p:cNvPr id="45" name="Text 43"/>
          <p:cNvSpPr/>
          <p:nvPr/>
        </p:nvSpPr>
        <p:spPr>
          <a:xfrm>
            <a:off x="822960" y="5623560"/>
            <a:ext cx="10515600" cy="320040"/>
          </a:xfrm>
          <a:prstGeom prst="rect">
            <a:avLst/>
          </a:prstGeom>
          <a:noFill/>
          <a:ln/>
        </p:spPr>
        <p:txBody>
          <a:bodyPr wrap="square" lIns="0" tIns="0" rIns="0" bIns="0" rtlCol="0" anchor="ctr"/>
          <a:lstStyle/>
          <a:p>
            <a:pPr algn="ctr" indent="0" marL="0">
              <a:buNone/>
            </a:pPr>
            <a:r>
              <a:rPr lang="en-US" sz="1200" i="1" dirty="0">
                <a:solidFill>
                  <a:srgbClr val="7FA8C8"/>
                </a:solidFill>
                <a:latin typeface="Calibri" pitchFamily="34" charset="0"/>
                <a:ea typeface="Calibri" pitchFamily="34" charset="-122"/>
                <a:cs typeface="Calibri" pitchFamily="34" charset="-120"/>
              </a:rPr>
              <a:t>Preserva el núcleo clásico PM = IM × PN  ·  Normalización por media geométrica (OCDE, 2008; PNUD, 2010)</a:t>
            </a:r>
            <a:endParaRPr lang="en-US" sz="1200" dirty="0"/>
          </a:p>
        </p:txBody>
      </p:sp>
      <p:sp>
        <p:nvSpPr>
          <p:cNvPr id="46" name="Text 44"/>
          <p:cNvSpPr/>
          <p:nvPr/>
        </p:nvSpPr>
        <p:spPr>
          <a:xfrm>
            <a:off x="822960" y="5989320"/>
            <a:ext cx="10515600" cy="320040"/>
          </a:xfrm>
          <a:prstGeom prst="rect">
            <a:avLst/>
          </a:prstGeom>
          <a:noFill/>
          <a:ln/>
        </p:spPr>
        <p:txBody>
          <a:bodyPr wrap="square" lIns="0" tIns="0" rIns="0" bIns="0" rtlCol="0" anchor="ctr"/>
          <a:lstStyle/>
          <a:p>
            <a:pPr algn="ctr" indent="0" marL="0">
              <a:buNone/>
            </a:pPr>
            <a:r>
              <a:rPr lang="en-US" sz="1300" b="1" dirty="0">
                <a:solidFill>
                  <a:srgbClr val="9EC8E4"/>
                </a:solidFill>
                <a:latin typeface="Calibri" pitchFamily="34" charset="0"/>
                <a:ea typeface="Calibri" pitchFamily="34" charset="-122"/>
                <a:cs typeface="Calibri" pitchFamily="34" charset="-120"/>
              </a:rPr>
              <a:t>Anclaje en escala común — Colombia: PM_norm ≈ 0.43, misma escala que el índice 0.44 de Vargas Suárez et al. (2021); el aporte es descomponerlo, no reproducirlo</a:t>
            </a:r>
            <a:endParaRPr lang="en-US" sz="1300" dirty="0"/>
          </a:p>
        </p:txBody>
      </p:sp>
      <p:sp>
        <p:nvSpPr>
          <p:cNvPr id="47" name="Text 45"/>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RESULTADOS · NIVEL 2</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La desagregación de los cinco componentes</a:t>
            </a:r>
            <a:endParaRPr lang="en-US" sz="3100" dirty="0"/>
          </a:p>
        </p:txBody>
      </p:sp>
      <p:sp>
        <p:nvSpPr>
          <p:cNvPr id="4" name="Shape 2"/>
          <p:cNvSpPr/>
          <p:nvPr/>
        </p:nvSpPr>
        <p:spPr>
          <a:xfrm>
            <a:off x="640080" y="1755648"/>
            <a:ext cx="3584448" cy="1965960"/>
          </a:xfrm>
          <a:prstGeom prst="roundRect">
            <a:avLst>
              <a:gd name="adj" fmla="val 3256"/>
            </a:avLst>
          </a:prstGeom>
          <a:solidFill>
            <a:srgbClr val="EBF3FB"/>
          </a:solidFill>
          <a:ln w="12700">
            <a:solidFill>
              <a:srgbClr val="185FA5"/>
            </a:solidFill>
            <a:prstDash val="solid"/>
          </a:ln>
          <a:effectLst>
            <a:outerShdw sx="100000" sy="100000" kx="0" ky="0" algn="bl" rotWithShape="0" blurRad="88900" dist="25400" dir="5400000">
              <a:srgbClr val="A8B4C2">
                <a:alpha val="28000"/>
              </a:srgbClr>
            </a:outerShdw>
          </a:effectLst>
        </p:spPr>
      </p:sp>
      <p:sp>
        <p:nvSpPr>
          <p:cNvPr id="5" name="Text 3"/>
          <p:cNvSpPr/>
          <p:nvPr/>
        </p:nvSpPr>
        <p:spPr>
          <a:xfrm>
            <a:off x="841248" y="1874520"/>
            <a:ext cx="1097280" cy="411480"/>
          </a:xfrm>
          <a:prstGeom prst="rect">
            <a:avLst/>
          </a:prstGeom>
          <a:noFill/>
          <a:ln/>
        </p:spPr>
        <p:txBody>
          <a:bodyPr wrap="square" lIns="0" tIns="0" rIns="0" bIns="0" rtlCol="0" anchor="ctr"/>
          <a:lstStyle/>
          <a:p>
            <a:pPr indent="0" marL="0">
              <a:buNone/>
            </a:pPr>
            <a:r>
              <a:rPr lang="en-US" sz="2100" b="1" dirty="0">
                <a:solidFill>
                  <a:srgbClr val="185FA5"/>
                </a:solidFill>
                <a:latin typeface="Courier New" pitchFamily="34" charset="0"/>
                <a:ea typeface="Courier New" pitchFamily="34" charset="-122"/>
                <a:cs typeface="Courier New" pitchFamily="34" charset="-120"/>
              </a:rPr>
              <a:t>IM</a:t>
            </a:r>
            <a:endParaRPr lang="en-US" sz="2100" dirty="0"/>
          </a:p>
        </p:txBody>
      </p:sp>
      <p:sp>
        <p:nvSpPr>
          <p:cNvPr id="6" name="Text 4"/>
          <p:cNvSpPr/>
          <p:nvPr/>
        </p:nvSpPr>
        <p:spPr>
          <a:xfrm>
            <a:off x="841248" y="2304288"/>
            <a:ext cx="3182112" cy="329184"/>
          </a:xfrm>
          <a:prstGeom prst="rect">
            <a:avLst/>
          </a:prstGeom>
          <a:noFill/>
          <a:ln/>
        </p:spPr>
        <p:txBody>
          <a:bodyPr wrap="square" lIns="0" tIns="0" rIns="0" bIns="0" rtlCol="0" anchor="ctr"/>
          <a:lstStyle/>
          <a:p>
            <a:pPr indent="0" marL="0">
              <a:buNone/>
            </a:pPr>
            <a:r>
              <a:rPr lang="en-US" sz="1250" b="1" dirty="0">
                <a:solidFill>
                  <a:srgbClr val="0D2A42"/>
                </a:solidFill>
                <a:latin typeface="Courier New" pitchFamily="34" charset="0"/>
                <a:ea typeface="Courier New" pitchFamily="34" charset="-122"/>
                <a:cs typeface="Courier New" pitchFamily="34" charset="-120"/>
              </a:rPr>
              <a:t>IM = Σ wᵢ · IMᵢ</a:t>
            </a:r>
            <a:endParaRPr lang="en-US" sz="1250" dirty="0"/>
          </a:p>
        </p:txBody>
      </p:sp>
      <p:sp>
        <p:nvSpPr>
          <p:cNvPr id="7" name="Text 5"/>
          <p:cNvSpPr/>
          <p:nvPr/>
        </p:nvSpPr>
        <p:spPr>
          <a:xfrm>
            <a:off x="841248" y="2688336"/>
            <a:ext cx="3182112" cy="914400"/>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Sub-índice ponderado de los intereses marítimos nacionales. Colombia: n = 13 (ARC, 2020).</a:t>
            </a:r>
            <a:endParaRPr lang="en-US" sz="1200" dirty="0"/>
          </a:p>
        </p:txBody>
      </p:sp>
      <p:sp>
        <p:nvSpPr>
          <p:cNvPr id="8" name="Shape 6"/>
          <p:cNvSpPr/>
          <p:nvPr/>
        </p:nvSpPr>
        <p:spPr>
          <a:xfrm>
            <a:off x="4343400" y="1755648"/>
            <a:ext cx="3584448" cy="1965960"/>
          </a:xfrm>
          <a:prstGeom prst="roundRect">
            <a:avLst>
              <a:gd name="adj" fmla="val 3256"/>
            </a:avLst>
          </a:prstGeom>
          <a:solidFill>
            <a:srgbClr val="EEEDFE"/>
          </a:solidFill>
          <a:ln w="12700">
            <a:solidFill>
              <a:srgbClr val="534AB7"/>
            </a:solidFill>
            <a:prstDash val="solid"/>
          </a:ln>
          <a:effectLst>
            <a:outerShdw sx="100000" sy="100000" kx="0" ky="0" algn="bl" rotWithShape="0" blurRad="88900" dist="25400" dir="5400000">
              <a:srgbClr val="A8B4C2">
                <a:alpha val="28000"/>
              </a:srgbClr>
            </a:outerShdw>
          </a:effectLst>
        </p:spPr>
      </p:sp>
      <p:sp>
        <p:nvSpPr>
          <p:cNvPr id="9" name="Text 7"/>
          <p:cNvSpPr/>
          <p:nvPr/>
        </p:nvSpPr>
        <p:spPr>
          <a:xfrm>
            <a:off x="4544568" y="1874520"/>
            <a:ext cx="1097280" cy="411480"/>
          </a:xfrm>
          <a:prstGeom prst="rect">
            <a:avLst/>
          </a:prstGeom>
          <a:noFill/>
          <a:ln/>
        </p:spPr>
        <p:txBody>
          <a:bodyPr wrap="square" lIns="0" tIns="0" rIns="0" bIns="0" rtlCol="0" anchor="ctr"/>
          <a:lstStyle/>
          <a:p>
            <a:pPr indent="0" marL="0">
              <a:buNone/>
            </a:pPr>
            <a:r>
              <a:rPr lang="en-US" sz="2100" b="1" dirty="0">
                <a:solidFill>
                  <a:srgbClr val="534AB7"/>
                </a:solidFill>
                <a:latin typeface="Courier New" pitchFamily="34" charset="0"/>
                <a:ea typeface="Courier New" pitchFamily="34" charset="-122"/>
                <a:cs typeface="Courier New" pitchFamily="34" charset="-120"/>
              </a:rPr>
              <a:t>PN</a:t>
            </a:r>
            <a:endParaRPr lang="en-US" sz="2100" dirty="0"/>
          </a:p>
        </p:txBody>
      </p:sp>
      <p:sp>
        <p:nvSpPr>
          <p:cNvPr id="10" name="Text 8"/>
          <p:cNvSpPr/>
          <p:nvPr/>
        </p:nvSpPr>
        <p:spPr>
          <a:xfrm>
            <a:off x="4544568" y="2304288"/>
            <a:ext cx="3182112" cy="329184"/>
          </a:xfrm>
          <a:prstGeom prst="rect">
            <a:avLst/>
          </a:prstGeom>
          <a:noFill/>
          <a:ln/>
        </p:spPr>
        <p:txBody>
          <a:bodyPr wrap="square" lIns="0" tIns="0" rIns="0" bIns="0" rtlCol="0" anchor="ctr"/>
          <a:lstStyle/>
          <a:p>
            <a:pPr indent="0" marL="0">
              <a:buNone/>
            </a:pPr>
            <a:r>
              <a:rPr lang="en-US" sz="1250" b="1" dirty="0">
                <a:solidFill>
                  <a:srgbClr val="0D2A42"/>
                </a:solidFill>
                <a:latin typeface="Courier New" pitchFamily="34" charset="0"/>
                <a:ea typeface="Courier New" pitchFamily="34" charset="-122"/>
                <a:cs typeface="Courier New" pitchFamily="34" charset="-120"/>
              </a:rPr>
              <a:t>PN = F × P × MDAᵘ</a:t>
            </a:r>
            <a:endParaRPr lang="en-US" sz="1250" dirty="0"/>
          </a:p>
        </p:txBody>
      </p:sp>
      <p:sp>
        <p:nvSpPr>
          <p:cNvPr id="11" name="Text 9"/>
          <p:cNvSpPr/>
          <p:nvPr/>
        </p:nvSpPr>
        <p:spPr>
          <a:xfrm>
            <a:off x="4544568" y="2688336"/>
            <a:ext cx="3182112" cy="914400"/>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Fuerza (con ciberdefensa táctica), Posición y conciencia del dominio marítimo elevada a nivel estructural.</a:t>
            </a:r>
            <a:endParaRPr lang="en-US" sz="1200" dirty="0"/>
          </a:p>
        </p:txBody>
      </p:sp>
      <p:sp>
        <p:nvSpPr>
          <p:cNvPr id="12" name="Shape 10"/>
          <p:cNvSpPr/>
          <p:nvPr/>
        </p:nvSpPr>
        <p:spPr>
          <a:xfrm>
            <a:off x="8046720" y="1755648"/>
            <a:ext cx="3584448" cy="1965960"/>
          </a:xfrm>
          <a:prstGeom prst="roundRect">
            <a:avLst>
              <a:gd name="adj" fmla="val 3256"/>
            </a:avLst>
          </a:prstGeom>
          <a:solidFill>
            <a:srgbClr val="E1F5EE"/>
          </a:solidFill>
          <a:ln w="12700">
            <a:solidFill>
              <a:srgbClr val="0F6E56"/>
            </a:solidFill>
            <a:prstDash val="solid"/>
          </a:ln>
          <a:effectLst>
            <a:outerShdw sx="100000" sy="100000" kx="0" ky="0" algn="bl" rotWithShape="0" blurRad="88900" dist="25400" dir="5400000">
              <a:srgbClr val="A8B4C2">
                <a:alpha val="28000"/>
              </a:srgbClr>
            </a:outerShdw>
          </a:effectLst>
        </p:spPr>
      </p:sp>
      <p:sp>
        <p:nvSpPr>
          <p:cNvPr id="13" name="Text 11"/>
          <p:cNvSpPr/>
          <p:nvPr/>
        </p:nvSpPr>
        <p:spPr>
          <a:xfrm>
            <a:off x="8247888" y="1874520"/>
            <a:ext cx="1097280" cy="411480"/>
          </a:xfrm>
          <a:prstGeom prst="rect">
            <a:avLst/>
          </a:prstGeom>
          <a:noFill/>
          <a:ln/>
        </p:spPr>
        <p:txBody>
          <a:bodyPr wrap="square" lIns="0" tIns="0" rIns="0" bIns="0" rtlCol="0" anchor="ctr"/>
          <a:lstStyle/>
          <a:p>
            <a:pPr indent="0" marL="0">
              <a:buNone/>
            </a:pPr>
            <a:r>
              <a:rPr lang="en-US" sz="2100" b="1" dirty="0">
                <a:solidFill>
                  <a:srgbClr val="0F6E56"/>
                </a:solidFill>
                <a:latin typeface="Courier New" pitchFamily="34" charset="0"/>
                <a:ea typeface="Courier New" pitchFamily="34" charset="-122"/>
                <a:cs typeface="Courier New" pitchFamily="34" charset="-120"/>
              </a:rPr>
              <a:t>VE</a:t>
            </a:r>
            <a:endParaRPr lang="en-US" sz="2100" dirty="0"/>
          </a:p>
        </p:txBody>
      </p:sp>
      <p:sp>
        <p:nvSpPr>
          <p:cNvPr id="14" name="Text 12"/>
          <p:cNvSpPr/>
          <p:nvPr/>
        </p:nvSpPr>
        <p:spPr>
          <a:xfrm>
            <a:off x="8247888" y="2304288"/>
            <a:ext cx="3182112" cy="329184"/>
          </a:xfrm>
          <a:prstGeom prst="rect">
            <a:avLst/>
          </a:prstGeom>
          <a:noFill/>
          <a:ln/>
        </p:spPr>
        <p:txBody>
          <a:bodyPr wrap="square" lIns="0" tIns="0" rIns="0" bIns="0" rtlCol="0" anchor="ctr"/>
          <a:lstStyle/>
          <a:p>
            <a:pPr indent="0" marL="0">
              <a:buNone/>
            </a:pPr>
            <a:r>
              <a:rPr lang="en-US" sz="1250" b="1" dirty="0">
                <a:solidFill>
                  <a:srgbClr val="0D2A42"/>
                </a:solidFill>
                <a:latin typeface="Courier New" pitchFamily="34" charset="0"/>
                <a:ea typeface="Courier New" pitchFamily="34" charset="-122"/>
                <a:cs typeface="Courier New" pitchFamily="34" charset="-120"/>
              </a:rPr>
              <a:t>VE = (VPʷ¹·VIʷ²·VSʷ³)^(1/Σw)</a:t>
            </a:r>
            <a:endParaRPr lang="en-US" sz="1250" dirty="0"/>
          </a:p>
        </p:txBody>
      </p:sp>
      <p:sp>
        <p:nvSpPr>
          <p:cNvPr id="15" name="Text 13"/>
          <p:cNvSpPr/>
          <p:nvPr/>
        </p:nvSpPr>
        <p:spPr>
          <a:xfrm>
            <a:off x="8247888" y="2688336"/>
            <a:ext cx="3182112" cy="914400"/>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Voluntad Política, Institucional y Social — media geométrica: ninguna compensa la ausencia de otra.</a:t>
            </a:r>
            <a:endParaRPr lang="en-US" sz="1200" dirty="0"/>
          </a:p>
        </p:txBody>
      </p:sp>
      <p:sp>
        <p:nvSpPr>
          <p:cNvPr id="16" name="Shape 14"/>
          <p:cNvSpPr/>
          <p:nvPr/>
        </p:nvSpPr>
        <p:spPr>
          <a:xfrm>
            <a:off x="640080" y="3931920"/>
            <a:ext cx="5431536" cy="1965960"/>
          </a:xfrm>
          <a:prstGeom prst="roundRect">
            <a:avLst>
              <a:gd name="adj" fmla="val 3256"/>
            </a:avLst>
          </a:prstGeom>
          <a:solidFill>
            <a:srgbClr val="FEF4E4"/>
          </a:solidFill>
          <a:ln w="12700">
            <a:solidFill>
              <a:srgbClr val="854F0B"/>
            </a:solidFill>
            <a:prstDash val="solid"/>
          </a:ln>
          <a:effectLst>
            <a:outerShdw sx="100000" sy="100000" kx="0" ky="0" algn="bl" rotWithShape="0" blurRad="88900" dist="25400" dir="5400000">
              <a:srgbClr val="A8B4C2">
                <a:alpha val="28000"/>
              </a:srgbClr>
            </a:outerShdw>
          </a:effectLst>
        </p:spPr>
      </p:sp>
      <p:sp>
        <p:nvSpPr>
          <p:cNvPr id="17" name="Text 15"/>
          <p:cNvSpPr/>
          <p:nvPr/>
        </p:nvSpPr>
        <p:spPr>
          <a:xfrm>
            <a:off x="841248" y="4050792"/>
            <a:ext cx="1097280" cy="411480"/>
          </a:xfrm>
          <a:prstGeom prst="rect">
            <a:avLst/>
          </a:prstGeom>
          <a:noFill/>
          <a:ln/>
        </p:spPr>
        <p:txBody>
          <a:bodyPr wrap="square" lIns="0" tIns="0" rIns="0" bIns="0" rtlCol="0" anchor="ctr"/>
          <a:lstStyle/>
          <a:p>
            <a:pPr indent="0" marL="0">
              <a:buNone/>
            </a:pPr>
            <a:r>
              <a:rPr lang="en-US" sz="2100" b="1" dirty="0">
                <a:solidFill>
                  <a:srgbClr val="854F0B"/>
                </a:solidFill>
                <a:latin typeface="Courier New" pitchFamily="34" charset="0"/>
                <a:ea typeface="Courier New" pitchFamily="34" charset="-122"/>
                <a:cs typeface="Courier New" pitchFamily="34" charset="-120"/>
              </a:rPr>
              <a:t>SM</a:t>
            </a:r>
            <a:endParaRPr lang="en-US" sz="2100" dirty="0"/>
          </a:p>
        </p:txBody>
      </p:sp>
      <p:sp>
        <p:nvSpPr>
          <p:cNvPr id="18" name="Text 16"/>
          <p:cNvSpPr/>
          <p:nvPr/>
        </p:nvSpPr>
        <p:spPr>
          <a:xfrm>
            <a:off x="841248" y="4480560"/>
            <a:ext cx="5029200" cy="329184"/>
          </a:xfrm>
          <a:prstGeom prst="rect">
            <a:avLst/>
          </a:prstGeom>
          <a:noFill/>
          <a:ln/>
        </p:spPr>
        <p:txBody>
          <a:bodyPr wrap="square" lIns="0" tIns="0" rIns="0" bIns="0" rtlCol="0" anchor="ctr"/>
          <a:lstStyle/>
          <a:p>
            <a:pPr indent="0" marL="0">
              <a:buNone/>
            </a:pPr>
            <a:r>
              <a:rPr lang="en-US" sz="1250" b="1" dirty="0">
                <a:solidFill>
                  <a:srgbClr val="0D2A42"/>
                </a:solidFill>
                <a:latin typeface="Courier New" pitchFamily="34" charset="0"/>
                <a:ea typeface="Courier New" pitchFamily="34" charset="-122"/>
                <a:cs typeface="Courier New" pitchFamily="34" charset="-120"/>
              </a:rPr>
              <a:t>SM = (CIᵃ¹·TEᵃ²·BCᵃ³)^(1/Σa)</a:t>
            </a:r>
            <a:endParaRPr lang="en-US" sz="1250" dirty="0"/>
          </a:p>
        </p:txBody>
      </p:sp>
      <p:sp>
        <p:nvSpPr>
          <p:cNvPr id="19" name="Text 17"/>
          <p:cNvSpPr/>
          <p:nvPr/>
        </p:nvSpPr>
        <p:spPr>
          <a:xfrm>
            <a:off x="841248" y="4864608"/>
            <a:ext cx="5029200" cy="91440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Conflictos interestatales y zona gris, Terrorismo y Crimen azul — condición del entorno, no capacidad interna.</a:t>
            </a:r>
            <a:endParaRPr lang="en-US" sz="1250" dirty="0"/>
          </a:p>
        </p:txBody>
      </p:sp>
      <p:sp>
        <p:nvSpPr>
          <p:cNvPr id="20" name="Shape 18"/>
          <p:cNvSpPr/>
          <p:nvPr/>
        </p:nvSpPr>
        <p:spPr>
          <a:xfrm>
            <a:off x="6190488" y="3931920"/>
            <a:ext cx="5431536" cy="1965960"/>
          </a:xfrm>
          <a:prstGeom prst="roundRect">
            <a:avLst>
              <a:gd name="adj" fmla="val 3256"/>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21" name="Text 19"/>
          <p:cNvSpPr/>
          <p:nvPr/>
        </p:nvSpPr>
        <p:spPr>
          <a:xfrm>
            <a:off x="6391656" y="4050792"/>
            <a:ext cx="1097280" cy="411480"/>
          </a:xfrm>
          <a:prstGeom prst="rect">
            <a:avLst/>
          </a:prstGeom>
          <a:noFill/>
          <a:ln/>
        </p:spPr>
        <p:txBody>
          <a:bodyPr wrap="square" lIns="0" tIns="0" rIns="0" bIns="0" rtlCol="0" anchor="ctr"/>
          <a:lstStyle/>
          <a:p>
            <a:pPr indent="0" marL="0">
              <a:buNone/>
            </a:pPr>
            <a:r>
              <a:rPr lang="en-US" sz="2100" b="1" dirty="0">
                <a:solidFill>
                  <a:srgbClr val="993C1D"/>
                </a:solidFill>
                <a:latin typeface="Courier New" pitchFamily="34" charset="0"/>
                <a:ea typeface="Courier New" pitchFamily="34" charset="-122"/>
                <a:cs typeface="Courier New" pitchFamily="34" charset="-120"/>
              </a:rPr>
              <a:t>CP</a:t>
            </a:r>
            <a:endParaRPr lang="en-US" sz="2100" dirty="0"/>
          </a:p>
        </p:txBody>
      </p:sp>
      <p:sp>
        <p:nvSpPr>
          <p:cNvPr id="22" name="Text 20"/>
          <p:cNvSpPr/>
          <p:nvPr/>
        </p:nvSpPr>
        <p:spPr>
          <a:xfrm>
            <a:off x="6391656" y="4480560"/>
            <a:ext cx="5029200" cy="329184"/>
          </a:xfrm>
          <a:prstGeom prst="rect">
            <a:avLst/>
          </a:prstGeom>
          <a:noFill/>
          <a:ln/>
        </p:spPr>
        <p:txBody>
          <a:bodyPr wrap="square" lIns="0" tIns="0" rIns="0" bIns="0" rtlCol="0" anchor="ctr"/>
          <a:lstStyle/>
          <a:p>
            <a:pPr indent="0" marL="0">
              <a:buNone/>
            </a:pPr>
            <a:r>
              <a:rPr lang="en-US" sz="1250" b="1" dirty="0">
                <a:solidFill>
                  <a:srgbClr val="0D2A42"/>
                </a:solidFill>
                <a:latin typeface="Courier New" pitchFamily="34" charset="0"/>
                <a:ea typeface="Courier New" pitchFamily="34" charset="-122"/>
                <a:cs typeface="Courier New" pitchFamily="34" charset="-120"/>
              </a:rPr>
              <a:t>CP = mín{1, (β₁CS+β₂CD+β₃CR)·(1+δ·CDb)}</a:t>
            </a:r>
            <a:endParaRPr lang="en-US" sz="1250" dirty="0"/>
          </a:p>
        </p:txBody>
      </p:sp>
      <p:sp>
        <p:nvSpPr>
          <p:cNvPr id="23" name="Text 21"/>
          <p:cNvSpPr/>
          <p:nvPr/>
        </p:nvSpPr>
        <p:spPr>
          <a:xfrm>
            <a:off x="6391656" y="4864608"/>
            <a:ext cx="5029200" cy="91440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Ciberseguridad, ciberdefensa y ciberresiliencia marítimas, amplificadas por la ciberdiplomacia.</a:t>
            </a:r>
            <a:endParaRPr lang="en-US" sz="1250" dirty="0"/>
          </a:p>
        </p:txBody>
      </p:sp>
      <p:sp>
        <p:nvSpPr>
          <p:cNvPr id="24" name="Text 22"/>
          <p:cNvSpPr/>
          <p:nvPr/>
        </p:nvSpPr>
        <p:spPr>
          <a:xfrm>
            <a:off x="640080" y="6108192"/>
            <a:ext cx="10972800" cy="347472"/>
          </a:xfrm>
          <a:prstGeom prst="rect">
            <a:avLst/>
          </a:prstGeom>
          <a:noFill/>
          <a:ln/>
        </p:spPr>
        <p:txBody>
          <a:bodyPr wrap="square" lIns="0" tIns="0" rIns="0" bIns="0" rtlCol="0" anchor="ctr"/>
          <a:lstStyle/>
          <a:p>
            <a:pPr algn="ctr" indent="0" marL="0">
              <a:buNone/>
            </a:pPr>
            <a:r>
              <a:rPr lang="en-US" sz="1300" i="1" dirty="0">
                <a:solidFill>
                  <a:srgbClr val="5A6472"/>
                </a:solidFill>
                <a:latin typeface="Calibri" pitchFamily="34" charset="0"/>
                <a:ea typeface="Calibri" pitchFamily="34" charset="-122"/>
                <a:cs typeface="Calibri" pitchFamily="34" charset="-120"/>
              </a:rPr>
              <a:t>El MDA se distribuye como factor habilitante (PN · SM · CP); la Conciencia Marítima — cultural-identitaria — es transversal a la VE.</a:t>
            </a:r>
            <a:endParaRPr lang="en-US" sz="1300" dirty="0"/>
          </a:p>
        </p:txBody>
      </p:sp>
      <p:sp>
        <p:nvSpPr>
          <p:cNvPr id="25" name="Text 23"/>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993C1D"/>
                </a:solidFill>
                <a:latin typeface="Calibri" pitchFamily="34" charset="0"/>
                <a:ea typeface="Calibri" pitchFamily="34" charset="-122"/>
                <a:cs typeface="Calibri" pitchFamily="34" charset="-120"/>
              </a:rPr>
              <a:t>RESULTADOS · EL APORTE CENTRAL</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El Ciberpoder, por dentro</a:t>
            </a:r>
            <a:endParaRPr lang="en-US" sz="3100" dirty="0"/>
          </a:p>
        </p:txBody>
      </p:sp>
      <p:sp>
        <p:nvSpPr>
          <p:cNvPr id="4" name="Shape 2"/>
          <p:cNvSpPr/>
          <p:nvPr/>
        </p:nvSpPr>
        <p:spPr>
          <a:xfrm>
            <a:off x="640080" y="1691640"/>
            <a:ext cx="6720840" cy="4297680"/>
          </a:xfrm>
          <a:prstGeom prst="roundRect">
            <a:avLst>
              <a:gd name="adj" fmla="val 1489"/>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5" name="Text 3"/>
          <p:cNvSpPr/>
          <p:nvPr/>
        </p:nvSpPr>
        <p:spPr>
          <a:xfrm>
            <a:off x="914400" y="1920240"/>
            <a:ext cx="6217920" cy="384048"/>
          </a:xfrm>
          <a:prstGeom prst="rect">
            <a:avLst/>
          </a:prstGeom>
          <a:noFill/>
          <a:ln/>
        </p:spPr>
        <p:txBody>
          <a:bodyPr wrap="square" lIns="0" tIns="0" rIns="0" bIns="0" rtlCol="0" anchor="ctr"/>
          <a:lstStyle/>
          <a:p>
            <a:pPr indent="0" marL="0">
              <a:buNone/>
            </a:pPr>
            <a:r>
              <a:rPr lang="en-US" sz="1550" b="1" dirty="0">
                <a:solidFill>
                  <a:srgbClr val="712B13"/>
                </a:solidFill>
                <a:latin typeface="Courier New" pitchFamily="34" charset="0"/>
                <a:ea typeface="Courier New" pitchFamily="34" charset="-122"/>
                <a:cs typeface="Courier New" pitchFamily="34" charset="-120"/>
              </a:rPr>
              <a:t>CP = mín{1, (β₁·CSₘ + β₂·CDₘ + β₃·CRₘ) · (1 + δ·CDb)}</a:t>
            </a:r>
            <a:endParaRPr lang="en-US" sz="1550" dirty="0"/>
          </a:p>
        </p:txBody>
      </p:sp>
      <p:sp>
        <p:nvSpPr>
          <p:cNvPr id="6" name="Text 4"/>
          <p:cNvSpPr/>
          <p:nvPr/>
        </p:nvSpPr>
        <p:spPr>
          <a:xfrm>
            <a:off x="914400" y="2304288"/>
            <a:ext cx="6217920" cy="292608"/>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El operador de saturación mín{1, ·} preserva CP ∈ (0,1] ante el efecto amplificador.</a:t>
            </a:r>
            <a:endParaRPr lang="en-US" sz="1150" dirty="0"/>
          </a:p>
        </p:txBody>
      </p:sp>
      <p:sp>
        <p:nvSpPr>
          <p:cNvPr id="7" name="Shape 5"/>
          <p:cNvSpPr/>
          <p:nvPr/>
        </p:nvSpPr>
        <p:spPr>
          <a:xfrm>
            <a:off x="914400" y="2743200"/>
            <a:ext cx="914400" cy="457200"/>
          </a:xfrm>
          <a:prstGeom prst="roundRect">
            <a:avLst>
              <a:gd name="adj" fmla="val 12000"/>
            </a:avLst>
          </a:prstGeom>
          <a:solidFill>
            <a:srgbClr val="993C1D"/>
          </a:solidFill>
          <a:ln/>
        </p:spPr>
      </p:sp>
      <p:sp>
        <p:nvSpPr>
          <p:cNvPr id="8" name="Text 6"/>
          <p:cNvSpPr/>
          <p:nvPr/>
        </p:nvSpPr>
        <p:spPr>
          <a:xfrm>
            <a:off x="914400" y="2734056"/>
            <a:ext cx="914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CSₘ</a:t>
            </a:r>
            <a:endParaRPr lang="en-US" sz="1350" dirty="0"/>
          </a:p>
        </p:txBody>
      </p:sp>
      <p:sp>
        <p:nvSpPr>
          <p:cNvPr id="9" name="Text 7"/>
          <p:cNvSpPr/>
          <p:nvPr/>
        </p:nvSpPr>
        <p:spPr>
          <a:xfrm>
            <a:off x="2011680" y="2670048"/>
            <a:ext cx="5120640" cy="777240"/>
          </a:xfrm>
          <a:prstGeom prst="rect">
            <a:avLst/>
          </a:prstGeom>
          <a:noFill/>
          <a:ln/>
        </p:spPr>
        <p:txBody>
          <a:bodyPr wrap="square" lIns="0" tIns="0" rIns="0" bIns="0" rtlCol="0" anchor="ctr"/>
          <a:lstStyle/>
          <a:p>
            <a:pPr indent="0" marL="0">
              <a:lnSpc>
                <a:spcPts val="1550"/>
              </a:lnSpc>
              <a:buNone/>
            </a:pPr>
            <a:r>
              <a:rPr lang="en-US" sz="1230" b="1" dirty="0">
                <a:solidFill>
                  <a:srgbClr val="0D2A42"/>
                </a:solidFill>
                <a:latin typeface="Calibri" pitchFamily="34" charset="0"/>
                <a:ea typeface="Calibri" pitchFamily="34" charset="-122"/>
                <a:cs typeface="Calibri" pitchFamily="34" charset="-120"/>
              </a:rPr>
              <a:t>Ciberseguridad marítima — </a:t>
            </a:r>
            <a:pPr indent="0" marL="0">
              <a:lnSpc>
                <a:spcPts val="1550"/>
              </a:lnSpc>
              <a:buNone/>
            </a:pPr>
            <a:r>
              <a:rPr lang="en-US" sz="1230" dirty="0">
                <a:solidFill>
                  <a:srgbClr val="1A1A1A"/>
                </a:solidFill>
                <a:latin typeface="Calibri" pitchFamily="34" charset="0"/>
                <a:ea typeface="Calibri" pitchFamily="34" charset="-122"/>
                <a:cs typeface="Calibri" pitchFamily="34" charset="-120"/>
              </a:rPr>
              <a:t>Protección de los activos digitales del dominio: AIS, ECDIS, GMDSS, redes C2, puertos.</a:t>
            </a:r>
            <a:endParaRPr lang="en-US" sz="1230" dirty="0"/>
          </a:p>
        </p:txBody>
      </p:sp>
      <p:sp>
        <p:nvSpPr>
          <p:cNvPr id="10" name="Shape 8"/>
          <p:cNvSpPr/>
          <p:nvPr/>
        </p:nvSpPr>
        <p:spPr>
          <a:xfrm>
            <a:off x="914400" y="3538728"/>
            <a:ext cx="914400" cy="457200"/>
          </a:xfrm>
          <a:prstGeom prst="roundRect">
            <a:avLst>
              <a:gd name="adj" fmla="val 12000"/>
            </a:avLst>
          </a:prstGeom>
          <a:solidFill>
            <a:srgbClr val="993C1D"/>
          </a:solidFill>
          <a:ln/>
        </p:spPr>
      </p:sp>
      <p:sp>
        <p:nvSpPr>
          <p:cNvPr id="11" name="Text 9"/>
          <p:cNvSpPr/>
          <p:nvPr/>
        </p:nvSpPr>
        <p:spPr>
          <a:xfrm>
            <a:off x="914400" y="3529584"/>
            <a:ext cx="914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CDₘ</a:t>
            </a:r>
            <a:endParaRPr lang="en-US" sz="1350" dirty="0"/>
          </a:p>
        </p:txBody>
      </p:sp>
      <p:sp>
        <p:nvSpPr>
          <p:cNvPr id="12" name="Text 10"/>
          <p:cNvSpPr/>
          <p:nvPr/>
        </p:nvSpPr>
        <p:spPr>
          <a:xfrm>
            <a:off x="2011680" y="3465576"/>
            <a:ext cx="5120640" cy="777240"/>
          </a:xfrm>
          <a:prstGeom prst="rect">
            <a:avLst/>
          </a:prstGeom>
          <a:noFill/>
          <a:ln/>
        </p:spPr>
        <p:txBody>
          <a:bodyPr wrap="square" lIns="0" tIns="0" rIns="0" bIns="0" rtlCol="0" anchor="ctr"/>
          <a:lstStyle/>
          <a:p>
            <a:pPr indent="0" marL="0">
              <a:lnSpc>
                <a:spcPts val="1550"/>
              </a:lnSpc>
              <a:buNone/>
            </a:pPr>
            <a:r>
              <a:rPr lang="en-US" sz="1230" b="1" dirty="0">
                <a:solidFill>
                  <a:srgbClr val="0D2A42"/>
                </a:solidFill>
                <a:latin typeface="Calibri" pitchFamily="34" charset="0"/>
                <a:ea typeface="Calibri" pitchFamily="34" charset="-122"/>
                <a:cs typeface="Calibri" pitchFamily="34" charset="-120"/>
              </a:rPr>
              <a:t>Ciberdefensa marítima — </a:t>
            </a:r>
            <a:pPr indent="0" marL="0">
              <a:lnSpc>
                <a:spcPts val="1550"/>
              </a:lnSpc>
              <a:buNone/>
            </a:pPr>
            <a:r>
              <a:rPr lang="en-US" sz="1230" dirty="0">
                <a:solidFill>
                  <a:srgbClr val="1A1A1A"/>
                </a:solidFill>
                <a:latin typeface="Calibri" pitchFamily="34" charset="0"/>
                <a:ea typeface="Calibri" pitchFamily="34" charset="-122"/>
                <a:cs typeface="Calibri" pitchFamily="34" charset="-120"/>
              </a:rPr>
              <a:t>Capacidad estratégica ante amenazas dirigidas — distinta de la CD táctica embarcada (en PN).</a:t>
            </a:r>
            <a:endParaRPr lang="en-US" sz="1230" dirty="0"/>
          </a:p>
        </p:txBody>
      </p:sp>
      <p:sp>
        <p:nvSpPr>
          <p:cNvPr id="13" name="Shape 11"/>
          <p:cNvSpPr/>
          <p:nvPr/>
        </p:nvSpPr>
        <p:spPr>
          <a:xfrm>
            <a:off x="914400" y="4334256"/>
            <a:ext cx="914400" cy="457200"/>
          </a:xfrm>
          <a:prstGeom prst="roundRect">
            <a:avLst>
              <a:gd name="adj" fmla="val 12000"/>
            </a:avLst>
          </a:prstGeom>
          <a:solidFill>
            <a:srgbClr val="993C1D"/>
          </a:solidFill>
          <a:ln/>
        </p:spPr>
      </p:sp>
      <p:sp>
        <p:nvSpPr>
          <p:cNvPr id="14" name="Text 12"/>
          <p:cNvSpPr/>
          <p:nvPr/>
        </p:nvSpPr>
        <p:spPr>
          <a:xfrm>
            <a:off x="914400" y="4325112"/>
            <a:ext cx="914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CRₘ</a:t>
            </a:r>
            <a:endParaRPr lang="en-US" sz="1350" dirty="0"/>
          </a:p>
        </p:txBody>
      </p:sp>
      <p:sp>
        <p:nvSpPr>
          <p:cNvPr id="15" name="Text 13"/>
          <p:cNvSpPr/>
          <p:nvPr/>
        </p:nvSpPr>
        <p:spPr>
          <a:xfrm>
            <a:off x="2011680" y="4261104"/>
            <a:ext cx="5120640" cy="777240"/>
          </a:xfrm>
          <a:prstGeom prst="rect">
            <a:avLst/>
          </a:prstGeom>
          <a:noFill/>
          <a:ln/>
        </p:spPr>
        <p:txBody>
          <a:bodyPr wrap="square" lIns="0" tIns="0" rIns="0" bIns="0" rtlCol="0" anchor="ctr"/>
          <a:lstStyle/>
          <a:p>
            <a:pPr indent="0" marL="0">
              <a:lnSpc>
                <a:spcPts val="1550"/>
              </a:lnSpc>
              <a:buNone/>
            </a:pPr>
            <a:r>
              <a:rPr lang="en-US" sz="1230" b="1" dirty="0">
                <a:solidFill>
                  <a:srgbClr val="0D2A42"/>
                </a:solidFill>
                <a:latin typeface="Calibri" pitchFamily="34" charset="0"/>
                <a:ea typeface="Calibri" pitchFamily="34" charset="-122"/>
                <a:cs typeface="Calibri" pitchFamily="34" charset="-120"/>
              </a:rPr>
              <a:t>Ciberresiliencia marítima — </a:t>
            </a:r>
            <a:pPr indent="0" marL="0">
              <a:lnSpc>
                <a:spcPts val="1550"/>
              </a:lnSpc>
              <a:buNone/>
            </a:pPr>
            <a:r>
              <a:rPr lang="en-US" sz="1230" dirty="0">
                <a:solidFill>
                  <a:srgbClr val="1A1A1A"/>
                </a:solidFill>
                <a:latin typeface="Calibri" pitchFamily="34" charset="0"/>
                <a:ea typeface="Calibri" pitchFamily="34" charset="-122"/>
                <a:cs typeface="Calibri" pitchFamily="34" charset="-120"/>
              </a:rPr>
              <a:t>Continuidad y recuperación: la lección de Maersk — el costo está en el tiempo de recuperación.</a:t>
            </a:r>
            <a:endParaRPr lang="en-US" sz="1230" dirty="0"/>
          </a:p>
        </p:txBody>
      </p:sp>
      <p:sp>
        <p:nvSpPr>
          <p:cNvPr id="16" name="Shape 14"/>
          <p:cNvSpPr/>
          <p:nvPr/>
        </p:nvSpPr>
        <p:spPr>
          <a:xfrm>
            <a:off x="914400" y="5129784"/>
            <a:ext cx="914400" cy="457200"/>
          </a:xfrm>
          <a:prstGeom prst="roundRect">
            <a:avLst>
              <a:gd name="adj" fmla="val 12000"/>
            </a:avLst>
          </a:prstGeom>
          <a:solidFill>
            <a:srgbClr val="993C1D"/>
          </a:solidFill>
          <a:ln/>
        </p:spPr>
      </p:sp>
      <p:sp>
        <p:nvSpPr>
          <p:cNvPr id="17" name="Text 15"/>
          <p:cNvSpPr/>
          <p:nvPr/>
        </p:nvSpPr>
        <p:spPr>
          <a:xfrm>
            <a:off x="914400" y="5120640"/>
            <a:ext cx="914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CDb</a:t>
            </a:r>
            <a:endParaRPr lang="en-US" sz="1350" dirty="0"/>
          </a:p>
        </p:txBody>
      </p:sp>
      <p:sp>
        <p:nvSpPr>
          <p:cNvPr id="18" name="Text 16"/>
          <p:cNvSpPr/>
          <p:nvPr/>
        </p:nvSpPr>
        <p:spPr>
          <a:xfrm>
            <a:off x="2011680" y="5056632"/>
            <a:ext cx="5120640" cy="777240"/>
          </a:xfrm>
          <a:prstGeom prst="rect">
            <a:avLst/>
          </a:prstGeom>
          <a:noFill/>
          <a:ln/>
        </p:spPr>
        <p:txBody>
          <a:bodyPr wrap="square" lIns="0" tIns="0" rIns="0" bIns="0" rtlCol="0" anchor="ctr"/>
          <a:lstStyle/>
          <a:p>
            <a:pPr indent="0" marL="0">
              <a:lnSpc>
                <a:spcPts val="1550"/>
              </a:lnSpc>
              <a:buNone/>
            </a:pPr>
            <a:r>
              <a:rPr lang="en-US" sz="1230" b="1" dirty="0">
                <a:solidFill>
                  <a:srgbClr val="0D2A42"/>
                </a:solidFill>
                <a:latin typeface="Calibri" pitchFamily="34" charset="0"/>
                <a:ea typeface="Calibri" pitchFamily="34" charset="-122"/>
                <a:cs typeface="Calibri" pitchFamily="34" charset="-120"/>
              </a:rPr>
              <a:t>Ciberdiplomacia — </a:t>
            </a:r>
            <a:pPr indent="0" marL="0">
              <a:lnSpc>
                <a:spcPts val="1550"/>
              </a:lnSpc>
              <a:buNone/>
            </a:pPr>
            <a:r>
              <a:rPr lang="en-US" sz="1230" dirty="0">
                <a:solidFill>
                  <a:srgbClr val="1A1A1A"/>
                </a:solidFill>
                <a:latin typeface="Calibri" pitchFamily="34" charset="0"/>
                <a:ea typeface="Calibri" pitchFamily="34" charset="-122"/>
                <a:cs typeface="Calibri" pitchFamily="34" charset="-120"/>
              </a:rPr>
              <a:t>Amplificador (1+δ·CDb): proyección internacional del CP técnico; doble rol con la VP.</a:t>
            </a:r>
            <a:endParaRPr lang="en-US" sz="1230" dirty="0"/>
          </a:p>
        </p:txBody>
      </p:sp>
      <p:sp>
        <p:nvSpPr>
          <p:cNvPr id="19" name="Shape 17"/>
          <p:cNvSpPr/>
          <p:nvPr/>
        </p:nvSpPr>
        <p:spPr>
          <a:xfrm>
            <a:off x="7543800" y="1691640"/>
            <a:ext cx="4005072" cy="4297680"/>
          </a:xfrm>
          <a:prstGeom prst="roundRect">
            <a:avLst>
              <a:gd name="adj" fmla="val 1598"/>
            </a:avLst>
          </a:prstGeom>
          <a:solidFill>
            <a:srgbClr val="0D2A42"/>
          </a:solidFill>
          <a:ln/>
          <a:effectLst>
            <a:outerShdw sx="100000" sy="100000" kx="0" ky="0" algn="bl" rotWithShape="0" blurRad="88900" dist="25400" dir="5400000">
              <a:srgbClr val="A8B4C2">
                <a:alpha val="28000"/>
              </a:srgbClr>
            </a:outerShdw>
          </a:effectLst>
        </p:spPr>
      </p:sp>
      <p:sp>
        <p:nvSpPr>
          <p:cNvPr id="20" name="Text 18"/>
          <p:cNvSpPr/>
          <p:nvPr/>
        </p:nvSpPr>
        <p:spPr>
          <a:xfrm>
            <a:off x="7818120" y="1874520"/>
            <a:ext cx="1005840" cy="777240"/>
          </a:xfrm>
          <a:prstGeom prst="rect">
            <a:avLst/>
          </a:prstGeom>
          <a:noFill/>
          <a:ln/>
        </p:spPr>
        <p:txBody>
          <a:bodyPr wrap="square" lIns="0" tIns="0" rIns="0" bIns="0" rtlCol="0" anchor="ctr"/>
          <a:lstStyle/>
          <a:p>
            <a:pPr indent="0" marL="0">
              <a:buNone/>
            </a:pPr>
            <a:r>
              <a:rPr lang="en-US" sz="4700" b="1" dirty="0">
                <a:solidFill>
                  <a:srgbClr val="9EC8E4"/>
                </a:solidFill>
                <a:latin typeface="Cambria" pitchFamily="34" charset="0"/>
                <a:ea typeface="Cambria" pitchFamily="34" charset="-122"/>
                <a:cs typeface="Cambria" pitchFamily="34" charset="-120"/>
              </a:rPr>
              <a:t>α</a:t>
            </a:r>
            <a:endParaRPr lang="en-US" sz="4700" dirty="0"/>
          </a:p>
        </p:txBody>
      </p:sp>
      <p:sp>
        <p:nvSpPr>
          <p:cNvPr id="21" name="Text 19"/>
          <p:cNvSpPr/>
          <p:nvPr/>
        </p:nvSpPr>
        <p:spPr>
          <a:xfrm>
            <a:off x="8732520" y="2048256"/>
            <a:ext cx="2697480" cy="566928"/>
          </a:xfrm>
          <a:prstGeom prst="rect">
            <a:avLst/>
          </a:prstGeom>
          <a:noFill/>
          <a:ln/>
        </p:spPr>
        <p:txBody>
          <a:bodyPr wrap="square" lIns="0" tIns="0" rIns="0" bIns="0" rtlCol="0" anchor="ctr"/>
          <a:lstStyle/>
          <a:p>
            <a:pPr indent="0" marL="0">
              <a:lnSpc>
                <a:spcPts val="1400"/>
              </a:lnSpc>
              <a:buNone/>
            </a:pPr>
            <a:r>
              <a:rPr lang="en-US" sz="1100" b="1" spc="100" kern="0" dirty="0">
                <a:solidFill>
                  <a:srgbClr val="9EC8E4"/>
                </a:solidFill>
                <a:latin typeface="Calibri" pitchFamily="34" charset="0"/>
                <a:ea typeface="Calibri" pitchFamily="34" charset="-122"/>
                <a:cs typeface="Calibri" pitchFamily="34" charset="-120"/>
              </a:rPr>
              <a:t>ÍNDICE DE MADUREZ CIBERNÉTICA ESTRATÉGICA (IMCE)</a:t>
            </a:r>
            <a:endParaRPr lang="en-US" sz="1100" dirty="0"/>
          </a:p>
        </p:txBody>
      </p:sp>
      <p:sp>
        <p:nvSpPr>
          <p:cNvPr id="22" name="Shape 20"/>
          <p:cNvSpPr/>
          <p:nvPr/>
        </p:nvSpPr>
        <p:spPr>
          <a:xfrm>
            <a:off x="7818120" y="2788920"/>
            <a:ext cx="3456432" cy="0"/>
          </a:xfrm>
          <a:prstGeom prst="line">
            <a:avLst/>
          </a:prstGeom>
          <a:noFill/>
          <a:ln w="12700">
            <a:solidFill>
              <a:srgbClr val="2A4A6A"/>
            </a:solidFill>
            <a:prstDash val="solid"/>
          </a:ln>
        </p:spPr>
      </p:sp>
      <p:sp>
        <p:nvSpPr>
          <p:cNvPr id="23" name="Text 21"/>
          <p:cNvSpPr/>
          <p:nvPr/>
        </p:nvSpPr>
        <p:spPr>
          <a:xfrm>
            <a:off x="7818120" y="2944368"/>
            <a:ext cx="3456432" cy="1371600"/>
          </a:xfrm>
          <a:prstGeom prst="rect">
            <a:avLst/>
          </a:prstGeom>
          <a:noFill/>
          <a:ln/>
        </p:spPr>
        <p:txBody>
          <a:bodyPr wrap="square" lIns="0" tIns="0" rIns="0" bIns="0" rtlCol="0" anchor="ctr"/>
          <a:lstStyle/>
          <a:p>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Con α &lt; 1, la función CPᵅ es cóncava:</a:t>
            </a:r>
            <a:endParaRPr lang="en-US" sz="1350" dirty="0"/>
          </a:p>
          <a:p>
            <a:pPr indent="0" marL="0">
              <a:lnSpc>
                <a:spcPts val="1900"/>
              </a:lnSpc>
              <a:buNone/>
            </a:pPr>
            <a:r>
              <a:rPr lang="en-US" sz="1350" dirty="0">
                <a:solidFill>
                  <a:srgbClr val="C8D8E8"/>
                </a:solidFill>
                <a:latin typeface="Calibri" pitchFamily="34" charset="0"/>
                <a:ea typeface="Calibri" pitchFamily="34" charset="-122"/>
                <a:cs typeface="Calibri" pitchFamily="34" charset="-120"/>
              </a:rPr>
              <a:t>los retornos marginales son elevados en los niveles iniciales de madurez y decrecen a medida que el CP se consolida.</a:t>
            </a:r>
            <a:endParaRPr lang="en-US" sz="1350" dirty="0"/>
          </a:p>
        </p:txBody>
      </p:sp>
      <p:sp>
        <p:nvSpPr>
          <p:cNvPr id="24" name="Shape 22"/>
          <p:cNvSpPr/>
          <p:nvPr/>
        </p:nvSpPr>
        <p:spPr>
          <a:xfrm>
            <a:off x="7818120" y="4434840"/>
            <a:ext cx="3456432" cy="1280160"/>
          </a:xfrm>
          <a:prstGeom prst="roundRect">
            <a:avLst>
              <a:gd name="adj" fmla="val 5000"/>
            </a:avLst>
          </a:prstGeom>
          <a:solidFill>
            <a:srgbClr val="10365A"/>
          </a:solidFill>
          <a:ln w="12700">
            <a:solidFill>
              <a:srgbClr val="2A4A6A"/>
            </a:solidFill>
            <a:prstDash val="solid"/>
          </a:ln>
        </p:spPr>
      </p:sp>
      <p:sp>
        <p:nvSpPr>
          <p:cNvPr id="25" name="Text 23"/>
          <p:cNvSpPr/>
          <p:nvPr/>
        </p:nvSpPr>
        <p:spPr>
          <a:xfrm>
            <a:off x="8001000" y="4572000"/>
            <a:ext cx="3108960" cy="1051560"/>
          </a:xfrm>
          <a:prstGeom prst="rect">
            <a:avLst/>
          </a:prstGeom>
          <a:noFill/>
          <a:ln/>
        </p:spPr>
        <p:txBody>
          <a:bodyPr wrap="square" lIns="0" tIns="0" rIns="0" bIns="0" rtlCol="0" anchor="ctr"/>
          <a:lstStyle/>
          <a:p>
            <a:pPr indent="0" marL="0">
              <a:lnSpc>
                <a:spcPts val="1700"/>
              </a:lnSpc>
              <a:buNone/>
            </a:pPr>
            <a:r>
              <a:rPr lang="en-US" sz="1500" b="1" dirty="0">
                <a:solidFill>
                  <a:srgbClr val="9EC8E4"/>
                </a:solidFill>
                <a:latin typeface="Calibri" pitchFamily="34" charset="0"/>
                <a:ea typeface="Calibri" pitchFamily="34" charset="-122"/>
                <a:cs typeface="Calibri" pitchFamily="34" charset="-120"/>
              </a:rPr>
              <a:t>Colombia: α ≈ 0.4 – 0.7</a:t>
            </a:r>
            <a:endParaRPr lang="en-US" sz="1500" dirty="0"/>
          </a:p>
          <a:p>
            <a:pPr indent="0" marL="0">
              <a:lnSpc>
                <a:spcPts val="1700"/>
              </a:lnSpc>
              <a:buNone/>
            </a:pPr>
            <a:r>
              <a:rPr lang="en-US" sz="1150" dirty="0">
                <a:solidFill>
                  <a:srgbClr val="C8D8E8"/>
                </a:solidFill>
                <a:latin typeface="Calibri" pitchFamily="34" charset="0"/>
                <a:ea typeface="Calibri" pitchFamily="34" charset="-122"/>
                <a:cs typeface="Calibri" pitchFamily="34" charset="-120"/>
              </a:rPr>
              <a:t>Nivel 3 «en consolidación» del Índice Global de Ciberseguridad (UIT, 2024)</a:t>
            </a:r>
            <a:endParaRPr lang="en-US" sz="1500" dirty="0"/>
          </a:p>
        </p:txBody>
      </p:sp>
      <p:sp>
        <p:nvSpPr>
          <p:cNvPr id="26" name="Text 24"/>
          <p:cNvSpPr/>
          <p:nvPr/>
        </p:nvSpPr>
        <p:spPr>
          <a:xfrm>
            <a:off x="640080" y="6144768"/>
            <a:ext cx="10972800" cy="347472"/>
          </a:xfrm>
          <a:prstGeom prst="rect">
            <a:avLst/>
          </a:prstGeom>
          <a:noFill/>
          <a:ln/>
        </p:spPr>
        <p:txBody>
          <a:bodyPr wrap="square" lIns="0" tIns="0" rIns="0" bIns="0" rtlCol="0" anchor="ctr"/>
          <a:lstStyle/>
          <a:p>
            <a:pPr algn="ctr" indent="0" marL="0">
              <a:buNone/>
            </a:pPr>
            <a:r>
              <a:rPr lang="en-US" sz="1300" i="1" dirty="0">
                <a:solidFill>
                  <a:srgbClr val="5A6472"/>
                </a:solidFill>
                <a:latin typeface="Calibri" pitchFamily="34" charset="0"/>
                <a:ea typeface="Calibri" pitchFamily="34" charset="-122"/>
                <a:cs typeface="Calibri" pitchFamily="34" charset="-120"/>
              </a:rPr>
              <a:t>Justificación triple: convergencia teórica (Nye · Bebber), evidencia empírica y reconocimiento normativo (OMI).</a:t>
            </a:r>
            <a:endParaRPr lang="en-US" sz="1300" dirty="0"/>
          </a:p>
        </p:txBody>
      </p:sp>
      <p:sp>
        <p:nvSpPr>
          <p:cNvPr id="27" name="Text 25"/>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RESULTADOS · INTERPRETACIÓN</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Una escala analítica de cinco niveles</a:t>
            </a:r>
            <a:endParaRPr lang="en-US" sz="3100" dirty="0"/>
          </a:p>
        </p:txBody>
      </p:sp>
      <p:sp>
        <p:nvSpPr>
          <p:cNvPr id="4" name="Shape 2"/>
          <p:cNvSpPr/>
          <p:nvPr/>
        </p:nvSpPr>
        <p:spPr>
          <a:xfrm>
            <a:off x="640080" y="1737360"/>
            <a:ext cx="7863840" cy="640080"/>
          </a:xfrm>
          <a:prstGeom prst="roundRect">
            <a:avLst>
              <a:gd name="adj" fmla="val 8571"/>
            </a:avLst>
          </a:prstGeom>
          <a:solidFill>
            <a:srgbClr val="F4F6F9"/>
          </a:solidFill>
          <a:ln w="12700">
            <a:solidFill>
              <a:srgbClr val="D8DEE6"/>
            </a:solidFill>
            <a:prstDash val="solid"/>
          </a:ln>
        </p:spPr>
      </p:sp>
      <p:sp>
        <p:nvSpPr>
          <p:cNvPr id="5" name="Shape 3"/>
          <p:cNvSpPr/>
          <p:nvPr/>
        </p:nvSpPr>
        <p:spPr>
          <a:xfrm>
            <a:off x="786384" y="1856232"/>
            <a:ext cx="1417320" cy="402336"/>
          </a:xfrm>
          <a:prstGeom prst="roundRect">
            <a:avLst>
              <a:gd name="adj" fmla="val 11364"/>
            </a:avLst>
          </a:prstGeom>
          <a:solidFill>
            <a:srgbClr val="1D9E75"/>
          </a:solidFill>
          <a:ln/>
        </p:spPr>
      </p:sp>
      <p:sp>
        <p:nvSpPr>
          <p:cNvPr id="6" name="Text 4"/>
          <p:cNvSpPr/>
          <p:nvPr/>
        </p:nvSpPr>
        <p:spPr>
          <a:xfrm>
            <a:off x="786384" y="1847088"/>
            <a:ext cx="1417320"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Alto</a:t>
            </a:r>
            <a:endParaRPr lang="en-US" sz="1350" dirty="0"/>
          </a:p>
        </p:txBody>
      </p:sp>
      <p:sp>
        <p:nvSpPr>
          <p:cNvPr id="7" name="Text 5"/>
          <p:cNvSpPr/>
          <p:nvPr/>
        </p:nvSpPr>
        <p:spPr>
          <a:xfrm>
            <a:off x="2340864" y="1737360"/>
            <a:ext cx="1371600" cy="640080"/>
          </a:xfrm>
          <a:prstGeom prst="rect">
            <a:avLst/>
          </a:prstGeom>
          <a:noFill/>
          <a:ln/>
        </p:spPr>
        <p:txBody>
          <a:bodyPr wrap="square" lIns="0" tIns="0" rIns="0" bIns="0" rtlCol="0" anchor="ctr"/>
          <a:lstStyle/>
          <a:p>
            <a:pPr indent="0" marL="0">
              <a:buNone/>
            </a:pPr>
            <a:r>
              <a:rPr lang="en-US" sz="1350" b="1" dirty="0">
                <a:solidFill>
                  <a:srgbClr val="0D2A42"/>
                </a:solidFill>
                <a:latin typeface="Courier New" pitchFamily="34" charset="0"/>
                <a:ea typeface="Courier New" pitchFamily="34" charset="-122"/>
                <a:cs typeface="Courier New" pitchFamily="34" charset="-120"/>
              </a:rPr>
              <a:t>0.81 – 1.00</a:t>
            </a:r>
            <a:endParaRPr lang="en-US" sz="1350" dirty="0"/>
          </a:p>
        </p:txBody>
      </p:sp>
      <p:sp>
        <p:nvSpPr>
          <p:cNvPr id="8" name="Text 6"/>
          <p:cNvSpPr/>
          <p:nvPr/>
        </p:nvSpPr>
        <p:spPr>
          <a:xfrm>
            <a:off x="3749040" y="1737360"/>
            <a:ext cx="4663440" cy="640080"/>
          </a:xfrm>
          <a:prstGeom prst="rect">
            <a:avLst/>
          </a:prstGeom>
          <a:noFill/>
          <a:ln/>
        </p:spPr>
        <p:txBody>
          <a:bodyPr wrap="square" lIns="0" tIns="0" rIns="0" bIns="0" rtlCol="0" anchor="ctr"/>
          <a:lstStyle/>
          <a:p>
            <a:pPr indent="0" marL="0">
              <a:lnSpc>
                <a:spcPts val="1500"/>
              </a:lnSpc>
              <a:buNone/>
            </a:pPr>
            <a:r>
              <a:rPr lang="en-US" sz="1250" dirty="0">
                <a:solidFill>
                  <a:srgbClr val="1A1A1A"/>
                </a:solidFill>
                <a:latin typeface="Calibri" pitchFamily="34" charset="0"/>
                <a:ea typeface="Calibri" pitchFamily="34" charset="-122"/>
                <a:cs typeface="Calibri" pitchFamily="34" charset="-120"/>
              </a:rPr>
              <a:t>Potencia marítima consolidada con proyección multidominio global</a:t>
            </a:r>
            <a:endParaRPr lang="en-US" sz="1250" dirty="0"/>
          </a:p>
        </p:txBody>
      </p:sp>
      <p:sp>
        <p:nvSpPr>
          <p:cNvPr id="9" name="Shape 7"/>
          <p:cNvSpPr/>
          <p:nvPr/>
        </p:nvSpPr>
        <p:spPr>
          <a:xfrm>
            <a:off x="640080" y="2487168"/>
            <a:ext cx="7863840" cy="640080"/>
          </a:xfrm>
          <a:prstGeom prst="roundRect">
            <a:avLst>
              <a:gd name="adj" fmla="val 8571"/>
            </a:avLst>
          </a:prstGeom>
          <a:solidFill>
            <a:srgbClr val="F4F6F9"/>
          </a:solidFill>
          <a:ln w="12700">
            <a:solidFill>
              <a:srgbClr val="D8DEE6"/>
            </a:solidFill>
            <a:prstDash val="solid"/>
          </a:ln>
        </p:spPr>
      </p:sp>
      <p:sp>
        <p:nvSpPr>
          <p:cNvPr id="10" name="Shape 8"/>
          <p:cNvSpPr/>
          <p:nvPr/>
        </p:nvSpPr>
        <p:spPr>
          <a:xfrm>
            <a:off x="786384" y="2606040"/>
            <a:ext cx="1417320" cy="402336"/>
          </a:xfrm>
          <a:prstGeom prst="roundRect">
            <a:avLst>
              <a:gd name="adj" fmla="val 11364"/>
            </a:avLst>
          </a:prstGeom>
          <a:solidFill>
            <a:srgbClr val="185FA5"/>
          </a:solidFill>
          <a:ln/>
        </p:spPr>
      </p:sp>
      <p:sp>
        <p:nvSpPr>
          <p:cNvPr id="11" name="Text 9"/>
          <p:cNvSpPr/>
          <p:nvPr/>
        </p:nvSpPr>
        <p:spPr>
          <a:xfrm>
            <a:off x="786384" y="2596896"/>
            <a:ext cx="1417320"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Significativo</a:t>
            </a:r>
            <a:endParaRPr lang="en-US" sz="1350" dirty="0"/>
          </a:p>
        </p:txBody>
      </p:sp>
      <p:sp>
        <p:nvSpPr>
          <p:cNvPr id="12" name="Text 10"/>
          <p:cNvSpPr/>
          <p:nvPr/>
        </p:nvSpPr>
        <p:spPr>
          <a:xfrm>
            <a:off x="2340864" y="2487168"/>
            <a:ext cx="1371600" cy="640080"/>
          </a:xfrm>
          <a:prstGeom prst="rect">
            <a:avLst/>
          </a:prstGeom>
          <a:noFill/>
          <a:ln/>
        </p:spPr>
        <p:txBody>
          <a:bodyPr wrap="square" lIns="0" tIns="0" rIns="0" bIns="0" rtlCol="0" anchor="ctr"/>
          <a:lstStyle/>
          <a:p>
            <a:pPr indent="0" marL="0">
              <a:buNone/>
            </a:pPr>
            <a:r>
              <a:rPr lang="en-US" sz="1350" b="1" dirty="0">
                <a:solidFill>
                  <a:srgbClr val="0D2A42"/>
                </a:solidFill>
                <a:latin typeface="Courier New" pitchFamily="34" charset="0"/>
                <a:ea typeface="Courier New" pitchFamily="34" charset="-122"/>
                <a:cs typeface="Courier New" pitchFamily="34" charset="-120"/>
              </a:rPr>
              <a:t>0.61 – 0.80</a:t>
            </a:r>
            <a:endParaRPr lang="en-US" sz="1350" dirty="0"/>
          </a:p>
        </p:txBody>
      </p:sp>
      <p:sp>
        <p:nvSpPr>
          <p:cNvPr id="13" name="Text 11"/>
          <p:cNvSpPr/>
          <p:nvPr/>
        </p:nvSpPr>
        <p:spPr>
          <a:xfrm>
            <a:off x="3749040" y="2487168"/>
            <a:ext cx="4663440" cy="640080"/>
          </a:xfrm>
          <a:prstGeom prst="rect">
            <a:avLst/>
          </a:prstGeom>
          <a:noFill/>
          <a:ln/>
        </p:spPr>
        <p:txBody>
          <a:bodyPr wrap="square" lIns="0" tIns="0" rIns="0" bIns="0" rtlCol="0" anchor="ctr"/>
          <a:lstStyle/>
          <a:p>
            <a:pPr indent="0" marL="0">
              <a:lnSpc>
                <a:spcPts val="1500"/>
              </a:lnSpc>
              <a:buNone/>
            </a:pPr>
            <a:r>
              <a:rPr lang="en-US" sz="1250" dirty="0">
                <a:solidFill>
                  <a:srgbClr val="1A1A1A"/>
                </a:solidFill>
                <a:latin typeface="Calibri" pitchFamily="34" charset="0"/>
                <a:ea typeface="Calibri" pitchFamily="34" charset="-122"/>
                <a:cs typeface="Calibri" pitchFamily="34" charset="-120"/>
              </a:rPr>
              <a:t>Potencia regional con capacidades multidominio desarrolladas</a:t>
            </a:r>
            <a:endParaRPr lang="en-US" sz="1250" dirty="0"/>
          </a:p>
        </p:txBody>
      </p:sp>
      <p:sp>
        <p:nvSpPr>
          <p:cNvPr id="14" name="Shape 12"/>
          <p:cNvSpPr/>
          <p:nvPr/>
        </p:nvSpPr>
        <p:spPr>
          <a:xfrm>
            <a:off x="640080" y="3236976"/>
            <a:ext cx="7863840" cy="640080"/>
          </a:xfrm>
          <a:prstGeom prst="roundRect">
            <a:avLst>
              <a:gd name="adj" fmla="val 8571"/>
            </a:avLst>
          </a:prstGeom>
          <a:solidFill>
            <a:srgbClr val="FDF6E3"/>
          </a:solidFill>
          <a:ln w="22225">
            <a:solidFill>
              <a:srgbClr val="B98A12"/>
            </a:solidFill>
            <a:prstDash val="solid"/>
          </a:ln>
        </p:spPr>
      </p:sp>
      <p:sp>
        <p:nvSpPr>
          <p:cNvPr id="15" name="Shape 13"/>
          <p:cNvSpPr/>
          <p:nvPr/>
        </p:nvSpPr>
        <p:spPr>
          <a:xfrm>
            <a:off x="786384" y="3355848"/>
            <a:ext cx="1417320" cy="402336"/>
          </a:xfrm>
          <a:prstGeom prst="roundRect">
            <a:avLst>
              <a:gd name="adj" fmla="val 11364"/>
            </a:avLst>
          </a:prstGeom>
          <a:solidFill>
            <a:srgbClr val="B98A12"/>
          </a:solidFill>
          <a:ln/>
        </p:spPr>
      </p:sp>
      <p:sp>
        <p:nvSpPr>
          <p:cNvPr id="16" name="Text 14"/>
          <p:cNvSpPr/>
          <p:nvPr/>
        </p:nvSpPr>
        <p:spPr>
          <a:xfrm>
            <a:off x="786384" y="3346704"/>
            <a:ext cx="1417320"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Moderado</a:t>
            </a:r>
            <a:endParaRPr lang="en-US" sz="1350" dirty="0"/>
          </a:p>
        </p:txBody>
      </p:sp>
      <p:sp>
        <p:nvSpPr>
          <p:cNvPr id="17" name="Text 15"/>
          <p:cNvSpPr/>
          <p:nvPr/>
        </p:nvSpPr>
        <p:spPr>
          <a:xfrm>
            <a:off x="2340864" y="3236976"/>
            <a:ext cx="1371600" cy="640080"/>
          </a:xfrm>
          <a:prstGeom prst="rect">
            <a:avLst/>
          </a:prstGeom>
          <a:noFill/>
          <a:ln/>
        </p:spPr>
        <p:txBody>
          <a:bodyPr wrap="square" lIns="0" tIns="0" rIns="0" bIns="0" rtlCol="0" anchor="ctr"/>
          <a:lstStyle/>
          <a:p>
            <a:pPr indent="0" marL="0">
              <a:buNone/>
            </a:pPr>
            <a:r>
              <a:rPr lang="en-US" sz="1350" b="1" dirty="0">
                <a:solidFill>
                  <a:srgbClr val="0D2A42"/>
                </a:solidFill>
                <a:latin typeface="Courier New" pitchFamily="34" charset="0"/>
                <a:ea typeface="Courier New" pitchFamily="34" charset="-122"/>
                <a:cs typeface="Courier New" pitchFamily="34" charset="-120"/>
              </a:rPr>
              <a:t>0.41 – 0.60</a:t>
            </a:r>
            <a:endParaRPr lang="en-US" sz="1350" dirty="0"/>
          </a:p>
        </p:txBody>
      </p:sp>
      <p:sp>
        <p:nvSpPr>
          <p:cNvPr id="18" name="Text 16"/>
          <p:cNvSpPr/>
          <p:nvPr/>
        </p:nvSpPr>
        <p:spPr>
          <a:xfrm>
            <a:off x="3749040" y="3236976"/>
            <a:ext cx="4663440" cy="640080"/>
          </a:xfrm>
          <a:prstGeom prst="rect">
            <a:avLst/>
          </a:prstGeom>
          <a:noFill/>
          <a:ln/>
        </p:spPr>
        <p:txBody>
          <a:bodyPr wrap="square" lIns="0" tIns="0" rIns="0" bIns="0" rtlCol="0" anchor="ctr"/>
          <a:lstStyle/>
          <a:p>
            <a:pPr indent="0" marL="0">
              <a:lnSpc>
                <a:spcPts val="1500"/>
              </a:lnSpc>
              <a:buNone/>
            </a:pPr>
            <a:r>
              <a:rPr lang="en-US" sz="1250" dirty="0">
                <a:solidFill>
                  <a:srgbClr val="1A1A1A"/>
                </a:solidFill>
                <a:latin typeface="Calibri" pitchFamily="34" charset="0"/>
                <a:ea typeface="Calibri" pitchFamily="34" charset="-122"/>
                <a:cs typeface="Calibri" pitchFamily="34" charset="-120"/>
              </a:rPr>
              <a:t>Potencia en desarrollo con brechas estratégicas identificables</a:t>
            </a:r>
            <a:endParaRPr lang="en-US" sz="1250" dirty="0"/>
          </a:p>
        </p:txBody>
      </p:sp>
      <p:sp>
        <p:nvSpPr>
          <p:cNvPr id="19" name="Shape 17"/>
          <p:cNvSpPr/>
          <p:nvPr/>
        </p:nvSpPr>
        <p:spPr>
          <a:xfrm>
            <a:off x="6949440" y="3108960"/>
            <a:ext cx="1481328" cy="274320"/>
          </a:xfrm>
          <a:prstGeom prst="roundRect">
            <a:avLst>
              <a:gd name="adj" fmla="val 16667"/>
            </a:avLst>
          </a:prstGeom>
          <a:solidFill>
            <a:srgbClr val="B98A12"/>
          </a:solidFill>
          <a:ln/>
        </p:spPr>
      </p:sp>
      <p:sp>
        <p:nvSpPr>
          <p:cNvPr id="20" name="Text 18"/>
          <p:cNvSpPr/>
          <p:nvPr/>
        </p:nvSpPr>
        <p:spPr>
          <a:xfrm>
            <a:off x="6949440" y="3099816"/>
            <a:ext cx="148132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COLOMBIA 0.43</a:t>
            </a:r>
            <a:endParaRPr lang="en-US" sz="950" dirty="0"/>
          </a:p>
        </p:txBody>
      </p:sp>
      <p:sp>
        <p:nvSpPr>
          <p:cNvPr id="21" name="Shape 19"/>
          <p:cNvSpPr/>
          <p:nvPr/>
        </p:nvSpPr>
        <p:spPr>
          <a:xfrm>
            <a:off x="640080" y="3986784"/>
            <a:ext cx="7863840" cy="640080"/>
          </a:xfrm>
          <a:prstGeom prst="roundRect">
            <a:avLst>
              <a:gd name="adj" fmla="val 8571"/>
            </a:avLst>
          </a:prstGeom>
          <a:solidFill>
            <a:srgbClr val="F4F6F9"/>
          </a:solidFill>
          <a:ln w="12700">
            <a:solidFill>
              <a:srgbClr val="D8DEE6"/>
            </a:solidFill>
            <a:prstDash val="solid"/>
          </a:ln>
        </p:spPr>
      </p:sp>
      <p:sp>
        <p:nvSpPr>
          <p:cNvPr id="22" name="Shape 20"/>
          <p:cNvSpPr/>
          <p:nvPr/>
        </p:nvSpPr>
        <p:spPr>
          <a:xfrm>
            <a:off x="786384" y="4105656"/>
            <a:ext cx="1417320" cy="402336"/>
          </a:xfrm>
          <a:prstGeom prst="roundRect">
            <a:avLst>
              <a:gd name="adj" fmla="val 11364"/>
            </a:avLst>
          </a:prstGeom>
          <a:solidFill>
            <a:srgbClr val="C4622D"/>
          </a:solidFill>
          <a:ln/>
        </p:spPr>
      </p:sp>
      <p:sp>
        <p:nvSpPr>
          <p:cNvPr id="23" name="Text 21"/>
          <p:cNvSpPr/>
          <p:nvPr/>
        </p:nvSpPr>
        <p:spPr>
          <a:xfrm>
            <a:off x="786384" y="4096512"/>
            <a:ext cx="1417320"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Bajo</a:t>
            </a:r>
            <a:endParaRPr lang="en-US" sz="1350" dirty="0"/>
          </a:p>
        </p:txBody>
      </p:sp>
      <p:sp>
        <p:nvSpPr>
          <p:cNvPr id="24" name="Text 22"/>
          <p:cNvSpPr/>
          <p:nvPr/>
        </p:nvSpPr>
        <p:spPr>
          <a:xfrm>
            <a:off x="2340864" y="3986784"/>
            <a:ext cx="1371600" cy="640080"/>
          </a:xfrm>
          <a:prstGeom prst="rect">
            <a:avLst/>
          </a:prstGeom>
          <a:noFill/>
          <a:ln/>
        </p:spPr>
        <p:txBody>
          <a:bodyPr wrap="square" lIns="0" tIns="0" rIns="0" bIns="0" rtlCol="0" anchor="ctr"/>
          <a:lstStyle/>
          <a:p>
            <a:pPr indent="0" marL="0">
              <a:buNone/>
            </a:pPr>
            <a:r>
              <a:rPr lang="en-US" sz="1350" b="1" dirty="0">
                <a:solidFill>
                  <a:srgbClr val="0D2A42"/>
                </a:solidFill>
                <a:latin typeface="Courier New" pitchFamily="34" charset="0"/>
                <a:ea typeface="Courier New" pitchFamily="34" charset="-122"/>
                <a:cs typeface="Courier New" pitchFamily="34" charset="-120"/>
              </a:rPr>
              <a:t>0.21 – 0.40</a:t>
            </a:r>
            <a:endParaRPr lang="en-US" sz="1350" dirty="0"/>
          </a:p>
        </p:txBody>
      </p:sp>
      <p:sp>
        <p:nvSpPr>
          <p:cNvPr id="25" name="Text 23"/>
          <p:cNvSpPr/>
          <p:nvPr/>
        </p:nvSpPr>
        <p:spPr>
          <a:xfrm>
            <a:off x="3749040" y="3986784"/>
            <a:ext cx="4663440" cy="640080"/>
          </a:xfrm>
          <a:prstGeom prst="rect">
            <a:avLst/>
          </a:prstGeom>
          <a:noFill/>
          <a:ln/>
        </p:spPr>
        <p:txBody>
          <a:bodyPr wrap="square" lIns="0" tIns="0" rIns="0" bIns="0" rtlCol="0" anchor="ctr"/>
          <a:lstStyle/>
          <a:p>
            <a:pPr indent="0" marL="0">
              <a:lnSpc>
                <a:spcPts val="1500"/>
              </a:lnSpc>
              <a:buNone/>
            </a:pPr>
            <a:r>
              <a:rPr lang="en-US" sz="1250" dirty="0">
                <a:solidFill>
                  <a:srgbClr val="1A1A1A"/>
                </a:solidFill>
                <a:latin typeface="Calibri" pitchFamily="34" charset="0"/>
                <a:ea typeface="Calibri" pitchFamily="34" charset="-122"/>
                <a:cs typeface="Calibri" pitchFamily="34" charset="-120"/>
              </a:rPr>
              <a:t>Capacidad incipiente con vulnerabilidades estructurales dominantes</a:t>
            </a:r>
            <a:endParaRPr lang="en-US" sz="1250" dirty="0"/>
          </a:p>
        </p:txBody>
      </p:sp>
      <p:sp>
        <p:nvSpPr>
          <p:cNvPr id="26" name="Shape 24"/>
          <p:cNvSpPr/>
          <p:nvPr/>
        </p:nvSpPr>
        <p:spPr>
          <a:xfrm>
            <a:off x="640080" y="4736592"/>
            <a:ext cx="7863840" cy="640080"/>
          </a:xfrm>
          <a:prstGeom prst="roundRect">
            <a:avLst>
              <a:gd name="adj" fmla="val 8571"/>
            </a:avLst>
          </a:prstGeom>
          <a:solidFill>
            <a:srgbClr val="F4F6F9"/>
          </a:solidFill>
          <a:ln w="12700">
            <a:solidFill>
              <a:srgbClr val="D8DEE6"/>
            </a:solidFill>
            <a:prstDash val="solid"/>
          </a:ln>
        </p:spPr>
      </p:sp>
      <p:sp>
        <p:nvSpPr>
          <p:cNvPr id="27" name="Shape 25"/>
          <p:cNvSpPr/>
          <p:nvPr/>
        </p:nvSpPr>
        <p:spPr>
          <a:xfrm>
            <a:off x="786384" y="4855464"/>
            <a:ext cx="1417320" cy="402336"/>
          </a:xfrm>
          <a:prstGeom prst="roundRect">
            <a:avLst>
              <a:gd name="adj" fmla="val 11364"/>
            </a:avLst>
          </a:prstGeom>
          <a:solidFill>
            <a:srgbClr val="B02E2C"/>
          </a:solidFill>
          <a:ln/>
        </p:spPr>
      </p:sp>
      <p:sp>
        <p:nvSpPr>
          <p:cNvPr id="28" name="Text 26"/>
          <p:cNvSpPr/>
          <p:nvPr/>
        </p:nvSpPr>
        <p:spPr>
          <a:xfrm>
            <a:off x="786384" y="4846320"/>
            <a:ext cx="1417320"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Crítico</a:t>
            </a:r>
            <a:endParaRPr lang="en-US" sz="1350" dirty="0"/>
          </a:p>
        </p:txBody>
      </p:sp>
      <p:sp>
        <p:nvSpPr>
          <p:cNvPr id="29" name="Text 27"/>
          <p:cNvSpPr/>
          <p:nvPr/>
        </p:nvSpPr>
        <p:spPr>
          <a:xfrm>
            <a:off x="2340864" y="4736592"/>
            <a:ext cx="1371600" cy="640080"/>
          </a:xfrm>
          <a:prstGeom prst="rect">
            <a:avLst/>
          </a:prstGeom>
          <a:noFill/>
          <a:ln/>
        </p:spPr>
        <p:txBody>
          <a:bodyPr wrap="square" lIns="0" tIns="0" rIns="0" bIns="0" rtlCol="0" anchor="ctr"/>
          <a:lstStyle/>
          <a:p>
            <a:pPr indent="0" marL="0">
              <a:buNone/>
            </a:pPr>
            <a:r>
              <a:rPr lang="en-US" sz="1350" b="1" dirty="0">
                <a:solidFill>
                  <a:srgbClr val="0D2A42"/>
                </a:solidFill>
                <a:latin typeface="Courier New" pitchFamily="34" charset="0"/>
                <a:ea typeface="Courier New" pitchFamily="34" charset="-122"/>
                <a:cs typeface="Courier New" pitchFamily="34" charset="-120"/>
              </a:rPr>
              <a:t>0.00 – 0.20</a:t>
            </a:r>
            <a:endParaRPr lang="en-US" sz="1350" dirty="0"/>
          </a:p>
        </p:txBody>
      </p:sp>
      <p:sp>
        <p:nvSpPr>
          <p:cNvPr id="30" name="Text 28"/>
          <p:cNvSpPr/>
          <p:nvPr/>
        </p:nvSpPr>
        <p:spPr>
          <a:xfrm>
            <a:off x="3749040" y="4736592"/>
            <a:ext cx="4663440" cy="640080"/>
          </a:xfrm>
          <a:prstGeom prst="rect">
            <a:avLst/>
          </a:prstGeom>
          <a:noFill/>
          <a:ln/>
        </p:spPr>
        <p:txBody>
          <a:bodyPr wrap="square" lIns="0" tIns="0" rIns="0" bIns="0" rtlCol="0" anchor="ctr"/>
          <a:lstStyle/>
          <a:p>
            <a:pPr indent="0" marL="0">
              <a:lnSpc>
                <a:spcPts val="1500"/>
              </a:lnSpc>
              <a:buNone/>
            </a:pPr>
            <a:r>
              <a:rPr lang="en-US" sz="1250" dirty="0">
                <a:solidFill>
                  <a:srgbClr val="1A1A1A"/>
                </a:solidFill>
                <a:latin typeface="Calibri" pitchFamily="34" charset="0"/>
                <a:ea typeface="Calibri" pitchFamily="34" charset="-122"/>
                <a:cs typeface="Calibri" pitchFamily="34" charset="-120"/>
              </a:rPr>
              <a:t>Vulnerabilidad marítima estructural — aprovechamiento mínimo del dominio</a:t>
            </a:r>
            <a:endParaRPr lang="en-US" sz="1250" dirty="0"/>
          </a:p>
        </p:txBody>
      </p:sp>
      <p:sp>
        <p:nvSpPr>
          <p:cNvPr id="31" name="Shape 29"/>
          <p:cNvSpPr/>
          <p:nvPr/>
        </p:nvSpPr>
        <p:spPr>
          <a:xfrm>
            <a:off x="8732520" y="1737360"/>
            <a:ext cx="2816352" cy="3657600"/>
          </a:xfrm>
          <a:prstGeom prst="roundRect">
            <a:avLst>
              <a:gd name="adj" fmla="val 2273"/>
            </a:avLst>
          </a:prstGeom>
          <a:solidFill>
            <a:srgbClr val="EBF3FB"/>
          </a:solidFill>
          <a:ln w="12700">
            <a:solidFill>
              <a:srgbClr val="185FA5"/>
            </a:solidFill>
            <a:prstDash val="solid"/>
          </a:ln>
          <a:effectLst>
            <a:outerShdw sx="100000" sy="100000" kx="0" ky="0" algn="bl" rotWithShape="0" blurRad="88900" dist="25400" dir="5400000">
              <a:srgbClr val="A8B4C2">
                <a:alpha val="28000"/>
              </a:srgbClr>
            </a:outerShdw>
          </a:effectLst>
        </p:spPr>
      </p:sp>
      <p:sp>
        <p:nvSpPr>
          <p:cNvPr id="32" name="Text 30"/>
          <p:cNvSpPr/>
          <p:nvPr/>
        </p:nvSpPr>
        <p:spPr>
          <a:xfrm>
            <a:off x="8961120" y="1920240"/>
            <a:ext cx="2377440" cy="274320"/>
          </a:xfrm>
          <a:prstGeom prst="rect">
            <a:avLst/>
          </a:prstGeom>
          <a:noFill/>
          <a:ln/>
        </p:spPr>
        <p:txBody>
          <a:bodyPr wrap="square" lIns="0" tIns="0" rIns="0" bIns="0" rtlCol="0" anchor="ctr"/>
          <a:lstStyle/>
          <a:p>
            <a:pPr indent="0" marL="0">
              <a:buNone/>
            </a:pPr>
            <a:r>
              <a:rPr lang="en-US" sz="1100" b="1" spc="150" kern="0" dirty="0">
                <a:solidFill>
                  <a:srgbClr val="185FA5"/>
                </a:solidFill>
                <a:latin typeface="Calibri" pitchFamily="34" charset="0"/>
                <a:ea typeface="Calibri" pitchFamily="34" charset="-122"/>
                <a:cs typeface="Calibri" pitchFamily="34" charset="-120"/>
              </a:rPr>
              <a:t>CUATRO USOS DIRECTOS</a:t>
            </a:r>
            <a:endParaRPr lang="en-US" sz="1100" dirty="0"/>
          </a:p>
        </p:txBody>
      </p:sp>
      <p:sp>
        <p:nvSpPr>
          <p:cNvPr id="33" name="Text 31"/>
          <p:cNvSpPr/>
          <p:nvPr/>
        </p:nvSpPr>
        <p:spPr>
          <a:xfrm>
            <a:off x="8961120" y="2267712"/>
            <a:ext cx="2395728" cy="3017520"/>
          </a:xfrm>
          <a:prstGeom prst="rect">
            <a:avLst/>
          </a:prstGeom>
          <a:noFill/>
          <a:ln/>
        </p:spPr>
        <p:txBody>
          <a:bodyPr wrap="square" lIns="0" tIns="0" rIns="0" bIns="0" rtlCol="0" anchor="ctr"/>
          <a:lstStyle/>
          <a:p>
            <a:pPr marL="127000" indent="-127000">
              <a:lnSpc>
                <a:spcPts val="1600"/>
              </a:lnSpc>
              <a:spcAft>
                <a:spcPts val="1200"/>
              </a:spcAft>
              <a:buSzPct val="100000"/>
              <a:buChar char="•"/>
            </a:pPr>
            <a:r>
              <a:rPr lang="en-US" sz="1250" dirty="0">
                <a:solidFill>
                  <a:srgbClr val="0D2A42"/>
                </a:solidFill>
                <a:latin typeface="Calibri" pitchFamily="34" charset="0"/>
                <a:ea typeface="Calibri" pitchFamily="34" charset="-122"/>
                <a:cs typeface="Calibri" pitchFamily="34" charset="-120"/>
              </a:rPr>
              <a:t>Diagnóstico del nivel estratégico actual</a:t>
            </a:r>
            <a:endParaRPr lang="en-US" sz="1250" dirty="0"/>
          </a:p>
          <a:p>
            <a:pPr marL="127000" indent="-127000">
              <a:lnSpc>
                <a:spcPts val="1600"/>
              </a:lnSpc>
              <a:spcAft>
                <a:spcPts val="1200"/>
              </a:spcAft>
              <a:buSzPct val="100000"/>
              <a:buChar char="•"/>
            </a:pPr>
            <a:r>
              <a:rPr lang="en-US" sz="1250" dirty="0">
                <a:solidFill>
                  <a:srgbClr val="0D2A42"/>
                </a:solidFill>
                <a:latin typeface="Calibri" pitchFamily="34" charset="0"/>
                <a:ea typeface="Calibri" pitchFamily="34" charset="-122"/>
                <a:cs typeface="Calibri" pitchFamily="34" charset="-120"/>
              </a:rPr>
              <a:t>Nivel objetivo del planeamiento de largo plazo</a:t>
            </a:r>
            <a:endParaRPr lang="en-US" sz="1250" dirty="0"/>
          </a:p>
          <a:p>
            <a:pPr marL="127000" indent="-127000">
              <a:lnSpc>
                <a:spcPts val="1600"/>
              </a:lnSpc>
              <a:spcAft>
                <a:spcPts val="1200"/>
              </a:spcAft>
              <a:buSzPct val="100000"/>
              <a:buChar char="•"/>
            </a:pPr>
            <a:r>
              <a:rPr lang="en-US" sz="1250" dirty="0">
                <a:solidFill>
                  <a:srgbClr val="0D2A42"/>
                </a:solidFill>
                <a:latin typeface="Calibri" pitchFamily="34" charset="0"/>
                <a:ea typeface="Calibri" pitchFamily="34" charset="-122"/>
                <a:cs typeface="Calibri" pitchFamily="34" charset="-120"/>
              </a:rPr>
              <a:t>Comparación entre potencias medias regionales</a:t>
            </a:r>
            <a:endParaRPr lang="en-US" sz="1250" dirty="0"/>
          </a:p>
          <a:p>
            <a:pPr marL="127000" indent="-127000">
              <a:lnSpc>
                <a:spcPts val="1600"/>
              </a:lnSpc>
              <a:spcAft>
                <a:spcPts val="1200"/>
              </a:spcAft>
              <a:buSzPct val="100000"/>
              <a:buChar char="•"/>
            </a:pPr>
            <a:r>
              <a:rPr lang="en-US" sz="1250" dirty="0">
                <a:solidFill>
                  <a:srgbClr val="0D2A42"/>
                </a:solidFill>
                <a:latin typeface="Calibri" pitchFamily="34" charset="0"/>
                <a:ea typeface="Calibri" pitchFamily="34" charset="-122"/>
                <a:cs typeface="Calibri" pitchFamily="34" charset="-120"/>
              </a:rPr>
              <a:t>Evaluación del retorno de las inversiones</a:t>
            </a:r>
            <a:endParaRPr lang="en-US" sz="1250" dirty="0"/>
          </a:p>
        </p:txBody>
      </p:sp>
      <p:sp>
        <p:nvSpPr>
          <p:cNvPr id="34" name="Text 32"/>
          <p:cNvSpPr/>
          <p:nvPr/>
        </p:nvSpPr>
        <p:spPr>
          <a:xfrm>
            <a:off x="640080" y="5650992"/>
            <a:ext cx="7863840" cy="548640"/>
          </a:xfrm>
          <a:prstGeom prst="rect">
            <a:avLst/>
          </a:prstGeom>
          <a:noFill/>
          <a:ln/>
        </p:spPr>
        <p:txBody>
          <a:bodyPr wrap="square" lIns="0" tIns="0" rIns="0" bIns="0" rtlCol="0" anchor="ctr"/>
          <a:lstStyle/>
          <a:p>
            <a:pPr indent="0" marL="0">
              <a:lnSpc>
                <a:spcPts val="1600"/>
              </a:lnSpc>
              <a:buNone/>
            </a:pPr>
            <a:r>
              <a:rPr lang="en-US" sz="1250" i="1" dirty="0">
                <a:solidFill>
                  <a:srgbClr val="5A6472"/>
                </a:solidFill>
                <a:latin typeface="Calibri" pitchFamily="34" charset="0"/>
                <a:ea typeface="Calibri" pitchFamily="34" charset="-122"/>
                <a:cs typeface="Calibri" pitchFamily="34" charset="-120"/>
              </a:rPr>
              <a:t>Resuelve la compresión multiplicativa: sin normalización, el producto de fracciones era ininterpretable sin una referencia.</a:t>
            </a:r>
            <a:endParaRPr lang="en-US" sz="1250" dirty="0"/>
          </a:p>
        </p:txBody>
      </p:sp>
      <p:sp>
        <p:nvSpPr>
          <p:cNvPr id="35" name="Text 33"/>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VALIDACIÓN DEL MODELO</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Tres etapas de verificación del modelo</a:t>
            </a:r>
            <a:endParaRPr lang="en-US" sz="3100" dirty="0"/>
          </a:p>
        </p:txBody>
      </p:sp>
      <p:sp>
        <p:nvSpPr>
          <p:cNvPr id="4" name="Shape 2"/>
          <p:cNvSpPr/>
          <p:nvPr/>
        </p:nvSpPr>
        <p:spPr>
          <a:xfrm>
            <a:off x="640080" y="1783080"/>
            <a:ext cx="4846320" cy="1243584"/>
          </a:xfrm>
          <a:prstGeom prst="roundRect">
            <a:avLst>
              <a:gd name="adj" fmla="val 5147"/>
            </a:avLst>
          </a:prstGeom>
          <a:solidFill>
            <a:srgbClr val="F4F6F9"/>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5" name="Shape 3"/>
          <p:cNvSpPr/>
          <p:nvPr/>
        </p:nvSpPr>
        <p:spPr>
          <a:xfrm>
            <a:off x="841248" y="2130552"/>
            <a:ext cx="530352" cy="530352"/>
          </a:xfrm>
          <a:prstGeom prst="ellipse">
            <a:avLst/>
          </a:prstGeom>
          <a:solidFill>
            <a:srgbClr val="185FA5"/>
          </a:solidFill>
          <a:ln/>
        </p:spPr>
      </p:sp>
      <p:sp>
        <p:nvSpPr>
          <p:cNvPr id="6" name="Text 4"/>
          <p:cNvSpPr/>
          <p:nvPr/>
        </p:nvSpPr>
        <p:spPr>
          <a:xfrm>
            <a:off x="841248" y="2121408"/>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7" name="Text 5"/>
          <p:cNvSpPr/>
          <p:nvPr/>
        </p:nvSpPr>
        <p:spPr>
          <a:xfrm>
            <a:off x="1536192" y="1901952"/>
            <a:ext cx="3794760" cy="1051560"/>
          </a:xfrm>
          <a:prstGeom prst="rect">
            <a:avLst/>
          </a:prstGeom>
          <a:noFill/>
          <a:ln/>
        </p:spPr>
        <p:txBody>
          <a:bodyPr wrap="square" lIns="0" tIns="0" rIns="0" bIns="0" rtlCol="0" anchor="ctr"/>
          <a:lstStyle/>
          <a:p>
            <a:pPr indent="0" marL="0">
              <a:lnSpc>
                <a:spcPts val="1600"/>
              </a:lnSpc>
              <a:buNone/>
            </a:pPr>
            <a:r>
              <a:rPr lang="en-US" sz="1400" b="1" dirty="0">
                <a:solidFill>
                  <a:srgbClr val="0D2A42"/>
                </a:solidFill>
                <a:latin typeface="Calibri" pitchFamily="34" charset="0"/>
                <a:ea typeface="Calibri" pitchFamily="34" charset="-122"/>
                <a:cs typeface="Calibri" pitchFamily="34" charset="-120"/>
              </a:rPr>
              <a:t>Propiedades lógico-matemáticas</a:t>
            </a:r>
            <a:endParaRPr lang="en-US" sz="1400" dirty="0"/>
          </a:p>
          <a:p>
            <a:pPr indent="0" marL="0">
              <a:lnSpc>
                <a:spcPts val="1600"/>
              </a:lnSpc>
              <a:buNone/>
            </a:pPr>
            <a:r>
              <a:rPr lang="en-US" sz="1180" dirty="0">
                <a:solidFill>
                  <a:srgbClr val="5A6472"/>
                </a:solidFill>
                <a:latin typeface="Calibri" pitchFamily="34" charset="0"/>
                <a:ea typeface="Calibri" pitchFamily="34" charset="-122"/>
                <a:cs typeface="Calibri" pitchFamily="34" charset="-120"/>
              </a:rPr>
              <a:t>Colapso multiplicativo, VE como compuerta, concavidad en CP, rango garantizado.</a:t>
            </a:r>
            <a:endParaRPr lang="en-US" sz="1400" dirty="0"/>
          </a:p>
        </p:txBody>
      </p:sp>
      <p:sp>
        <p:nvSpPr>
          <p:cNvPr id="8" name="Shape 6"/>
          <p:cNvSpPr/>
          <p:nvPr/>
        </p:nvSpPr>
        <p:spPr>
          <a:xfrm>
            <a:off x="640080" y="3172968"/>
            <a:ext cx="4846320" cy="1243584"/>
          </a:xfrm>
          <a:prstGeom prst="roundRect">
            <a:avLst>
              <a:gd name="adj" fmla="val 5147"/>
            </a:avLst>
          </a:prstGeom>
          <a:solidFill>
            <a:srgbClr val="EBF3FB"/>
          </a:solidFill>
          <a:ln w="12700">
            <a:solidFill>
              <a:srgbClr val="185FA5"/>
            </a:solidFill>
            <a:prstDash val="solid"/>
          </a:ln>
          <a:effectLst>
            <a:outerShdw sx="100000" sy="100000" kx="0" ky="0" algn="bl" rotWithShape="0" blurRad="88900" dist="25400" dir="5400000">
              <a:srgbClr val="A8B4C2">
                <a:alpha val="28000"/>
              </a:srgbClr>
            </a:outerShdw>
          </a:effectLst>
        </p:spPr>
      </p:sp>
      <p:sp>
        <p:nvSpPr>
          <p:cNvPr id="9" name="Shape 7"/>
          <p:cNvSpPr/>
          <p:nvPr/>
        </p:nvSpPr>
        <p:spPr>
          <a:xfrm>
            <a:off x="841248" y="3520440"/>
            <a:ext cx="530352" cy="530352"/>
          </a:xfrm>
          <a:prstGeom prst="ellipse">
            <a:avLst/>
          </a:prstGeom>
          <a:solidFill>
            <a:srgbClr val="534AB7"/>
          </a:solidFill>
          <a:ln/>
        </p:spPr>
      </p:sp>
      <p:sp>
        <p:nvSpPr>
          <p:cNvPr id="10" name="Text 8"/>
          <p:cNvSpPr/>
          <p:nvPr/>
        </p:nvSpPr>
        <p:spPr>
          <a:xfrm>
            <a:off x="841248" y="3511296"/>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1" name="Text 9"/>
          <p:cNvSpPr/>
          <p:nvPr/>
        </p:nvSpPr>
        <p:spPr>
          <a:xfrm>
            <a:off x="1536192" y="3291840"/>
            <a:ext cx="3794760" cy="1051560"/>
          </a:xfrm>
          <a:prstGeom prst="rect">
            <a:avLst/>
          </a:prstGeom>
          <a:noFill/>
          <a:ln/>
        </p:spPr>
        <p:txBody>
          <a:bodyPr wrap="square" lIns="0" tIns="0" rIns="0" bIns="0" rtlCol="0" anchor="ctr"/>
          <a:lstStyle/>
          <a:p>
            <a:pPr indent="0" marL="0">
              <a:lnSpc>
                <a:spcPts val="1600"/>
              </a:lnSpc>
              <a:buNone/>
            </a:pPr>
            <a:r>
              <a:rPr lang="en-US" sz="1400" b="1" dirty="0">
                <a:solidFill>
                  <a:srgbClr val="0D2A42"/>
                </a:solidFill>
                <a:latin typeface="Calibri" pitchFamily="34" charset="0"/>
                <a:ea typeface="Calibri" pitchFamily="34" charset="-122"/>
                <a:cs typeface="Calibri" pitchFamily="34" charset="-120"/>
              </a:rPr>
              <a:t>Análisis de sensibilidad (+20%)</a:t>
            </a:r>
            <a:endParaRPr lang="en-US" sz="1400" dirty="0"/>
          </a:p>
          <a:p>
            <a:pPr indent="0" marL="0">
              <a:lnSpc>
                <a:spcPts val="1600"/>
              </a:lnSpc>
              <a:buNone/>
            </a:pPr>
            <a:r>
              <a:rPr lang="en-US" sz="1180" dirty="0">
                <a:solidFill>
                  <a:srgbClr val="5A6472"/>
                </a:solidFill>
                <a:latin typeface="Calibri" pitchFamily="34" charset="0"/>
                <a:ea typeface="Calibri" pitchFamily="34" charset="-122"/>
                <a:cs typeface="Calibri" pitchFamily="34" charset="-120"/>
              </a:rPr>
              <a:t>Elasticidades exactas por variable con parámetros de Colombia (α=0.55; γ=0.70).</a:t>
            </a:r>
            <a:endParaRPr lang="en-US" sz="1400" dirty="0"/>
          </a:p>
        </p:txBody>
      </p:sp>
      <p:sp>
        <p:nvSpPr>
          <p:cNvPr id="12" name="Shape 10"/>
          <p:cNvSpPr/>
          <p:nvPr/>
        </p:nvSpPr>
        <p:spPr>
          <a:xfrm>
            <a:off x="640080" y="4562856"/>
            <a:ext cx="4846320" cy="1243584"/>
          </a:xfrm>
          <a:prstGeom prst="roundRect">
            <a:avLst>
              <a:gd name="adj" fmla="val 5147"/>
            </a:avLst>
          </a:prstGeom>
          <a:solidFill>
            <a:srgbClr val="F4F6F9"/>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3" name="Shape 11"/>
          <p:cNvSpPr/>
          <p:nvPr/>
        </p:nvSpPr>
        <p:spPr>
          <a:xfrm>
            <a:off x="841248" y="4910328"/>
            <a:ext cx="530352" cy="530352"/>
          </a:xfrm>
          <a:prstGeom prst="ellipse">
            <a:avLst/>
          </a:prstGeom>
          <a:solidFill>
            <a:srgbClr val="0F6E56"/>
          </a:solidFill>
          <a:ln/>
        </p:spPr>
      </p:sp>
      <p:sp>
        <p:nvSpPr>
          <p:cNvPr id="14" name="Text 12"/>
          <p:cNvSpPr/>
          <p:nvPr/>
        </p:nvSpPr>
        <p:spPr>
          <a:xfrm>
            <a:off x="841248" y="4901184"/>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
            </a:r>
            <a:endParaRPr lang="en-US" sz="1900" dirty="0"/>
          </a:p>
        </p:txBody>
      </p:sp>
      <p:sp>
        <p:nvSpPr>
          <p:cNvPr id="15" name="Text 13"/>
          <p:cNvSpPr/>
          <p:nvPr/>
        </p:nvSpPr>
        <p:spPr>
          <a:xfrm>
            <a:off x="1536192" y="4681728"/>
            <a:ext cx="3794760" cy="1051560"/>
          </a:xfrm>
          <a:prstGeom prst="rect">
            <a:avLst/>
          </a:prstGeom>
          <a:noFill/>
          <a:ln/>
        </p:spPr>
        <p:txBody>
          <a:bodyPr wrap="square" lIns="0" tIns="0" rIns="0" bIns="0" rtlCol="0" anchor="ctr"/>
          <a:lstStyle/>
          <a:p>
            <a:pPr indent="0" marL="0">
              <a:lnSpc>
                <a:spcPts val="1600"/>
              </a:lnSpc>
              <a:buNone/>
            </a:pPr>
            <a:r>
              <a:rPr lang="en-US" sz="1400" b="1" dirty="0">
                <a:solidFill>
                  <a:srgbClr val="0D2A42"/>
                </a:solidFill>
                <a:latin typeface="Calibri" pitchFamily="34" charset="0"/>
                <a:ea typeface="Calibri" pitchFamily="34" charset="-122"/>
                <a:cs typeface="Calibri" pitchFamily="34" charset="-120"/>
              </a:rPr>
              <a:t>Perfiles genéricos</a:t>
            </a:r>
            <a:endParaRPr lang="en-US" sz="1400" dirty="0"/>
          </a:p>
          <a:p>
            <a:pPr indent="0" marL="0">
              <a:lnSpc>
                <a:spcPts val="1600"/>
              </a:lnSpc>
              <a:buNone/>
            </a:pPr>
            <a:r>
              <a:rPr lang="en-US" sz="1180" dirty="0">
                <a:solidFill>
                  <a:srgbClr val="5A6472"/>
                </a:solidFill>
                <a:latin typeface="Calibri" pitchFamily="34" charset="0"/>
                <a:ea typeface="Calibri" pitchFamily="34" charset="-122"/>
                <a:cs typeface="Calibri" pitchFamily="34" charset="-120"/>
              </a:rPr>
              <a:t>Crítico ≈ 0.20 · Referencia ≈ 0.51 · Consolidado ≈ 0.84 — coherentes con la escala.</a:t>
            </a:r>
            <a:endParaRPr lang="en-US" sz="1400" dirty="0"/>
          </a:p>
        </p:txBody>
      </p:sp>
      <p:sp>
        <p:nvSpPr>
          <p:cNvPr id="16" name="Shape 14"/>
          <p:cNvSpPr/>
          <p:nvPr/>
        </p:nvSpPr>
        <p:spPr>
          <a:xfrm>
            <a:off x="5760720" y="1783080"/>
            <a:ext cx="5788152" cy="4160520"/>
          </a:xfrm>
          <a:prstGeom prst="roundRect">
            <a:avLst>
              <a:gd name="adj" fmla="val 1538"/>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7" name="Text 15"/>
          <p:cNvSpPr/>
          <p:nvPr/>
        </p:nvSpPr>
        <p:spPr>
          <a:xfrm>
            <a:off x="6035040" y="1938528"/>
            <a:ext cx="5303520" cy="274320"/>
          </a:xfrm>
          <a:prstGeom prst="rect">
            <a:avLst/>
          </a:prstGeom>
          <a:noFill/>
          <a:ln/>
        </p:spPr>
        <p:txBody>
          <a:bodyPr wrap="square" lIns="0" tIns="0" rIns="0" bIns="0" rtlCol="0" anchor="ctr"/>
          <a:lstStyle/>
          <a:p>
            <a:pPr indent="0" marL="0">
              <a:buNone/>
            </a:pPr>
            <a:r>
              <a:rPr lang="en-US" sz="1300" b="1" dirty="0">
                <a:solidFill>
                  <a:srgbClr val="0D2A42"/>
                </a:solidFill>
                <a:latin typeface="Calibri" pitchFamily="34" charset="0"/>
                <a:ea typeface="Calibri" pitchFamily="34" charset="-122"/>
                <a:cs typeface="Calibri" pitchFamily="34" charset="-120"/>
              </a:rPr>
              <a:t>ΔPM_norm ante una mejora del 20% por variable</a:t>
            </a:r>
            <a:endParaRPr lang="en-US" sz="1300" dirty="0"/>
          </a:p>
        </p:txBody>
      </p:sp>
      <p:graphicFrame>
        <p:nvGraphicFramePr>
          <p:cNvPr id="18" name="Chart 0" descr=""/>
          <p:cNvGraphicFramePr/>
          <p:nvPr/>
        </p:nvGraphicFramePr>
        <p:xfrm>
          <a:off x="5989320" y="2240280"/>
          <a:ext cx="5349240" cy="2880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035040" y="5193792"/>
            <a:ext cx="5257800" cy="685800"/>
          </a:xfrm>
          <a:prstGeom prst="rect">
            <a:avLst/>
          </a:prstGeom>
          <a:noFill/>
          <a:ln/>
        </p:spPr>
        <p:txBody>
          <a:bodyPr wrap="square" lIns="0" tIns="0" rIns="0" bIns="0" rtlCol="0" anchor="ctr"/>
          <a:lstStyle/>
          <a:p>
            <a:pPr indent="0" marL="0">
              <a:lnSpc>
                <a:spcPts val="1450"/>
              </a:lnSpc>
              <a:buNone/>
            </a:pPr>
            <a:r>
              <a:rPr lang="en-US" sz="1130" i="1" dirty="0">
                <a:solidFill>
                  <a:srgbClr val="5A6472"/>
                </a:solidFill>
                <a:latin typeface="Calibri" pitchFamily="34" charset="0"/>
                <a:ea typeface="Calibri" pitchFamily="34" charset="-122"/>
                <a:cs typeface="Calibri" pitchFamily="34" charset="-120"/>
              </a:rPr>
              <a:t>Los factores de peso directo comparten la elasticidad máxima; los exponentes γ y α amortiguan a SM y CP. La prioridad del CP no está en su elasticidad puntual — está en su brecha, su concavidad y su transversalidad.</a:t>
            </a:r>
            <a:endParaRPr lang="en-US" sz="1130" dirty="0"/>
          </a:p>
        </p:txBody>
      </p:sp>
      <p:sp>
        <p:nvSpPr>
          <p:cNvPr id="20" name="Text 17"/>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854F0B"/>
                </a:solidFill>
                <a:latin typeface="Calibri" pitchFamily="34" charset="0"/>
                <a:ea typeface="Calibri" pitchFamily="34" charset="-122"/>
                <a:cs typeface="Calibri" pitchFamily="34" charset="-120"/>
              </a:rPr>
              <a:t>APLICACIÓN ANALÍTICA</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Colombia: el modelo frente a la evidencia</a:t>
            </a:r>
            <a:endParaRPr lang="en-US" sz="3100" dirty="0"/>
          </a:p>
        </p:txBody>
      </p:sp>
      <p:sp>
        <p:nvSpPr>
          <p:cNvPr id="4" name="Shape 2"/>
          <p:cNvSpPr/>
          <p:nvPr/>
        </p:nvSpPr>
        <p:spPr>
          <a:xfrm>
            <a:off x="640080" y="1737360"/>
            <a:ext cx="3977640" cy="4160520"/>
          </a:xfrm>
          <a:prstGeom prst="roundRect">
            <a:avLst>
              <a:gd name="adj" fmla="val 1609"/>
            </a:avLst>
          </a:prstGeom>
          <a:solidFill>
            <a:srgbClr val="0D2A42"/>
          </a:solidFill>
          <a:ln/>
          <a:effectLst>
            <a:outerShdw sx="100000" sy="100000" kx="0" ky="0" algn="bl" rotWithShape="0" blurRad="88900" dist="25400" dir="5400000">
              <a:srgbClr val="A8B4C2">
                <a:alpha val="28000"/>
              </a:srgbClr>
            </a:outerShdw>
          </a:effectLst>
        </p:spPr>
      </p:sp>
      <p:sp>
        <p:nvSpPr>
          <p:cNvPr id="5" name="Text 3"/>
          <p:cNvSpPr/>
          <p:nvPr/>
        </p:nvSpPr>
        <p:spPr>
          <a:xfrm>
            <a:off x="914400" y="2057400"/>
            <a:ext cx="3429000" cy="320040"/>
          </a:xfrm>
          <a:prstGeom prst="rect">
            <a:avLst/>
          </a:prstGeom>
          <a:noFill/>
          <a:ln/>
        </p:spPr>
        <p:txBody>
          <a:bodyPr wrap="square" lIns="0" tIns="0" rIns="0" bIns="0" rtlCol="0" anchor="ctr"/>
          <a:lstStyle/>
          <a:p>
            <a:pPr algn="ctr" indent="0" marL="0">
              <a:buNone/>
            </a:pPr>
            <a:r>
              <a:rPr lang="en-US" sz="1500" b="1" dirty="0">
                <a:solidFill>
                  <a:srgbClr val="7FA8C8"/>
                </a:solidFill>
                <a:latin typeface="Courier New" pitchFamily="34" charset="0"/>
                <a:ea typeface="Courier New" pitchFamily="34" charset="-122"/>
                <a:cs typeface="Courier New" pitchFamily="34" charset="-120"/>
              </a:rPr>
              <a:t>PM_norm</a:t>
            </a:r>
            <a:endParaRPr lang="en-US" sz="1500" dirty="0"/>
          </a:p>
        </p:txBody>
      </p:sp>
      <p:sp>
        <p:nvSpPr>
          <p:cNvPr id="6" name="Text 4"/>
          <p:cNvSpPr/>
          <p:nvPr/>
        </p:nvSpPr>
        <p:spPr>
          <a:xfrm>
            <a:off x="914400" y="2331720"/>
            <a:ext cx="3429000" cy="1143000"/>
          </a:xfrm>
          <a:prstGeom prst="rect">
            <a:avLst/>
          </a:prstGeom>
          <a:noFill/>
          <a:ln/>
        </p:spPr>
        <p:txBody>
          <a:bodyPr wrap="square" lIns="0" tIns="0" rIns="0" bIns="0" rtlCol="0" anchor="ctr"/>
          <a:lstStyle/>
          <a:p>
            <a:pPr algn="ctr" indent="0" marL="0">
              <a:buNone/>
            </a:pPr>
            <a:r>
              <a:rPr lang="en-US" sz="7600" b="1" dirty="0">
                <a:solidFill>
                  <a:srgbClr val="FFFFFF"/>
                </a:solidFill>
                <a:latin typeface="Cambria" pitchFamily="34" charset="0"/>
                <a:ea typeface="Cambria" pitchFamily="34" charset="-122"/>
                <a:cs typeface="Cambria" pitchFamily="34" charset="-120"/>
              </a:rPr>
              <a:t>0.43</a:t>
            </a:r>
            <a:endParaRPr lang="en-US" sz="7600" dirty="0"/>
          </a:p>
        </p:txBody>
      </p:sp>
      <p:sp>
        <p:nvSpPr>
          <p:cNvPr id="7" name="Shape 5"/>
          <p:cNvSpPr/>
          <p:nvPr/>
        </p:nvSpPr>
        <p:spPr>
          <a:xfrm>
            <a:off x="1417320" y="3657600"/>
            <a:ext cx="2423160" cy="457200"/>
          </a:xfrm>
          <a:prstGeom prst="roundRect">
            <a:avLst>
              <a:gd name="adj" fmla="val 14000"/>
            </a:avLst>
          </a:prstGeom>
          <a:solidFill>
            <a:srgbClr val="B98A12"/>
          </a:solidFill>
          <a:ln/>
        </p:spPr>
      </p:sp>
      <p:sp>
        <p:nvSpPr>
          <p:cNvPr id="8" name="Text 6"/>
          <p:cNvSpPr/>
          <p:nvPr/>
        </p:nvSpPr>
        <p:spPr>
          <a:xfrm>
            <a:off x="1417320" y="3648456"/>
            <a:ext cx="242316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NIVEL MODERADO</a:t>
            </a:r>
            <a:endParaRPr lang="en-US" sz="1450" dirty="0"/>
          </a:p>
        </p:txBody>
      </p:sp>
      <p:sp>
        <p:nvSpPr>
          <p:cNvPr id="9" name="Shape 7"/>
          <p:cNvSpPr/>
          <p:nvPr/>
        </p:nvSpPr>
        <p:spPr>
          <a:xfrm>
            <a:off x="1005840" y="4434840"/>
            <a:ext cx="3246120" cy="0"/>
          </a:xfrm>
          <a:prstGeom prst="line">
            <a:avLst/>
          </a:prstGeom>
          <a:noFill/>
          <a:ln w="12700">
            <a:solidFill>
              <a:srgbClr val="2A4A6A"/>
            </a:solidFill>
            <a:prstDash val="solid"/>
          </a:ln>
        </p:spPr>
      </p:sp>
      <p:sp>
        <p:nvSpPr>
          <p:cNvPr id="10" name="Text 8"/>
          <p:cNvSpPr/>
          <p:nvPr/>
        </p:nvSpPr>
        <p:spPr>
          <a:xfrm>
            <a:off x="960120" y="4572000"/>
            <a:ext cx="3364992" cy="1188720"/>
          </a:xfrm>
          <a:prstGeom prst="rect">
            <a:avLst/>
          </a:prstGeom>
          <a:noFill/>
          <a:ln/>
        </p:spPr>
        <p:txBody>
          <a:bodyPr wrap="square" lIns="0" tIns="0" rIns="0" bIns="0" rtlCol="0" anchor="ctr"/>
          <a:lstStyle/>
          <a:p>
            <a:pPr algn="ctr" indent="0" marL="0">
              <a:lnSpc>
                <a:spcPts val="1700"/>
              </a:lnSpc>
              <a:buNone/>
            </a:pPr>
            <a:r>
              <a:rPr lang="en-US" sz="1250" b="1" dirty="0">
                <a:solidFill>
                  <a:srgbClr val="9EC8E4"/>
                </a:solidFill>
                <a:latin typeface="Calibri" pitchFamily="34" charset="0"/>
                <a:ea typeface="Calibri" pitchFamily="34" charset="-122"/>
                <a:cs typeface="Calibri" pitchFamily="34" charset="-120"/>
              </a:rPr>
              <a:t>Anclaje en escala común: </a:t>
            </a:r>
            <a:pPr algn="ctr" indent="0" marL="0">
              <a:lnSpc>
                <a:spcPts val="1700"/>
              </a:lnSpc>
              <a:buNone/>
            </a:pPr>
            <a:r>
              <a:rPr lang="en-US" sz="1250" dirty="0">
                <a:solidFill>
                  <a:srgbClr val="C8D8E8"/>
                </a:solidFill>
                <a:latin typeface="Calibri" pitchFamily="34" charset="0"/>
                <a:ea typeface="Calibri" pitchFamily="34" charset="-122"/>
                <a:cs typeface="Calibri" pitchFamily="34" charset="-120"/>
              </a:rPr>
              <a:t>misma escala que el índice 0.44 (posición 33/99) de Vargas Suárez et al. (2021, p. 295); con los mismos insumos, el modelo lo descompone en las cinco variables.</a:t>
            </a:r>
            <a:endParaRPr lang="en-US" sz="1250" dirty="0"/>
          </a:p>
        </p:txBody>
      </p:sp>
      <p:sp>
        <p:nvSpPr>
          <p:cNvPr id="11" name="Shape 9"/>
          <p:cNvSpPr/>
          <p:nvPr/>
        </p:nvSpPr>
        <p:spPr>
          <a:xfrm>
            <a:off x="4846320" y="1737360"/>
            <a:ext cx="6702552" cy="4160520"/>
          </a:xfrm>
          <a:prstGeom prst="roundRect">
            <a:avLst>
              <a:gd name="adj" fmla="val 1538"/>
            </a:avLst>
          </a:prstGeom>
          <a:solidFill>
            <a:srgbClr val="FFFFFF"/>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12" name="Text 10"/>
          <p:cNvSpPr/>
          <p:nvPr/>
        </p:nvSpPr>
        <p:spPr>
          <a:xfrm>
            <a:off x="5120640" y="1901952"/>
            <a:ext cx="6126480" cy="274320"/>
          </a:xfrm>
          <a:prstGeom prst="rect">
            <a:avLst/>
          </a:prstGeom>
          <a:noFill/>
          <a:ln/>
        </p:spPr>
        <p:txBody>
          <a:bodyPr wrap="square" lIns="0" tIns="0" rIns="0" bIns="0" rtlCol="0" anchor="ctr"/>
          <a:lstStyle/>
          <a:p>
            <a:pPr indent="0" marL="0">
              <a:buNone/>
            </a:pPr>
            <a:r>
              <a:rPr lang="en-US" sz="1300" b="1" dirty="0">
                <a:solidFill>
                  <a:srgbClr val="0D2A42"/>
                </a:solidFill>
                <a:latin typeface="Calibri" pitchFamily="34" charset="0"/>
                <a:ea typeface="Calibri" pitchFamily="34" charset="-122"/>
                <a:cs typeface="Calibri" pitchFamily="34" charset="-120"/>
              </a:rPr>
              <a:t>Perfil por componente — valores de referencia</a:t>
            </a:r>
            <a:endParaRPr lang="en-US" sz="1300" dirty="0"/>
          </a:p>
        </p:txBody>
      </p:sp>
      <p:graphicFrame>
        <p:nvGraphicFramePr>
          <p:cNvPr id="13" name="Chart 0" descr=""/>
          <p:cNvGraphicFramePr/>
          <p:nvPr/>
        </p:nvGraphicFramePr>
        <p:xfrm>
          <a:off x="5074920" y="2212848"/>
          <a:ext cx="6263640" cy="27432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5120640" y="5029200"/>
            <a:ext cx="6172200" cy="777240"/>
          </a:xfrm>
          <a:prstGeom prst="rect">
            <a:avLst/>
          </a:prstGeom>
          <a:noFill/>
          <a:ln/>
        </p:spPr>
        <p:txBody>
          <a:bodyPr wrap="square" lIns="0" tIns="0" rIns="0" bIns="0" rtlCol="0" anchor="ctr"/>
          <a:lstStyle/>
          <a:p>
            <a:pPr indent="0" marL="0">
              <a:lnSpc>
                <a:spcPts val="1600"/>
              </a:lnSpc>
              <a:buNone/>
            </a:pPr>
            <a:r>
              <a:rPr lang="en-US" sz="1230" b="1" dirty="0">
                <a:solidFill>
                  <a:srgbClr val="0F6E56"/>
                </a:solidFill>
                <a:latin typeface="Calibri" pitchFamily="34" charset="0"/>
                <a:ea typeface="Calibri" pitchFamily="34" charset="-122"/>
                <a:cs typeface="Calibri" pitchFamily="34" charset="-120"/>
              </a:rPr>
              <a:t>Fortalezas: </a:t>
            </a:r>
            <a:pPr indent="0" marL="0">
              <a:lnSpc>
                <a:spcPts val="1600"/>
              </a:lnSpc>
              <a:buNone/>
            </a:pPr>
            <a:r>
              <a:rPr lang="en-US" sz="1230" dirty="0">
                <a:solidFill>
                  <a:srgbClr val="5A6472"/>
                </a:solidFill>
                <a:latin typeface="Calibri" pitchFamily="34" charset="0"/>
                <a:ea typeface="Calibri" pitchFamily="34" charset="-122"/>
                <a:cs typeface="Calibri" pitchFamily="34" charset="-120"/>
              </a:rPr>
              <a:t>IM altos (bioceánico, 13 IM) y SM con interdicción efectiva.  </a:t>
            </a:r>
            <a:pPr indent="0" marL="0">
              <a:lnSpc>
                <a:spcPts val="1600"/>
              </a:lnSpc>
              <a:buNone/>
            </a:pPr>
            <a:r>
              <a:rPr lang="en-US" sz="1230" b="1" dirty="0">
                <a:solidFill>
                  <a:srgbClr val="993C1D"/>
                </a:solidFill>
                <a:latin typeface="Calibri" pitchFamily="34" charset="0"/>
                <a:ea typeface="Calibri" pitchFamily="34" charset="-122"/>
                <a:cs typeface="Calibri" pitchFamily="34" charset="-120"/>
              </a:rPr>
              <a:t>Brechas: </a:t>
            </a:r>
            <a:pPr indent="0" marL="0">
              <a:lnSpc>
                <a:spcPts val="1600"/>
              </a:lnSpc>
              <a:buNone/>
            </a:pPr>
            <a:r>
              <a:rPr lang="en-US" sz="1230" dirty="0">
                <a:solidFill>
                  <a:srgbClr val="5A6472"/>
                </a:solidFill>
                <a:latin typeface="Calibri" pitchFamily="34" charset="0"/>
                <a:ea typeface="Calibri" pitchFamily="34" charset="-122"/>
                <a:cs typeface="Calibri" pitchFamily="34" charset="-120"/>
              </a:rPr>
              <a:t>VE limitada por la voluntad social (conciencia marítima) y CP con el menor valor del sistema.</a:t>
            </a:r>
            <a:endParaRPr lang="en-US" sz="1230" dirty="0"/>
          </a:p>
        </p:txBody>
      </p:sp>
      <p:sp>
        <p:nvSpPr>
          <p:cNvPr id="15" name="Text 12"/>
          <p:cNvSpPr/>
          <p:nvPr/>
        </p:nvSpPr>
        <p:spPr>
          <a:xfrm>
            <a:off x="640080" y="6108192"/>
            <a:ext cx="10972800" cy="347472"/>
          </a:xfrm>
          <a:prstGeom prst="rect">
            <a:avLst/>
          </a:prstGeom>
          <a:noFill/>
          <a:ln/>
        </p:spPr>
        <p:txBody>
          <a:bodyPr wrap="square" lIns="0" tIns="0" rIns="0" bIns="0" rtlCol="0" anchor="ctr"/>
          <a:lstStyle/>
          <a:p>
            <a:pPr algn="ctr" indent="0" marL="0">
              <a:buNone/>
            </a:pPr>
            <a:r>
              <a:rPr lang="en-US" sz="1350" i="1" dirty="0">
                <a:solidFill>
                  <a:srgbClr val="0D2A42"/>
                </a:solidFill>
                <a:latin typeface="Calibri" pitchFamily="34" charset="0"/>
                <a:ea typeface="Calibri" pitchFamily="34" charset="-122"/>
                <a:cs typeface="Calibri" pitchFamily="34" charset="-120"/>
              </a:rPr>
              <a:t>Trayecto estratégico: del nivel Moderado (0.43) al Significativo (≥ 0.61) — priorizando SM y CP, las variables con mayor brecha relativa.</a:t>
            </a:r>
            <a:endParaRPr lang="en-US" sz="1350" dirty="0"/>
          </a:p>
        </p:txBody>
      </p:sp>
      <p:sp>
        <p:nvSpPr>
          <p:cNvPr id="16" name="Text 13"/>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993C1D"/>
                </a:solidFill>
                <a:latin typeface="Calibri" pitchFamily="34" charset="0"/>
                <a:ea typeface="Calibri" pitchFamily="34" charset="-122"/>
                <a:cs typeface="Calibri" pitchFamily="34" charset="-120"/>
              </a:rPr>
              <a:t>IMPLICACIÓN ESTRATÉGICA</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El Ciberpoder: el vector de inversión más eficiente</a:t>
            </a:r>
            <a:endParaRPr lang="en-US" sz="3100" dirty="0"/>
          </a:p>
        </p:txBody>
      </p:sp>
      <p:sp>
        <p:nvSpPr>
          <p:cNvPr id="4" name="Text 2"/>
          <p:cNvSpPr/>
          <p:nvPr/>
        </p:nvSpPr>
        <p:spPr>
          <a:xfrm>
            <a:off x="640080" y="1572768"/>
            <a:ext cx="10972800" cy="365760"/>
          </a:xfrm>
          <a:prstGeom prst="rect">
            <a:avLst/>
          </a:prstGeom>
          <a:noFill/>
          <a:ln/>
        </p:spPr>
        <p:txBody>
          <a:bodyPr wrap="square" lIns="0" tIns="0" rIns="0" bIns="0" rtlCol="0" anchor="ctr"/>
          <a:lstStyle/>
          <a:p>
            <a:pPr indent="0" marL="0">
              <a:buNone/>
            </a:pPr>
            <a:r>
              <a:rPr lang="en-US" sz="1600" dirty="0">
                <a:solidFill>
                  <a:srgbClr val="5A6472"/>
                </a:solidFill>
                <a:latin typeface="Calibri" pitchFamily="34" charset="0"/>
                <a:ea typeface="Calibri" pitchFamily="34" charset="-122"/>
                <a:cs typeface="Calibri" pitchFamily="34" charset="-120"/>
              </a:rPr>
              <a:t>No por su elasticidad puntual — por tres propiedades convergentes:</a:t>
            </a:r>
            <a:endParaRPr lang="en-US" sz="1600" dirty="0"/>
          </a:p>
        </p:txBody>
      </p:sp>
      <p:sp>
        <p:nvSpPr>
          <p:cNvPr id="5" name="Shape 3"/>
          <p:cNvSpPr/>
          <p:nvPr/>
        </p:nvSpPr>
        <p:spPr>
          <a:xfrm>
            <a:off x="640080" y="2103120"/>
            <a:ext cx="3584448" cy="2514600"/>
          </a:xfrm>
          <a:prstGeom prst="roundRect">
            <a:avLst>
              <a:gd name="adj" fmla="val 2545"/>
            </a:avLst>
          </a:prstGeom>
          <a:solidFill>
            <a:srgbClr val="FAECE7"/>
          </a:solidFill>
          <a:ln w="12700">
            <a:solidFill>
              <a:srgbClr val="993C1D"/>
            </a:solidFill>
            <a:prstDash val="solid"/>
          </a:ln>
          <a:effectLst>
            <a:outerShdw sx="100000" sy="100000" kx="0" ky="0" algn="bl" rotWithShape="0" blurRad="88900" dist="25400" dir="5400000">
              <a:srgbClr val="A8B4C2">
                <a:alpha val="28000"/>
              </a:srgbClr>
            </a:outerShdw>
          </a:effectLst>
        </p:spPr>
      </p:sp>
      <p:sp>
        <p:nvSpPr>
          <p:cNvPr id="6" name="Shape 4"/>
          <p:cNvSpPr/>
          <p:nvPr/>
        </p:nvSpPr>
        <p:spPr>
          <a:xfrm>
            <a:off x="877824" y="2340864"/>
            <a:ext cx="603504" cy="603504"/>
          </a:xfrm>
          <a:prstGeom prst="ellipse">
            <a:avLst/>
          </a:prstGeom>
          <a:solidFill>
            <a:srgbClr val="993C1D"/>
          </a:solidFill>
          <a:ln/>
        </p:spPr>
      </p:sp>
      <p:pic>
        <p:nvPicPr>
          <p:cNvPr id="7" name="Image 0" descr="preencoded.png">    </p:cNvPr>
          <p:cNvPicPr>
            <a:picLocks noChangeAspect="1"/>
          </p:cNvPicPr>
          <p:nvPr/>
        </p:nvPicPr>
        <p:blipFill>
          <a:blip r:embed="rId1"/>
          <a:stretch>
            <a:fillRect/>
          </a:stretch>
        </p:blipFill>
        <p:spPr>
          <a:xfrm>
            <a:off x="1022665" y="2485705"/>
            <a:ext cx="313822" cy="313822"/>
          </a:xfrm>
          <a:prstGeom prst="rect">
            <a:avLst/>
          </a:prstGeom>
        </p:spPr>
      </p:pic>
      <p:sp>
        <p:nvSpPr>
          <p:cNvPr id="8" name="Text 5"/>
          <p:cNvSpPr/>
          <p:nvPr/>
        </p:nvSpPr>
        <p:spPr>
          <a:xfrm>
            <a:off x="1627632" y="2395728"/>
            <a:ext cx="2395728" cy="548640"/>
          </a:xfrm>
          <a:prstGeom prst="rect">
            <a:avLst/>
          </a:prstGeom>
          <a:noFill/>
          <a:ln/>
        </p:spPr>
        <p:txBody>
          <a:bodyPr wrap="square" lIns="0" tIns="0" rIns="0" bIns="0" rtlCol="0" anchor="ctr"/>
          <a:lstStyle/>
          <a:p>
            <a:pPr indent="0" marL="0">
              <a:lnSpc>
                <a:spcPts val="2000"/>
              </a:lnSpc>
              <a:buNone/>
            </a:pPr>
            <a:r>
              <a:rPr lang="en-US" sz="1700" b="1" dirty="0">
                <a:solidFill>
                  <a:srgbClr val="0D2A42"/>
                </a:solidFill>
                <a:latin typeface="Calibri" pitchFamily="34" charset="0"/>
                <a:ea typeface="Calibri" pitchFamily="34" charset="-122"/>
                <a:cs typeface="Calibri" pitchFamily="34" charset="-120"/>
              </a:rPr>
              <a:t>Brecha</a:t>
            </a:r>
            <a:endParaRPr lang="en-US" sz="1700" dirty="0"/>
          </a:p>
        </p:txBody>
      </p:sp>
      <p:sp>
        <p:nvSpPr>
          <p:cNvPr id="9" name="Text 6"/>
          <p:cNvSpPr/>
          <p:nvPr/>
        </p:nvSpPr>
        <p:spPr>
          <a:xfrm>
            <a:off x="896112" y="3127248"/>
            <a:ext cx="3072384" cy="1371600"/>
          </a:xfrm>
          <a:prstGeom prst="rect">
            <a:avLst/>
          </a:prstGeom>
          <a:noFill/>
          <a:ln/>
        </p:spPr>
        <p:txBody>
          <a:bodyPr wrap="square" lIns="0" tIns="0" rIns="0" bIns="0" rtlCol="0" anchor="ctr"/>
          <a:lstStyle/>
          <a:p>
            <a:pPr indent="0" marL="0">
              <a:lnSpc>
                <a:spcPts val="1750"/>
              </a:lnSpc>
              <a:buNone/>
            </a:pPr>
            <a:r>
              <a:rPr lang="en-US" sz="1280" dirty="0">
                <a:solidFill>
                  <a:srgbClr val="1A1A1A"/>
                </a:solidFill>
                <a:latin typeface="Calibri" pitchFamily="34" charset="0"/>
                <a:ea typeface="Calibri" pitchFamily="34" charset="-122"/>
                <a:cs typeface="Calibri" pitchFamily="34" charset="-120"/>
              </a:rPr>
              <a:t>El valor base más bajo del sistema colombiano (0.40) — el mayor margen absoluto de mejora disponible.</a:t>
            </a:r>
            <a:endParaRPr lang="en-US" sz="1280" dirty="0"/>
          </a:p>
        </p:txBody>
      </p:sp>
      <p:sp>
        <p:nvSpPr>
          <p:cNvPr id="10" name="Shape 7"/>
          <p:cNvSpPr/>
          <p:nvPr/>
        </p:nvSpPr>
        <p:spPr>
          <a:xfrm>
            <a:off x="4343400" y="2103120"/>
            <a:ext cx="3584448" cy="2514600"/>
          </a:xfrm>
          <a:prstGeom prst="roundRect">
            <a:avLst>
              <a:gd name="adj" fmla="val 2545"/>
            </a:avLst>
          </a:prstGeom>
          <a:solidFill>
            <a:srgbClr val="FEF4E4"/>
          </a:solidFill>
          <a:ln w="12700">
            <a:solidFill>
              <a:srgbClr val="854F0B"/>
            </a:solidFill>
            <a:prstDash val="solid"/>
          </a:ln>
          <a:effectLst>
            <a:outerShdw sx="100000" sy="100000" kx="0" ky="0" algn="bl" rotWithShape="0" blurRad="88900" dist="25400" dir="5400000">
              <a:srgbClr val="A8B4C2">
                <a:alpha val="28000"/>
              </a:srgbClr>
            </a:outerShdw>
          </a:effectLst>
        </p:spPr>
      </p:sp>
      <p:sp>
        <p:nvSpPr>
          <p:cNvPr id="11" name="Shape 8"/>
          <p:cNvSpPr/>
          <p:nvPr/>
        </p:nvSpPr>
        <p:spPr>
          <a:xfrm>
            <a:off x="4581144" y="2340864"/>
            <a:ext cx="603504" cy="603504"/>
          </a:xfrm>
          <a:prstGeom prst="ellipse">
            <a:avLst/>
          </a:prstGeom>
          <a:solidFill>
            <a:srgbClr val="854F0B"/>
          </a:solidFill>
          <a:ln/>
        </p:spPr>
      </p:sp>
      <p:pic>
        <p:nvPicPr>
          <p:cNvPr id="12" name="Image 1" descr="preencoded.png">    </p:cNvPr>
          <p:cNvPicPr>
            <a:picLocks noChangeAspect="1"/>
          </p:cNvPicPr>
          <p:nvPr/>
        </p:nvPicPr>
        <p:blipFill>
          <a:blip r:embed="rId2"/>
          <a:stretch>
            <a:fillRect/>
          </a:stretch>
        </p:blipFill>
        <p:spPr>
          <a:xfrm>
            <a:off x="4725985" y="2485705"/>
            <a:ext cx="313822" cy="313822"/>
          </a:xfrm>
          <a:prstGeom prst="rect">
            <a:avLst/>
          </a:prstGeom>
        </p:spPr>
      </p:pic>
      <p:sp>
        <p:nvSpPr>
          <p:cNvPr id="13" name="Text 9"/>
          <p:cNvSpPr/>
          <p:nvPr/>
        </p:nvSpPr>
        <p:spPr>
          <a:xfrm>
            <a:off x="5330952" y="2395728"/>
            <a:ext cx="2395728" cy="548640"/>
          </a:xfrm>
          <a:prstGeom prst="rect">
            <a:avLst/>
          </a:prstGeom>
          <a:noFill/>
          <a:ln/>
        </p:spPr>
        <p:txBody>
          <a:bodyPr wrap="square" lIns="0" tIns="0" rIns="0" bIns="0" rtlCol="0" anchor="ctr"/>
          <a:lstStyle/>
          <a:p>
            <a:pPr indent="0" marL="0">
              <a:lnSpc>
                <a:spcPts val="2000"/>
              </a:lnSpc>
              <a:buNone/>
            </a:pPr>
            <a:r>
              <a:rPr lang="en-US" sz="1700" b="1" dirty="0">
                <a:solidFill>
                  <a:srgbClr val="0D2A42"/>
                </a:solidFill>
                <a:latin typeface="Calibri" pitchFamily="34" charset="0"/>
                <a:ea typeface="Calibri" pitchFamily="34" charset="-122"/>
                <a:cs typeface="Calibri" pitchFamily="34" charset="-120"/>
              </a:rPr>
              <a:t>Concavidad (α &lt; 1)</a:t>
            </a:r>
            <a:endParaRPr lang="en-US" sz="1700" dirty="0"/>
          </a:p>
        </p:txBody>
      </p:sp>
      <p:sp>
        <p:nvSpPr>
          <p:cNvPr id="14" name="Text 10"/>
          <p:cNvSpPr/>
          <p:nvPr/>
        </p:nvSpPr>
        <p:spPr>
          <a:xfrm>
            <a:off x="4599432" y="3127248"/>
            <a:ext cx="3072384" cy="1371600"/>
          </a:xfrm>
          <a:prstGeom prst="rect">
            <a:avLst/>
          </a:prstGeom>
          <a:noFill/>
          <a:ln/>
        </p:spPr>
        <p:txBody>
          <a:bodyPr wrap="square" lIns="0" tIns="0" rIns="0" bIns="0" rtlCol="0" anchor="ctr"/>
          <a:lstStyle/>
          <a:p>
            <a:pPr indent="0" marL="0">
              <a:lnSpc>
                <a:spcPts val="1750"/>
              </a:lnSpc>
              <a:buNone/>
            </a:pPr>
            <a:r>
              <a:rPr lang="en-US" sz="1280" dirty="0">
                <a:solidFill>
                  <a:srgbClr val="1A1A1A"/>
                </a:solidFill>
                <a:latin typeface="Calibri" pitchFamily="34" charset="0"/>
                <a:ea typeface="Calibri" pitchFamily="34" charset="-122"/>
                <a:cs typeface="Calibri" pitchFamily="34" charset="-120"/>
              </a:rPr>
              <a:t>Los retornos más altos se concentran en los niveles iniciales de madurez cibernética: las primeras inversiones rinden proporcionalmente más.</a:t>
            </a:r>
            <a:endParaRPr lang="en-US" sz="1280" dirty="0"/>
          </a:p>
        </p:txBody>
      </p:sp>
      <p:sp>
        <p:nvSpPr>
          <p:cNvPr id="15" name="Shape 11"/>
          <p:cNvSpPr/>
          <p:nvPr/>
        </p:nvSpPr>
        <p:spPr>
          <a:xfrm>
            <a:off x="8046720" y="2103120"/>
            <a:ext cx="3584448" cy="2514600"/>
          </a:xfrm>
          <a:prstGeom prst="roundRect">
            <a:avLst>
              <a:gd name="adj" fmla="val 2545"/>
            </a:avLst>
          </a:prstGeom>
          <a:solidFill>
            <a:srgbClr val="EEEDFE"/>
          </a:solidFill>
          <a:ln w="12700">
            <a:solidFill>
              <a:srgbClr val="534AB7"/>
            </a:solidFill>
            <a:prstDash val="solid"/>
          </a:ln>
          <a:effectLst>
            <a:outerShdw sx="100000" sy="100000" kx="0" ky="0" algn="bl" rotWithShape="0" blurRad="88900" dist="25400" dir="5400000">
              <a:srgbClr val="A8B4C2">
                <a:alpha val="28000"/>
              </a:srgbClr>
            </a:outerShdw>
          </a:effectLst>
        </p:spPr>
      </p:sp>
      <p:sp>
        <p:nvSpPr>
          <p:cNvPr id="16" name="Shape 12"/>
          <p:cNvSpPr/>
          <p:nvPr/>
        </p:nvSpPr>
        <p:spPr>
          <a:xfrm>
            <a:off x="8284464" y="2340864"/>
            <a:ext cx="603504" cy="603504"/>
          </a:xfrm>
          <a:prstGeom prst="ellipse">
            <a:avLst/>
          </a:prstGeom>
          <a:solidFill>
            <a:srgbClr val="534AB7"/>
          </a:solidFill>
          <a:ln/>
        </p:spPr>
      </p:sp>
      <p:pic>
        <p:nvPicPr>
          <p:cNvPr id="17" name="Image 2" descr="preencoded.png">    </p:cNvPr>
          <p:cNvPicPr>
            <a:picLocks noChangeAspect="1"/>
          </p:cNvPicPr>
          <p:nvPr/>
        </p:nvPicPr>
        <p:blipFill>
          <a:blip r:embed="rId3"/>
          <a:stretch>
            <a:fillRect/>
          </a:stretch>
        </p:blipFill>
        <p:spPr>
          <a:xfrm>
            <a:off x="8429305" y="2485705"/>
            <a:ext cx="313822" cy="313822"/>
          </a:xfrm>
          <a:prstGeom prst="rect">
            <a:avLst/>
          </a:prstGeom>
        </p:spPr>
      </p:pic>
      <p:sp>
        <p:nvSpPr>
          <p:cNvPr id="18" name="Text 13"/>
          <p:cNvSpPr/>
          <p:nvPr/>
        </p:nvSpPr>
        <p:spPr>
          <a:xfrm>
            <a:off x="9034272" y="2395728"/>
            <a:ext cx="2395728" cy="548640"/>
          </a:xfrm>
          <a:prstGeom prst="rect">
            <a:avLst/>
          </a:prstGeom>
          <a:noFill/>
          <a:ln/>
        </p:spPr>
        <p:txBody>
          <a:bodyPr wrap="square" lIns="0" tIns="0" rIns="0" bIns="0" rtlCol="0" anchor="ctr"/>
          <a:lstStyle/>
          <a:p>
            <a:pPr indent="0" marL="0">
              <a:lnSpc>
                <a:spcPts val="2000"/>
              </a:lnSpc>
              <a:buNone/>
            </a:pPr>
            <a:r>
              <a:rPr lang="en-US" sz="1700" b="1" dirty="0">
                <a:solidFill>
                  <a:srgbClr val="0D2A42"/>
                </a:solidFill>
                <a:latin typeface="Calibri" pitchFamily="34" charset="0"/>
                <a:ea typeface="Calibri" pitchFamily="34" charset="-122"/>
                <a:cs typeface="Calibri" pitchFamily="34" charset="-120"/>
              </a:rPr>
              <a:t>Transversalidad</a:t>
            </a:r>
            <a:endParaRPr lang="en-US" sz="1700" dirty="0"/>
          </a:p>
        </p:txBody>
      </p:sp>
      <p:sp>
        <p:nvSpPr>
          <p:cNvPr id="19" name="Text 14"/>
          <p:cNvSpPr/>
          <p:nvPr/>
        </p:nvSpPr>
        <p:spPr>
          <a:xfrm>
            <a:off x="8302752" y="3127248"/>
            <a:ext cx="3072384" cy="1371600"/>
          </a:xfrm>
          <a:prstGeom prst="rect">
            <a:avLst/>
          </a:prstGeom>
          <a:noFill/>
          <a:ln/>
        </p:spPr>
        <p:txBody>
          <a:bodyPr wrap="square" lIns="0" tIns="0" rIns="0" bIns="0" rtlCol="0" anchor="ctr"/>
          <a:lstStyle/>
          <a:p>
            <a:pPr indent="0" marL="0">
              <a:lnSpc>
                <a:spcPts val="1750"/>
              </a:lnSpc>
              <a:buNone/>
            </a:pPr>
            <a:r>
              <a:rPr lang="en-US" sz="1280" dirty="0">
                <a:solidFill>
                  <a:srgbClr val="1A1A1A"/>
                </a:solidFill>
                <a:latin typeface="Calibri" pitchFamily="34" charset="0"/>
                <a:ea typeface="Calibri" pitchFamily="34" charset="-122"/>
                <a:cs typeface="Calibri" pitchFamily="34" charset="-120"/>
              </a:rPr>
              <a:t>Es un habilitante del sistema: su degradación compromete simultáneamente la efectividad del PN y de la SM.</a:t>
            </a:r>
            <a:endParaRPr lang="en-US" sz="1280" dirty="0"/>
          </a:p>
        </p:txBody>
      </p:sp>
      <p:sp>
        <p:nvSpPr>
          <p:cNvPr id="20" name="Shape 15"/>
          <p:cNvSpPr/>
          <p:nvPr/>
        </p:nvSpPr>
        <p:spPr>
          <a:xfrm>
            <a:off x="640080" y="4892040"/>
            <a:ext cx="10972800" cy="1143000"/>
          </a:xfrm>
          <a:prstGeom prst="roundRect">
            <a:avLst>
              <a:gd name="adj" fmla="val 5600"/>
            </a:avLst>
          </a:prstGeom>
          <a:solidFill>
            <a:srgbClr val="0D2A42"/>
          </a:solidFill>
          <a:ln/>
          <a:effectLst>
            <a:outerShdw sx="100000" sy="100000" kx="0" ky="0" algn="bl" rotWithShape="0" blurRad="88900" dist="25400" dir="5400000">
              <a:srgbClr val="A8B4C2">
                <a:alpha val="28000"/>
              </a:srgbClr>
            </a:outerShdw>
          </a:effectLst>
        </p:spPr>
      </p:sp>
      <p:sp>
        <p:nvSpPr>
          <p:cNvPr id="21" name="Shape 16"/>
          <p:cNvSpPr/>
          <p:nvPr/>
        </p:nvSpPr>
        <p:spPr>
          <a:xfrm>
            <a:off x="932688" y="5166360"/>
            <a:ext cx="585216" cy="585216"/>
          </a:xfrm>
          <a:prstGeom prst="ellipse">
            <a:avLst/>
          </a:prstGeom>
          <a:solidFill>
            <a:srgbClr val="2A4A6A"/>
          </a:solidFill>
          <a:ln/>
        </p:spPr>
      </p:sp>
      <p:pic>
        <p:nvPicPr>
          <p:cNvPr id="22" name="Image 3" descr="preencoded.png">    </p:cNvPr>
          <p:cNvPicPr>
            <a:picLocks noChangeAspect="1"/>
          </p:cNvPicPr>
          <p:nvPr/>
        </p:nvPicPr>
        <p:blipFill>
          <a:blip r:embed="rId4"/>
          <a:stretch>
            <a:fillRect/>
          </a:stretch>
        </p:blipFill>
        <p:spPr>
          <a:xfrm>
            <a:off x="1073140" y="5306812"/>
            <a:ext cx="304312" cy="304312"/>
          </a:xfrm>
          <a:prstGeom prst="rect">
            <a:avLst/>
          </a:prstGeom>
        </p:spPr>
      </p:pic>
      <p:sp>
        <p:nvSpPr>
          <p:cNvPr id="23" name="Text 17"/>
          <p:cNvSpPr/>
          <p:nvPr/>
        </p:nvSpPr>
        <p:spPr>
          <a:xfrm>
            <a:off x="1737360" y="5047488"/>
            <a:ext cx="9601200" cy="868680"/>
          </a:xfrm>
          <a:prstGeom prst="rect">
            <a:avLst/>
          </a:prstGeom>
          <a:noFill/>
          <a:ln/>
        </p:spPr>
        <p:txBody>
          <a:bodyPr wrap="square" lIns="0" tIns="0" rIns="0" bIns="0" rtlCol="0" anchor="ctr"/>
          <a:lstStyle/>
          <a:p>
            <a:pPr indent="0" marL="0">
              <a:lnSpc>
                <a:spcPts val="2000"/>
              </a:lnSpc>
              <a:buNone/>
            </a:pPr>
            <a:r>
              <a:rPr lang="en-US" sz="1450" b="1" dirty="0">
                <a:solidFill>
                  <a:srgbClr val="9EC8E4"/>
                </a:solidFill>
                <a:latin typeface="Calibri" pitchFamily="34" charset="0"/>
                <a:ea typeface="Calibri" pitchFamily="34" charset="-122"/>
                <a:cs typeface="Calibri" pitchFamily="34" charset="-120"/>
              </a:rPr>
              <a:t>A ello se suma la asimetría de costo y tiempo:  </a:t>
            </a:r>
            <a:pPr indent="0" marL="0">
              <a:lnSpc>
                <a:spcPts val="2000"/>
              </a:lnSpc>
              <a:buNone/>
            </a:pPr>
            <a:r>
              <a:rPr lang="en-US" sz="1450" dirty="0">
                <a:solidFill>
                  <a:srgbClr val="C8D8E8"/>
                </a:solidFill>
                <a:latin typeface="Calibri" pitchFamily="34" charset="0"/>
                <a:ea typeface="Calibri" pitchFamily="34" charset="-122"/>
                <a:cs typeface="Calibri" pitchFamily="34" charset="-120"/>
              </a:rPr>
              <a:t>elevar el CP es viable en horizontes de planeamiento cortos; transformar los IM o el PN exige décadas e inversiones de otro orden de magnitud.</a:t>
            </a:r>
            <a:endParaRPr lang="en-US" sz="1450" dirty="0"/>
          </a:p>
        </p:txBody>
      </p:sp>
      <p:sp>
        <p:nvSpPr>
          <p:cNvPr id="24" name="Text 18"/>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DISCUSIÓN</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Cinco contribuciones originales</a:t>
            </a:r>
            <a:endParaRPr lang="en-US" sz="3100" dirty="0"/>
          </a:p>
        </p:txBody>
      </p:sp>
      <p:sp>
        <p:nvSpPr>
          <p:cNvPr id="4" name="Shape 2"/>
          <p:cNvSpPr/>
          <p:nvPr/>
        </p:nvSpPr>
        <p:spPr>
          <a:xfrm>
            <a:off x="640080" y="1755648"/>
            <a:ext cx="10972800" cy="768096"/>
          </a:xfrm>
          <a:prstGeom prst="roundRect">
            <a:avLst>
              <a:gd name="adj" fmla="val 7143"/>
            </a:avLst>
          </a:prstGeom>
          <a:solidFill>
            <a:srgbClr val="FFFFFF"/>
          </a:solidFill>
          <a:ln w="12700">
            <a:solidFill>
              <a:srgbClr val="D8DEE6"/>
            </a:solidFill>
            <a:prstDash val="solid"/>
          </a:ln>
        </p:spPr>
      </p:sp>
      <p:sp>
        <p:nvSpPr>
          <p:cNvPr id="5" name="Shape 3"/>
          <p:cNvSpPr/>
          <p:nvPr/>
        </p:nvSpPr>
        <p:spPr>
          <a:xfrm>
            <a:off x="841248" y="1892808"/>
            <a:ext cx="493776" cy="493776"/>
          </a:xfrm>
          <a:prstGeom prst="ellipse">
            <a:avLst/>
          </a:prstGeom>
          <a:solidFill>
            <a:srgbClr val="993C1D"/>
          </a:solidFill>
          <a:ln/>
        </p:spPr>
      </p:sp>
      <p:sp>
        <p:nvSpPr>
          <p:cNvPr id="6" name="Text 4"/>
          <p:cNvSpPr/>
          <p:nvPr/>
        </p:nvSpPr>
        <p:spPr>
          <a:xfrm>
            <a:off x="841248" y="188366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36192" y="1755648"/>
            <a:ext cx="4480560" cy="768096"/>
          </a:xfrm>
          <a:prstGeom prst="rect">
            <a:avLst/>
          </a:prstGeom>
          <a:noFill/>
          <a:ln/>
        </p:spPr>
        <p:txBody>
          <a:bodyPr wrap="square" lIns="0" tIns="0" rIns="0" bIns="0" rtlCol="0" anchor="ctr"/>
          <a:lstStyle/>
          <a:p>
            <a:pPr indent="0" marL="0">
              <a:lnSpc>
                <a:spcPts val="1700"/>
              </a:lnSpc>
              <a:buNone/>
            </a:pPr>
            <a:r>
              <a:rPr lang="en-US" sz="1450" b="1" dirty="0">
                <a:solidFill>
                  <a:srgbClr val="0D2A42"/>
                </a:solidFill>
                <a:latin typeface="Calibri" pitchFamily="34" charset="0"/>
                <a:ea typeface="Calibri" pitchFamily="34" charset="-122"/>
                <a:cs typeface="Calibri" pitchFamily="34" charset="-120"/>
              </a:rPr>
              <a:t>El CP como variable estructural del PM</a:t>
            </a:r>
            <a:endParaRPr lang="en-US" sz="1450" dirty="0"/>
          </a:p>
        </p:txBody>
      </p:sp>
      <p:sp>
        <p:nvSpPr>
          <p:cNvPr id="8" name="Text 6"/>
          <p:cNvSpPr/>
          <p:nvPr/>
        </p:nvSpPr>
        <p:spPr>
          <a:xfrm>
            <a:off x="6126480" y="1755648"/>
            <a:ext cx="5349240" cy="76809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Primera formalización en la literatura hispanohablante — con alcance teórico internacional.</a:t>
            </a:r>
            <a:endParaRPr lang="en-US" sz="1250" dirty="0"/>
          </a:p>
        </p:txBody>
      </p:sp>
      <p:sp>
        <p:nvSpPr>
          <p:cNvPr id="9" name="Shape 7"/>
          <p:cNvSpPr/>
          <p:nvPr/>
        </p:nvSpPr>
        <p:spPr>
          <a:xfrm>
            <a:off x="640080" y="2633472"/>
            <a:ext cx="10972800" cy="768096"/>
          </a:xfrm>
          <a:prstGeom prst="roundRect">
            <a:avLst>
              <a:gd name="adj" fmla="val 7143"/>
            </a:avLst>
          </a:prstGeom>
          <a:solidFill>
            <a:srgbClr val="F4F6F9"/>
          </a:solidFill>
          <a:ln w="12700">
            <a:solidFill>
              <a:srgbClr val="D8DEE6"/>
            </a:solidFill>
            <a:prstDash val="solid"/>
          </a:ln>
        </p:spPr>
      </p:sp>
      <p:sp>
        <p:nvSpPr>
          <p:cNvPr id="10" name="Shape 8"/>
          <p:cNvSpPr/>
          <p:nvPr/>
        </p:nvSpPr>
        <p:spPr>
          <a:xfrm>
            <a:off x="841248" y="2770632"/>
            <a:ext cx="493776" cy="493776"/>
          </a:xfrm>
          <a:prstGeom prst="ellipse">
            <a:avLst/>
          </a:prstGeom>
          <a:solidFill>
            <a:srgbClr val="0F6E56"/>
          </a:solidFill>
          <a:ln/>
        </p:spPr>
      </p:sp>
      <p:sp>
        <p:nvSpPr>
          <p:cNvPr id="11" name="Text 9"/>
          <p:cNvSpPr/>
          <p:nvPr/>
        </p:nvSpPr>
        <p:spPr>
          <a:xfrm>
            <a:off x="841248" y="276148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36192" y="2633472"/>
            <a:ext cx="4480560" cy="768096"/>
          </a:xfrm>
          <a:prstGeom prst="rect">
            <a:avLst/>
          </a:prstGeom>
          <a:noFill/>
          <a:ln/>
        </p:spPr>
        <p:txBody>
          <a:bodyPr wrap="square" lIns="0" tIns="0" rIns="0" bIns="0" rtlCol="0" anchor="ctr"/>
          <a:lstStyle/>
          <a:p>
            <a:pPr indent="0" marL="0">
              <a:lnSpc>
                <a:spcPts val="1700"/>
              </a:lnSpc>
              <a:buNone/>
            </a:pPr>
            <a:r>
              <a:rPr lang="en-US" sz="1450" b="1" dirty="0">
                <a:solidFill>
                  <a:srgbClr val="0D2A42"/>
                </a:solidFill>
                <a:latin typeface="Calibri" pitchFamily="34" charset="0"/>
                <a:ea typeface="Calibri" pitchFamily="34" charset="-122"/>
                <a:cs typeface="Calibri" pitchFamily="34" charset="-120"/>
              </a:rPr>
              <a:t>La VE como multiplicador del sistema completo</a:t>
            </a:r>
            <a:endParaRPr lang="en-US" sz="1450" dirty="0"/>
          </a:p>
        </p:txBody>
      </p:sp>
      <p:sp>
        <p:nvSpPr>
          <p:cNvPr id="13" name="Text 11"/>
          <p:cNvSpPr/>
          <p:nvPr/>
        </p:nvSpPr>
        <p:spPr>
          <a:xfrm>
            <a:off x="6126480" y="2633472"/>
            <a:ext cx="5349240" cy="76809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Reposicionada: condiciona todo el poder marítimo, no solo el poder naval.</a:t>
            </a:r>
            <a:endParaRPr lang="en-US" sz="1250" dirty="0"/>
          </a:p>
        </p:txBody>
      </p:sp>
      <p:sp>
        <p:nvSpPr>
          <p:cNvPr id="14" name="Shape 12"/>
          <p:cNvSpPr/>
          <p:nvPr/>
        </p:nvSpPr>
        <p:spPr>
          <a:xfrm>
            <a:off x="640080" y="3511296"/>
            <a:ext cx="10972800" cy="768096"/>
          </a:xfrm>
          <a:prstGeom prst="roundRect">
            <a:avLst>
              <a:gd name="adj" fmla="val 7143"/>
            </a:avLst>
          </a:prstGeom>
          <a:solidFill>
            <a:srgbClr val="FFFFFF"/>
          </a:solidFill>
          <a:ln w="12700">
            <a:solidFill>
              <a:srgbClr val="D8DEE6"/>
            </a:solidFill>
            <a:prstDash val="solid"/>
          </a:ln>
        </p:spPr>
      </p:sp>
      <p:sp>
        <p:nvSpPr>
          <p:cNvPr id="15" name="Shape 13"/>
          <p:cNvSpPr/>
          <p:nvPr/>
        </p:nvSpPr>
        <p:spPr>
          <a:xfrm>
            <a:off x="841248" y="3648456"/>
            <a:ext cx="493776" cy="493776"/>
          </a:xfrm>
          <a:prstGeom prst="ellipse">
            <a:avLst/>
          </a:prstGeom>
          <a:solidFill>
            <a:srgbClr val="854F0B"/>
          </a:solidFill>
          <a:ln/>
        </p:spPr>
      </p:sp>
      <p:sp>
        <p:nvSpPr>
          <p:cNvPr id="16" name="Text 14"/>
          <p:cNvSpPr/>
          <p:nvPr/>
        </p:nvSpPr>
        <p:spPr>
          <a:xfrm>
            <a:off x="841248" y="36393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36192" y="3511296"/>
            <a:ext cx="4480560" cy="768096"/>
          </a:xfrm>
          <a:prstGeom prst="rect">
            <a:avLst/>
          </a:prstGeom>
          <a:noFill/>
          <a:ln/>
        </p:spPr>
        <p:txBody>
          <a:bodyPr wrap="square" lIns="0" tIns="0" rIns="0" bIns="0" rtlCol="0" anchor="ctr"/>
          <a:lstStyle/>
          <a:p>
            <a:pPr indent="0" marL="0">
              <a:lnSpc>
                <a:spcPts val="1700"/>
              </a:lnSpc>
              <a:buNone/>
            </a:pPr>
            <a:r>
              <a:rPr lang="en-US" sz="1450" b="1" dirty="0">
                <a:solidFill>
                  <a:srgbClr val="0D2A42"/>
                </a:solidFill>
                <a:latin typeface="Calibri" pitchFamily="34" charset="0"/>
                <a:ea typeface="Calibri" pitchFamily="34" charset="-122"/>
                <a:cs typeface="Calibri" pitchFamily="34" charset="-120"/>
              </a:rPr>
              <a:t>La SM desagregada como condición del entorno</a:t>
            </a:r>
            <a:endParaRPr lang="en-US" sz="1450" dirty="0"/>
          </a:p>
        </p:txBody>
      </p:sp>
      <p:sp>
        <p:nvSpPr>
          <p:cNvPr id="18" name="Text 16"/>
          <p:cNvSpPr/>
          <p:nvPr/>
        </p:nvSpPr>
        <p:spPr>
          <a:xfrm>
            <a:off x="6126480" y="3511296"/>
            <a:ext cx="5349240" cy="76809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Tres dimensiones (CI · TE · BC) con exponente γ calibrable por contexto estratégico.</a:t>
            </a:r>
            <a:endParaRPr lang="en-US" sz="1250" dirty="0"/>
          </a:p>
        </p:txBody>
      </p:sp>
      <p:sp>
        <p:nvSpPr>
          <p:cNvPr id="19" name="Shape 17"/>
          <p:cNvSpPr/>
          <p:nvPr/>
        </p:nvSpPr>
        <p:spPr>
          <a:xfrm>
            <a:off x="640080" y="4389120"/>
            <a:ext cx="10972800" cy="768096"/>
          </a:xfrm>
          <a:prstGeom prst="roundRect">
            <a:avLst>
              <a:gd name="adj" fmla="val 7143"/>
            </a:avLst>
          </a:prstGeom>
          <a:solidFill>
            <a:srgbClr val="F4F6F9"/>
          </a:solidFill>
          <a:ln w="12700">
            <a:solidFill>
              <a:srgbClr val="D8DEE6"/>
            </a:solidFill>
            <a:prstDash val="solid"/>
          </a:ln>
        </p:spPr>
      </p:sp>
      <p:sp>
        <p:nvSpPr>
          <p:cNvPr id="20" name="Shape 18"/>
          <p:cNvSpPr/>
          <p:nvPr/>
        </p:nvSpPr>
        <p:spPr>
          <a:xfrm>
            <a:off x="841248" y="4526280"/>
            <a:ext cx="493776" cy="493776"/>
          </a:xfrm>
          <a:prstGeom prst="ellipse">
            <a:avLst/>
          </a:prstGeom>
          <a:solidFill>
            <a:srgbClr val="185FA5"/>
          </a:solidFill>
          <a:ln/>
        </p:spPr>
      </p:sp>
      <p:sp>
        <p:nvSpPr>
          <p:cNvPr id="21" name="Text 19"/>
          <p:cNvSpPr/>
          <p:nvPr/>
        </p:nvSpPr>
        <p:spPr>
          <a:xfrm>
            <a:off x="841248" y="451713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536192" y="4389120"/>
            <a:ext cx="4480560" cy="768096"/>
          </a:xfrm>
          <a:prstGeom prst="rect">
            <a:avLst/>
          </a:prstGeom>
          <a:noFill/>
          <a:ln/>
        </p:spPr>
        <p:txBody>
          <a:bodyPr wrap="square" lIns="0" tIns="0" rIns="0" bIns="0" rtlCol="0" anchor="ctr"/>
          <a:lstStyle/>
          <a:p>
            <a:pPr indent="0" marL="0">
              <a:lnSpc>
                <a:spcPts val="1700"/>
              </a:lnSpc>
              <a:buNone/>
            </a:pPr>
            <a:r>
              <a:rPr lang="en-US" sz="1450" b="1" dirty="0">
                <a:solidFill>
                  <a:srgbClr val="0D2A42"/>
                </a:solidFill>
                <a:latin typeface="Calibri" pitchFamily="34" charset="0"/>
                <a:ea typeface="Calibri" pitchFamily="34" charset="-122"/>
                <a:cs typeface="Calibri" pitchFamily="34" charset="-120"/>
              </a:rPr>
              <a:t>Normalización n_eff y escala de cinco niveles</a:t>
            </a:r>
            <a:endParaRPr lang="en-US" sz="1450" dirty="0"/>
          </a:p>
        </p:txBody>
      </p:sp>
      <p:sp>
        <p:nvSpPr>
          <p:cNvPr id="23" name="Text 21"/>
          <p:cNvSpPr/>
          <p:nvPr/>
        </p:nvSpPr>
        <p:spPr>
          <a:xfrm>
            <a:off x="6126480" y="4389120"/>
            <a:ext cx="5349240" cy="76809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PM_norm ∈ (0,1] directamente interpretable — un problema de rango no resuelto por los antecedentes.</a:t>
            </a:r>
            <a:endParaRPr lang="en-US" sz="1250" dirty="0"/>
          </a:p>
        </p:txBody>
      </p:sp>
      <p:sp>
        <p:nvSpPr>
          <p:cNvPr id="24" name="Shape 22"/>
          <p:cNvSpPr/>
          <p:nvPr/>
        </p:nvSpPr>
        <p:spPr>
          <a:xfrm>
            <a:off x="640080" y="5266944"/>
            <a:ext cx="10972800" cy="768096"/>
          </a:xfrm>
          <a:prstGeom prst="roundRect">
            <a:avLst>
              <a:gd name="adj" fmla="val 7143"/>
            </a:avLst>
          </a:prstGeom>
          <a:solidFill>
            <a:srgbClr val="FFFFFF"/>
          </a:solidFill>
          <a:ln w="12700">
            <a:solidFill>
              <a:srgbClr val="D8DEE6"/>
            </a:solidFill>
            <a:prstDash val="solid"/>
          </a:ln>
        </p:spPr>
      </p:sp>
      <p:sp>
        <p:nvSpPr>
          <p:cNvPr id="25" name="Shape 23"/>
          <p:cNvSpPr/>
          <p:nvPr/>
        </p:nvSpPr>
        <p:spPr>
          <a:xfrm>
            <a:off x="841248" y="5404104"/>
            <a:ext cx="493776" cy="493776"/>
          </a:xfrm>
          <a:prstGeom prst="ellipse">
            <a:avLst/>
          </a:prstGeom>
          <a:solidFill>
            <a:srgbClr val="534AB7"/>
          </a:solidFill>
          <a:ln/>
        </p:spPr>
      </p:sp>
      <p:sp>
        <p:nvSpPr>
          <p:cNvPr id="26" name="Text 24"/>
          <p:cNvSpPr/>
          <p:nvPr/>
        </p:nvSpPr>
        <p:spPr>
          <a:xfrm>
            <a:off x="841248" y="539496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536192" y="5266944"/>
            <a:ext cx="4480560" cy="768096"/>
          </a:xfrm>
          <a:prstGeom prst="rect">
            <a:avLst/>
          </a:prstGeom>
          <a:noFill/>
          <a:ln/>
        </p:spPr>
        <p:txBody>
          <a:bodyPr wrap="square" lIns="0" tIns="0" rIns="0" bIns="0" rtlCol="0" anchor="ctr"/>
          <a:lstStyle/>
          <a:p>
            <a:pPr indent="0" marL="0">
              <a:lnSpc>
                <a:spcPts val="1700"/>
              </a:lnSpc>
              <a:buNone/>
            </a:pPr>
            <a:r>
              <a:rPr lang="en-US" sz="1450" b="1" dirty="0">
                <a:solidFill>
                  <a:srgbClr val="0D2A42"/>
                </a:solidFill>
                <a:latin typeface="Calibri" pitchFamily="34" charset="0"/>
                <a:ea typeface="Calibri" pitchFamily="34" charset="-122"/>
                <a:cs typeface="Calibri" pitchFamily="34" charset="-120"/>
              </a:rPr>
              <a:t>MDA ≠ Conciencia Marítima</a:t>
            </a:r>
            <a:endParaRPr lang="en-US" sz="1450" dirty="0"/>
          </a:p>
        </p:txBody>
      </p:sp>
      <p:sp>
        <p:nvSpPr>
          <p:cNvPr id="28" name="Text 26"/>
          <p:cNvSpPr/>
          <p:nvPr/>
        </p:nvSpPr>
        <p:spPr>
          <a:xfrm>
            <a:off x="6126480" y="5266944"/>
            <a:ext cx="5349240" cy="768096"/>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Distinción entre lo técnico-operacional (distribuido en PN·SM·CP) y lo cultural-identitario (en VE).</a:t>
            </a:r>
            <a:endParaRPr lang="en-US" sz="1250" dirty="0"/>
          </a:p>
        </p:txBody>
      </p:sp>
      <p:sp>
        <p:nvSpPr>
          <p:cNvPr id="29" name="Text 27"/>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92608"/>
          </a:xfrm>
          <a:prstGeom prst="rect">
            <a:avLst/>
          </a:prstGeom>
          <a:noFill/>
          <a:ln/>
        </p:spPr>
        <p:txBody>
          <a:bodyPr wrap="square" lIns="0" tIns="0" rIns="0" bIns="0" rtlCol="0" anchor="ctr"/>
          <a:lstStyle/>
          <a:p>
            <a:pPr indent="0" marL="0">
              <a:buNone/>
            </a:pPr>
            <a:r>
              <a:rPr lang="en-US" sz="1250" b="1" spc="300" kern="0" dirty="0">
                <a:solidFill>
                  <a:srgbClr val="185FA5"/>
                </a:solidFill>
                <a:latin typeface="Calibri" pitchFamily="34" charset="0"/>
                <a:ea typeface="Calibri" pitchFamily="34" charset="-122"/>
                <a:cs typeface="Calibri" pitchFamily="34" charset="-120"/>
              </a:rPr>
              <a:t>DISCUSIÓN</a:t>
            </a:r>
            <a:endParaRPr lang="en-US" sz="1250" dirty="0"/>
          </a:p>
        </p:txBody>
      </p:sp>
      <p:sp>
        <p:nvSpPr>
          <p:cNvPr id="3" name="Text 1"/>
          <p:cNvSpPr/>
          <p:nvPr/>
        </p:nvSpPr>
        <p:spPr>
          <a:xfrm>
            <a:off x="640080" y="676656"/>
            <a:ext cx="10972800" cy="713232"/>
          </a:xfrm>
          <a:prstGeom prst="rect">
            <a:avLst/>
          </a:prstGeom>
          <a:noFill/>
          <a:ln/>
        </p:spPr>
        <p:txBody>
          <a:bodyPr wrap="square" lIns="0" tIns="0" rIns="0" bIns="0" rtlCol="0" anchor="ctr"/>
          <a:lstStyle/>
          <a:p>
            <a:pPr indent="0" marL="0">
              <a:buNone/>
            </a:pPr>
            <a:r>
              <a:rPr lang="en-US" sz="3100" b="1" dirty="0">
                <a:solidFill>
                  <a:srgbClr val="0D2A42"/>
                </a:solidFill>
                <a:latin typeface="Cambria" pitchFamily="34" charset="0"/>
                <a:ea typeface="Cambria" pitchFamily="34" charset="-122"/>
                <a:cs typeface="Cambria" pitchFamily="34" charset="-120"/>
              </a:rPr>
              <a:t>Limitaciones honestas, agenda ambiciosa</a:t>
            </a:r>
            <a:endParaRPr lang="en-US" sz="3100" dirty="0"/>
          </a:p>
        </p:txBody>
      </p:sp>
      <p:sp>
        <p:nvSpPr>
          <p:cNvPr id="4" name="Shape 2"/>
          <p:cNvSpPr/>
          <p:nvPr/>
        </p:nvSpPr>
        <p:spPr>
          <a:xfrm>
            <a:off x="640080" y="1737360"/>
            <a:ext cx="5394960" cy="4160520"/>
          </a:xfrm>
          <a:prstGeom prst="roundRect">
            <a:avLst>
              <a:gd name="adj" fmla="val 1538"/>
            </a:avLst>
          </a:prstGeom>
          <a:solidFill>
            <a:srgbClr val="F4F6F9"/>
          </a:solidFill>
          <a:ln w="12700">
            <a:solidFill>
              <a:srgbClr val="D8DEE6"/>
            </a:solidFill>
            <a:prstDash val="solid"/>
          </a:ln>
          <a:effectLst>
            <a:outerShdw sx="100000" sy="100000" kx="0" ky="0" algn="bl" rotWithShape="0" blurRad="88900" dist="25400" dir="5400000">
              <a:srgbClr val="A8B4C2">
                <a:alpha val="28000"/>
              </a:srgbClr>
            </a:outerShdw>
          </a:effectLst>
        </p:spPr>
      </p:sp>
      <p:sp>
        <p:nvSpPr>
          <p:cNvPr id="5" name="Shape 3"/>
          <p:cNvSpPr/>
          <p:nvPr/>
        </p:nvSpPr>
        <p:spPr>
          <a:xfrm>
            <a:off x="914400" y="1975104"/>
            <a:ext cx="512064" cy="512064"/>
          </a:xfrm>
          <a:prstGeom prst="ellipse">
            <a:avLst/>
          </a:prstGeom>
          <a:solidFill>
            <a:srgbClr val="5A6472"/>
          </a:solidFill>
          <a:ln/>
        </p:spPr>
      </p:sp>
      <p:pic>
        <p:nvPicPr>
          <p:cNvPr id="6" name="Image 0" descr="preencoded.png">    </p:cNvPr>
          <p:cNvPicPr>
            <a:picLocks noChangeAspect="1"/>
          </p:cNvPicPr>
          <p:nvPr/>
        </p:nvPicPr>
        <p:blipFill>
          <a:blip r:embed="rId1"/>
          <a:stretch>
            <a:fillRect/>
          </a:stretch>
        </p:blipFill>
        <p:spPr>
          <a:xfrm>
            <a:off x="1037295" y="2097999"/>
            <a:ext cx="266273" cy="266273"/>
          </a:xfrm>
          <a:prstGeom prst="rect">
            <a:avLst/>
          </a:prstGeom>
        </p:spPr>
      </p:pic>
      <p:sp>
        <p:nvSpPr>
          <p:cNvPr id="7" name="Text 4"/>
          <p:cNvSpPr/>
          <p:nvPr/>
        </p:nvSpPr>
        <p:spPr>
          <a:xfrm>
            <a:off x="1572768" y="2084832"/>
            <a:ext cx="4206240" cy="274320"/>
          </a:xfrm>
          <a:prstGeom prst="rect">
            <a:avLst/>
          </a:prstGeom>
          <a:noFill/>
          <a:ln/>
        </p:spPr>
        <p:txBody>
          <a:bodyPr wrap="square" lIns="0" tIns="0" rIns="0" bIns="0" rtlCol="0" anchor="ctr"/>
          <a:lstStyle/>
          <a:p>
            <a:pPr indent="0" marL="0">
              <a:buNone/>
            </a:pPr>
            <a:r>
              <a:rPr lang="en-US" sz="1250" b="1" spc="200" kern="0" dirty="0">
                <a:solidFill>
                  <a:srgbClr val="5A6472"/>
                </a:solidFill>
                <a:latin typeface="Calibri" pitchFamily="34" charset="0"/>
                <a:ea typeface="Calibri" pitchFamily="34" charset="-122"/>
                <a:cs typeface="Calibri" pitchFamily="34" charset="-120"/>
              </a:rPr>
              <a:t>LIMITACIONES DEL MODELO</a:t>
            </a:r>
            <a:endParaRPr lang="en-US" sz="1250" dirty="0"/>
          </a:p>
        </p:txBody>
      </p:sp>
      <p:sp>
        <p:nvSpPr>
          <p:cNvPr id="8" name="Text 5"/>
          <p:cNvSpPr/>
          <p:nvPr/>
        </p:nvSpPr>
        <p:spPr>
          <a:xfrm>
            <a:off x="960120" y="2606040"/>
            <a:ext cx="4800600" cy="3108960"/>
          </a:xfrm>
          <a:prstGeom prst="rect">
            <a:avLst/>
          </a:prstGeom>
          <a:noFill/>
          <a:ln/>
        </p:spPr>
        <p:txBody>
          <a:bodyPr wrap="square" lIns="0" tIns="0" rIns="0" bIns="0" rtlCol="0" anchor="ctr"/>
          <a:lstStyle/>
          <a:p>
            <a:pPr marL="152400" indent="-152400">
              <a:lnSpc>
                <a:spcPts val="1800"/>
              </a:lnSpc>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Naturaleza conceptual, no calculatoria — coherente con la tradición del campo.</a:t>
            </a:r>
            <a:endParaRPr lang="en-US" sz="1350" dirty="0"/>
          </a:p>
          <a:p>
            <a:pPr marL="152400" indent="-152400">
              <a:lnSpc>
                <a:spcPts val="1800"/>
              </a:lnSpc>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Parámetros (γ, α, μ, δ, pesos) calibrables, no fijados universalmente.</a:t>
            </a:r>
            <a:endParaRPr lang="en-US" sz="1350" dirty="0"/>
          </a:p>
          <a:p>
            <a:pPr marL="152400" indent="-152400">
              <a:lnSpc>
                <a:spcPts val="1800"/>
              </a:lnSpc>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Valores del caso colombiano indicativos, con fines de validación del modelo.</a:t>
            </a:r>
            <a:endParaRPr lang="en-US" sz="1350" dirty="0"/>
          </a:p>
          <a:p>
            <a:pPr marL="152400" indent="-152400">
              <a:lnSpc>
                <a:spcPts val="1800"/>
              </a:lnSpc>
              <a:spcAft>
                <a:spcPts val="1400"/>
              </a:spcAft>
              <a:buSzPct val="100000"/>
              <a:buChar char="•"/>
            </a:pPr>
            <a:r>
              <a:rPr lang="en-US" sz="1350" dirty="0">
                <a:solidFill>
                  <a:srgbClr val="1A1A1A"/>
                </a:solidFill>
                <a:latin typeface="Calibri" pitchFamily="34" charset="0"/>
                <a:ea typeface="Calibri" pitchFamily="34" charset="-122"/>
                <a:cs typeface="Calibri" pitchFamily="34" charset="-120"/>
              </a:rPr>
              <a:t>La operacionalización exige indicadores y datos comparables entre países.</a:t>
            </a:r>
            <a:endParaRPr lang="en-US" sz="1350" dirty="0"/>
          </a:p>
        </p:txBody>
      </p:sp>
      <p:sp>
        <p:nvSpPr>
          <p:cNvPr id="9" name="Shape 6"/>
          <p:cNvSpPr/>
          <p:nvPr/>
        </p:nvSpPr>
        <p:spPr>
          <a:xfrm>
            <a:off x="6172200" y="1737360"/>
            <a:ext cx="5376672" cy="4160520"/>
          </a:xfrm>
          <a:prstGeom prst="roundRect">
            <a:avLst>
              <a:gd name="adj" fmla="val 1538"/>
            </a:avLst>
          </a:prstGeom>
          <a:solidFill>
            <a:srgbClr val="E1F5EE"/>
          </a:solidFill>
          <a:ln w="12700">
            <a:solidFill>
              <a:srgbClr val="0F6E56"/>
            </a:solidFill>
            <a:prstDash val="solid"/>
          </a:ln>
          <a:effectLst>
            <a:outerShdw sx="100000" sy="100000" kx="0" ky="0" algn="bl" rotWithShape="0" blurRad="88900" dist="25400" dir="5400000">
              <a:srgbClr val="A8B4C2">
                <a:alpha val="28000"/>
              </a:srgbClr>
            </a:outerShdw>
          </a:effectLst>
        </p:spPr>
      </p:sp>
      <p:sp>
        <p:nvSpPr>
          <p:cNvPr id="10" name="Shape 7"/>
          <p:cNvSpPr/>
          <p:nvPr/>
        </p:nvSpPr>
        <p:spPr>
          <a:xfrm>
            <a:off x="6446520" y="1975104"/>
            <a:ext cx="512064" cy="512064"/>
          </a:xfrm>
          <a:prstGeom prst="ellipse">
            <a:avLst/>
          </a:prstGeom>
          <a:solidFill>
            <a:srgbClr val="0F6E56"/>
          </a:solidFill>
          <a:ln/>
        </p:spPr>
      </p:sp>
      <p:pic>
        <p:nvPicPr>
          <p:cNvPr id="11" name="Image 1" descr="preencoded.png">    </p:cNvPr>
          <p:cNvPicPr>
            <a:picLocks noChangeAspect="1"/>
          </p:cNvPicPr>
          <p:nvPr/>
        </p:nvPicPr>
        <p:blipFill>
          <a:blip r:embed="rId2"/>
          <a:stretch>
            <a:fillRect/>
          </a:stretch>
        </p:blipFill>
        <p:spPr>
          <a:xfrm>
            <a:off x="6569415" y="2097999"/>
            <a:ext cx="266273" cy="266273"/>
          </a:xfrm>
          <a:prstGeom prst="rect">
            <a:avLst/>
          </a:prstGeom>
        </p:spPr>
      </p:pic>
      <p:sp>
        <p:nvSpPr>
          <p:cNvPr id="12" name="Text 8"/>
          <p:cNvSpPr/>
          <p:nvPr/>
        </p:nvSpPr>
        <p:spPr>
          <a:xfrm>
            <a:off x="7104888" y="2084832"/>
            <a:ext cx="4206240" cy="274320"/>
          </a:xfrm>
          <a:prstGeom prst="rect">
            <a:avLst/>
          </a:prstGeom>
          <a:noFill/>
          <a:ln/>
        </p:spPr>
        <p:txBody>
          <a:bodyPr wrap="square" lIns="0" tIns="0" rIns="0" bIns="0" rtlCol="0" anchor="ctr"/>
          <a:lstStyle/>
          <a:p>
            <a:pPr indent="0" marL="0">
              <a:buNone/>
            </a:pPr>
            <a:r>
              <a:rPr lang="en-US" sz="1250" b="1" spc="200" kern="0" dirty="0">
                <a:solidFill>
                  <a:srgbClr val="0F6E56"/>
                </a:solidFill>
                <a:latin typeface="Calibri" pitchFamily="34" charset="0"/>
                <a:ea typeface="Calibri" pitchFamily="34" charset="-122"/>
                <a:cs typeface="Calibri" pitchFamily="34" charset="-120"/>
              </a:rPr>
              <a:t>AGENDA DE INVESTIGACIÓN FUTURA</a:t>
            </a:r>
            <a:endParaRPr lang="en-US" sz="1250" dirty="0"/>
          </a:p>
        </p:txBody>
      </p:sp>
      <p:sp>
        <p:nvSpPr>
          <p:cNvPr id="13" name="Text 9"/>
          <p:cNvSpPr/>
          <p:nvPr/>
        </p:nvSpPr>
        <p:spPr>
          <a:xfrm>
            <a:off x="6492240" y="2606040"/>
            <a:ext cx="4800600" cy="3108960"/>
          </a:xfrm>
          <a:prstGeom prst="rect">
            <a:avLst/>
          </a:prstGeom>
          <a:noFill/>
          <a:ln/>
        </p:spPr>
        <p:txBody>
          <a:bodyPr wrap="square" lIns="0" tIns="0" rIns="0" bIns="0" rtlCol="0" anchor="ctr"/>
          <a:lstStyle/>
          <a:p>
            <a:pPr indent="0" marL="0">
              <a:lnSpc>
                <a:spcPts val="1750"/>
              </a:lnSpc>
              <a:spcAft>
                <a:spcPts val="1300"/>
              </a:spcAft>
              <a:buNone/>
            </a:pPr>
            <a:r>
              <a:rPr lang="en-US" sz="1320" b="1" dirty="0">
                <a:solidFill>
                  <a:srgbClr val="0D2A42"/>
                </a:solidFill>
                <a:latin typeface="Calibri" pitchFamily="34" charset="0"/>
                <a:ea typeface="Calibri" pitchFamily="34" charset="-122"/>
                <a:cs typeface="Calibri" pitchFamily="34" charset="-120"/>
              </a:rPr>
              <a:t>IPMN — Índice de Poder Marítimo Nacional: </a:t>
            </a:r>
            <a:pPr indent="0" marL="0">
              <a:lnSpc>
                <a:spcPts val="1750"/>
              </a:lnSpc>
              <a:spcAft>
                <a:spcPts val="1300"/>
              </a:spcAft>
              <a:buNone/>
            </a:pPr>
            <a:r>
              <a:rPr lang="en-US" sz="1320" dirty="0">
                <a:solidFill>
                  <a:srgbClr val="1A1A1A"/>
                </a:solidFill>
                <a:latin typeface="Calibri" pitchFamily="34" charset="0"/>
                <a:ea typeface="Calibri" pitchFamily="34" charset="-122"/>
                <a:cs typeface="Calibri" pitchFamily="34" charset="-120"/>
              </a:rPr>
              <a:t>operacionalizar la fórmula con indicadores medibles y comparables.</a:t>
            </a:r>
            <a:endParaRPr lang="en-US" sz="1320" dirty="0"/>
          </a:p>
          <a:p>
            <a:pPr indent="0" marL="0">
              <a:lnSpc>
                <a:spcPts val="1750"/>
              </a:lnSpc>
              <a:spcAft>
                <a:spcPts val="1300"/>
              </a:spcAft>
              <a:buNone/>
            </a:pPr>
            <a:r>
              <a:rPr lang="en-US" sz="1320" b="1" dirty="0">
                <a:solidFill>
                  <a:srgbClr val="0D2A42"/>
                </a:solidFill>
                <a:latin typeface="Calibri" pitchFamily="34" charset="0"/>
                <a:ea typeface="Calibri" pitchFamily="34" charset="-122"/>
                <a:cs typeface="Calibri" pitchFamily="34" charset="-120"/>
              </a:rPr>
              <a:t>Calibración empírica </a:t>
            </a:r>
            <a:pPr indent="0" marL="0">
              <a:lnSpc>
                <a:spcPts val="1750"/>
              </a:lnSpc>
              <a:spcAft>
                <a:spcPts val="1300"/>
              </a:spcAft>
              <a:buNone/>
            </a:pPr>
            <a:r>
              <a:rPr lang="en-US" sz="1320" dirty="0">
                <a:solidFill>
                  <a:srgbClr val="1A1A1A"/>
                </a:solidFill>
                <a:latin typeface="Calibri" pitchFamily="34" charset="0"/>
                <a:ea typeface="Calibri" pitchFamily="34" charset="-122"/>
                <a:cs typeface="Calibri" pitchFamily="34" charset="-120"/>
              </a:rPr>
              <a:t>de γ, α y δ por Estado y por período estratégico.</a:t>
            </a:r>
            <a:endParaRPr lang="en-US" sz="1320" dirty="0"/>
          </a:p>
          <a:p>
            <a:pPr indent="0" marL="0">
              <a:lnSpc>
                <a:spcPts val="1750"/>
              </a:lnSpc>
              <a:spcAft>
                <a:spcPts val="1300"/>
              </a:spcAft>
              <a:buNone/>
            </a:pPr>
            <a:r>
              <a:rPr lang="en-US" sz="1320" b="1" dirty="0">
                <a:solidFill>
                  <a:srgbClr val="0D2A42"/>
                </a:solidFill>
                <a:latin typeface="Calibri" pitchFamily="34" charset="0"/>
                <a:ea typeface="Calibri" pitchFamily="34" charset="-122"/>
                <a:cs typeface="Calibri" pitchFamily="34" charset="-120"/>
              </a:rPr>
              <a:t>Modelamiento dinámico </a:t>
            </a:r>
            <a:pPr indent="0" marL="0">
              <a:lnSpc>
                <a:spcPts val="1750"/>
              </a:lnSpc>
              <a:spcAft>
                <a:spcPts val="1300"/>
              </a:spcAft>
              <a:buNone/>
            </a:pPr>
            <a:r>
              <a:rPr lang="en-US" sz="1320" dirty="0">
                <a:solidFill>
                  <a:srgbClr val="1A1A1A"/>
                </a:solidFill>
                <a:latin typeface="Calibri" pitchFamily="34" charset="0"/>
                <a:ea typeface="Calibri" pitchFamily="34" charset="-122"/>
                <a:cs typeface="Calibri" pitchFamily="34" charset="-120"/>
              </a:rPr>
              <a:t>con SERDUX-MARCIM (Cabuya-Padilla et al., 2025): el PM ante choques cibernéticos.</a:t>
            </a:r>
            <a:endParaRPr lang="en-US" sz="1320" dirty="0"/>
          </a:p>
          <a:p>
            <a:pPr indent="0" marL="0">
              <a:lnSpc>
                <a:spcPts val="1750"/>
              </a:lnSpc>
              <a:spcAft>
                <a:spcPts val="1300"/>
              </a:spcAft>
              <a:buNone/>
            </a:pPr>
            <a:r>
              <a:rPr lang="en-US" sz="1320" b="1" dirty="0">
                <a:solidFill>
                  <a:srgbClr val="0D2A42"/>
                </a:solidFill>
                <a:latin typeface="Calibri" pitchFamily="34" charset="0"/>
                <a:ea typeface="Calibri" pitchFamily="34" charset="-122"/>
                <a:cs typeface="Calibri" pitchFamily="34" charset="-120"/>
              </a:rPr>
              <a:t>Extensión comparada regional </a:t>
            </a:r>
            <a:pPr indent="0" marL="0">
              <a:lnSpc>
                <a:spcPts val="1750"/>
              </a:lnSpc>
              <a:spcAft>
                <a:spcPts val="1300"/>
              </a:spcAft>
              <a:buNone/>
            </a:pPr>
            <a:r>
              <a:rPr lang="en-US" sz="1320" dirty="0">
                <a:solidFill>
                  <a:srgbClr val="1A1A1A"/>
                </a:solidFill>
                <a:latin typeface="Calibri" pitchFamily="34" charset="0"/>
                <a:ea typeface="Calibri" pitchFamily="34" charset="-122"/>
                <a:cs typeface="Calibri" pitchFamily="34" charset="-120"/>
              </a:rPr>
              <a:t>entre potencias medias suramericanas.</a:t>
            </a:r>
            <a:endParaRPr lang="en-US" sz="1320" dirty="0"/>
          </a:p>
        </p:txBody>
      </p:sp>
      <p:sp>
        <p:nvSpPr>
          <p:cNvPr id="14" name="Text 10"/>
          <p:cNvSpPr/>
          <p:nvPr/>
        </p:nvSpPr>
        <p:spPr>
          <a:xfrm>
            <a:off x="11414455" y="6400800"/>
            <a:ext cx="457200" cy="274320"/>
          </a:xfrm>
          <a:prstGeom prst="rect">
            <a:avLst/>
          </a:prstGeom>
          <a:noFill/>
          <a:ln/>
        </p:spPr>
        <p:txBody>
          <a:bodyPr wrap="square" lIns="0" tIns="0" rIns="0" bIns="0" rtlCol="0" anchor="ctr"/>
          <a:lstStyle/>
          <a:p>
            <a:pPr algn="r" indent="0" marL="0">
              <a:buNone/>
            </a:pPr>
            <a:r>
              <a:rPr lang="en-US" sz="1000" dirty="0">
                <a:solidFill>
                  <a:srgbClr val="8A93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A42"/>
        </a:solidFill>
      </p:bgPr>
    </p:bg>
    <p:spTree>
      <p:nvGrpSpPr>
        <p:cNvPr id="1" name=""/>
        <p:cNvGrpSpPr/>
        <p:nvPr/>
      </p:nvGrpSpPr>
      <p:grpSpPr>
        <a:xfrm>
          <a:off x="0" y="0"/>
          <a:ext cx="0" cy="0"/>
          <a:chOff x="0" y="0"/>
          <a:chExt cx="0" cy="0"/>
        </a:xfrm>
      </p:grpSpPr>
      <p:sp>
        <p:nvSpPr>
          <p:cNvPr id="2" name="Text 0"/>
          <p:cNvSpPr/>
          <p:nvPr/>
        </p:nvSpPr>
        <p:spPr>
          <a:xfrm>
            <a:off x="822960" y="548640"/>
            <a:ext cx="10515600" cy="320040"/>
          </a:xfrm>
          <a:prstGeom prst="rect">
            <a:avLst/>
          </a:prstGeom>
          <a:noFill/>
          <a:ln/>
        </p:spPr>
        <p:txBody>
          <a:bodyPr wrap="square" lIns="0" tIns="0" rIns="0" bIns="0" rtlCol="0" anchor="ctr"/>
          <a:lstStyle/>
          <a:p>
            <a:pPr indent="0" marL="0">
              <a:buNone/>
            </a:pPr>
            <a:r>
              <a:rPr lang="en-US" sz="1300" b="1" spc="300" kern="0" dirty="0">
                <a:solidFill>
                  <a:srgbClr val="9EC8E4"/>
                </a:solidFill>
                <a:latin typeface="Calibri" pitchFamily="34" charset="0"/>
                <a:ea typeface="Calibri" pitchFamily="34" charset="-122"/>
                <a:cs typeface="Calibri" pitchFamily="34" charset="-120"/>
              </a:rPr>
              <a:t>CONCLUSIONES</a:t>
            </a:r>
            <a:endParaRPr lang="en-US" sz="1300" dirty="0"/>
          </a:p>
        </p:txBody>
      </p:sp>
      <p:sp>
        <p:nvSpPr>
          <p:cNvPr id="3" name="Text 1"/>
          <p:cNvSpPr/>
          <p:nvPr/>
        </p:nvSpPr>
        <p:spPr>
          <a:xfrm>
            <a:off x="822960" y="896112"/>
            <a:ext cx="1060704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El poder marítimo también se ejerce en el ciberespacio</a:t>
            </a:r>
            <a:endParaRPr lang="en-US" sz="2700" dirty="0"/>
          </a:p>
        </p:txBody>
      </p:sp>
      <p:sp>
        <p:nvSpPr>
          <p:cNvPr id="4" name="Shape 2"/>
          <p:cNvSpPr/>
          <p:nvPr/>
        </p:nvSpPr>
        <p:spPr>
          <a:xfrm>
            <a:off x="822960" y="1828800"/>
            <a:ext cx="10543032" cy="804672"/>
          </a:xfrm>
          <a:prstGeom prst="roundRect">
            <a:avLst>
              <a:gd name="adj" fmla="val 6818"/>
            </a:avLst>
          </a:prstGeom>
          <a:solidFill>
            <a:srgbClr val="10365A"/>
          </a:solidFill>
          <a:ln w="12700">
            <a:solidFill>
              <a:srgbClr val="24466A"/>
            </a:solidFill>
            <a:prstDash val="solid"/>
          </a:ln>
        </p:spPr>
      </p:sp>
      <p:sp>
        <p:nvSpPr>
          <p:cNvPr id="5" name="Text 3"/>
          <p:cNvSpPr/>
          <p:nvPr/>
        </p:nvSpPr>
        <p:spPr>
          <a:xfrm>
            <a:off x="1024128" y="1828800"/>
            <a:ext cx="777240" cy="804672"/>
          </a:xfrm>
          <a:prstGeom prst="rect">
            <a:avLst/>
          </a:prstGeom>
          <a:noFill/>
          <a:ln/>
        </p:spPr>
        <p:txBody>
          <a:bodyPr wrap="square" lIns="0" tIns="0" rIns="0" bIns="0" rtlCol="0" anchor="ctr"/>
          <a:lstStyle/>
          <a:p>
            <a:pPr indent="0" marL="0">
              <a:buNone/>
            </a:pPr>
            <a:r>
              <a:rPr lang="en-US" sz="2100" b="1" dirty="0">
                <a:solidFill>
                  <a:srgbClr val="9EC8E4"/>
                </a:solidFill>
                <a:latin typeface="Cambria" pitchFamily="34" charset="0"/>
                <a:ea typeface="Cambria" pitchFamily="34" charset="-122"/>
                <a:cs typeface="Cambria" pitchFamily="34" charset="-120"/>
              </a:rPr>
              <a:t>01</a:t>
            </a:r>
            <a:endParaRPr lang="en-US" sz="2100" dirty="0"/>
          </a:p>
        </p:txBody>
      </p:sp>
      <p:sp>
        <p:nvSpPr>
          <p:cNvPr id="6" name="Text 4"/>
          <p:cNvSpPr/>
          <p:nvPr/>
        </p:nvSpPr>
        <p:spPr>
          <a:xfrm>
            <a:off x="1874520" y="1828800"/>
            <a:ext cx="9326880" cy="804672"/>
          </a:xfrm>
          <a:prstGeom prst="rect">
            <a:avLst/>
          </a:prstGeom>
          <a:noFill/>
          <a:ln/>
        </p:spPr>
        <p:txBody>
          <a:bodyPr wrap="square" lIns="0" tIns="0" rIns="0" bIns="0" rtlCol="0" anchor="ctr"/>
          <a:lstStyle/>
          <a:p>
            <a:pPr indent="0" marL="0">
              <a:lnSpc>
                <a:spcPts val="1850"/>
              </a:lnSpc>
              <a:buNone/>
            </a:pPr>
            <a:r>
              <a:rPr lang="en-US" sz="1420" dirty="0">
                <a:solidFill>
                  <a:srgbClr val="E8EEF6"/>
                </a:solidFill>
                <a:latin typeface="Calibri" pitchFamily="34" charset="0"/>
                <a:ea typeface="Calibri" pitchFamily="34" charset="-122"/>
                <a:cs typeface="Calibri" pitchFamily="34" charset="-120"/>
              </a:rPr>
              <a:t>La fórmula clásica sigue siendo válida — pero ya no es suficiente. La propuesta la actualiza preservando su núcleo (IM × PN).</a:t>
            </a:r>
            <a:endParaRPr lang="en-US" sz="1420" dirty="0"/>
          </a:p>
        </p:txBody>
      </p:sp>
      <p:sp>
        <p:nvSpPr>
          <p:cNvPr id="7" name="Shape 5"/>
          <p:cNvSpPr/>
          <p:nvPr/>
        </p:nvSpPr>
        <p:spPr>
          <a:xfrm>
            <a:off x="822960" y="2761488"/>
            <a:ext cx="10543032" cy="804672"/>
          </a:xfrm>
          <a:prstGeom prst="roundRect">
            <a:avLst>
              <a:gd name="adj" fmla="val 6818"/>
            </a:avLst>
          </a:prstGeom>
          <a:solidFill>
            <a:srgbClr val="10365A"/>
          </a:solidFill>
          <a:ln w="12700">
            <a:solidFill>
              <a:srgbClr val="24466A"/>
            </a:solidFill>
            <a:prstDash val="solid"/>
          </a:ln>
        </p:spPr>
      </p:sp>
      <p:sp>
        <p:nvSpPr>
          <p:cNvPr id="8" name="Text 6"/>
          <p:cNvSpPr/>
          <p:nvPr/>
        </p:nvSpPr>
        <p:spPr>
          <a:xfrm>
            <a:off x="1024128" y="2761488"/>
            <a:ext cx="777240" cy="804672"/>
          </a:xfrm>
          <a:prstGeom prst="rect">
            <a:avLst/>
          </a:prstGeom>
          <a:noFill/>
          <a:ln/>
        </p:spPr>
        <p:txBody>
          <a:bodyPr wrap="square" lIns="0" tIns="0" rIns="0" bIns="0" rtlCol="0" anchor="ctr"/>
          <a:lstStyle/>
          <a:p>
            <a:pPr indent="0" marL="0">
              <a:buNone/>
            </a:pPr>
            <a:r>
              <a:rPr lang="en-US" sz="2100" b="1" dirty="0">
                <a:solidFill>
                  <a:srgbClr val="9EC8E4"/>
                </a:solidFill>
                <a:latin typeface="Cambria" pitchFamily="34" charset="0"/>
                <a:ea typeface="Cambria" pitchFamily="34" charset="-122"/>
                <a:cs typeface="Cambria" pitchFamily="34" charset="-120"/>
              </a:rPr>
              <a:t>02</a:t>
            </a:r>
            <a:endParaRPr lang="en-US" sz="2100" dirty="0"/>
          </a:p>
        </p:txBody>
      </p:sp>
      <p:sp>
        <p:nvSpPr>
          <p:cNvPr id="9" name="Text 7"/>
          <p:cNvSpPr/>
          <p:nvPr/>
        </p:nvSpPr>
        <p:spPr>
          <a:xfrm>
            <a:off x="1874520" y="2761488"/>
            <a:ext cx="9326880" cy="804672"/>
          </a:xfrm>
          <a:prstGeom prst="rect">
            <a:avLst/>
          </a:prstGeom>
          <a:noFill/>
          <a:ln/>
        </p:spPr>
        <p:txBody>
          <a:bodyPr wrap="square" lIns="0" tIns="0" rIns="0" bIns="0" rtlCol="0" anchor="ctr"/>
          <a:lstStyle/>
          <a:p>
            <a:pPr indent="0" marL="0">
              <a:lnSpc>
                <a:spcPts val="1850"/>
              </a:lnSpc>
              <a:buNone/>
            </a:pPr>
            <a:r>
              <a:rPr lang="en-US" sz="1420" dirty="0">
                <a:solidFill>
                  <a:srgbClr val="E8EEF6"/>
                </a:solidFill>
                <a:latin typeface="Calibri" pitchFamily="34" charset="0"/>
                <a:ea typeface="Calibri" pitchFamily="34" charset="-122"/>
                <a:cs typeface="Calibri" pitchFamily="34" charset="-120"/>
              </a:rPr>
              <a:t>El CP, la VE y la SM entran como variables estructurales, con una normalización que hace el resultado directamente interpretable.</a:t>
            </a:r>
            <a:endParaRPr lang="en-US" sz="1420" dirty="0"/>
          </a:p>
        </p:txBody>
      </p:sp>
      <p:sp>
        <p:nvSpPr>
          <p:cNvPr id="10" name="Shape 8"/>
          <p:cNvSpPr/>
          <p:nvPr/>
        </p:nvSpPr>
        <p:spPr>
          <a:xfrm>
            <a:off x="822960" y="3694176"/>
            <a:ext cx="10543032" cy="804672"/>
          </a:xfrm>
          <a:prstGeom prst="roundRect">
            <a:avLst>
              <a:gd name="adj" fmla="val 6818"/>
            </a:avLst>
          </a:prstGeom>
          <a:solidFill>
            <a:srgbClr val="10365A"/>
          </a:solidFill>
          <a:ln w="12700">
            <a:solidFill>
              <a:srgbClr val="24466A"/>
            </a:solidFill>
            <a:prstDash val="solid"/>
          </a:ln>
        </p:spPr>
      </p:sp>
      <p:sp>
        <p:nvSpPr>
          <p:cNvPr id="11" name="Text 9"/>
          <p:cNvSpPr/>
          <p:nvPr/>
        </p:nvSpPr>
        <p:spPr>
          <a:xfrm>
            <a:off x="1024128" y="3694176"/>
            <a:ext cx="777240" cy="804672"/>
          </a:xfrm>
          <a:prstGeom prst="rect">
            <a:avLst/>
          </a:prstGeom>
          <a:noFill/>
          <a:ln/>
        </p:spPr>
        <p:txBody>
          <a:bodyPr wrap="square" lIns="0" tIns="0" rIns="0" bIns="0" rtlCol="0" anchor="ctr"/>
          <a:lstStyle/>
          <a:p>
            <a:pPr indent="0" marL="0">
              <a:buNone/>
            </a:pPr>
            <a:r>
              <a:rPr lang="en-US" sz="2100" b="1" dirty="0">
                <a:solidFill>
                  <a:srgbClr val="9EC8E4"/>
                </a:solidFill>
                <a:latin typeface="Cambria" pitchFamily="34" charset="0"/>
                <a:ea typeface="Cambria" pitchFamily="34" charset="-122"/>
                <a:cs typeface="Cambria" pitchFamily="34" charset="-120"/>
              </a:rPr>
              <a:t>03</a:t>
            </a:r>
            <a:endParaRPr lang="en-US" sz="2100" dirty="0"/>
          </a:p>
        </p:txBody>
      </p:sp>
      <p:sp>
        <p:nvSpPr>
          <p:cNvPr id="12" name="Text 10"/>
          <p:cNvSpPr/>
          <p:nvPr/>
        </p:nvSpPr>
        <p:spPr>
          <a:xfrm>
            <a:off x="1874520" y="3694176"/>
            <a:ext cx="9326880" cy="804672"/>
          </a:xfrm>
          <a:prstGeom prst="rect">
            <a:avLst/>
          </a:prstGeom>
          <a:noFill/>
          <a:ln/>
        </p:spPr>
        <p:txBody>
          <a:bodyPr wrap="square" lIns="0" tIns="0" rIns="0" bIns="0" rtlCol="0" anchor="ctr"/>
          <a:lstStyle/>
          <a:p>
            <a:pPr indent="0" marL="0">
              <a:lnSpc>
                <a:spcPts val="1850"/>
              </a:lnSpc>
              <a:buNone/>
            </a:pPr>
            <a:r>
              <a:rPr lang="en-US" sz="1420" dirty="0">
                <a:solidFill>
                  <a:srgbClr val="E8EEF6"/>
                </a:solidFill>
                <a:latin typeface="Calibri" pitchFamily="34" charset="0"/>
                <a:ea typeface="Calibri" pitchFamily="34" charset="-122"/>
                <a:cs typeface="Calibri" pitchFamily="34" charset="-120"/>
              </a:rPr>
              <a:t>Colombia se ubica en el nivel Moderado (PM_norm ≈ 0.43), en la misma escala que el índice de Vargas Suárez et al. (2021) — pero descomponiéndolo en las cinco variables que aquel no distingue.</a:t>
            </a:r>
            <a:endParaRPr lang="en-US" sz="1420" dirty="0"/>
          </a:p>
        </p:txBody>
      </p:sp>
      <p:sp>
        <p:nvSpPr>
          <p:cNvPr id="13" name="Shape 11"/>
          <p:cNvSpPr/>
          <p:nvPr/>
        </p:nvSpPr>
        <p:spPr>
          <a:xfrm>
            <a:off x="822960" y="4626864"/>
            <a:ext cx="10543032" cy="804672"/>
          </a:xfrm>
          <a:prstGeom prst="roundRect">
            <a:avLst>
              <a:gd name="adj" fmla="val 6818"/>
            </a:avLst>
          </a:prstGeom>
          <a:solidFill>
            <a:srgbClr val="10365A"/>
          </a:solidFill>
          <a:ln w="12700">
            <a:solidFill>
              <a:srgbClr val="24466A"/>
            </a:solidFill>
            <a:prstDash val="solid"/>
          </a:ln>
        </p:spPr>
      </p:sp>
      <p:sp>
        <p:nvSpPr>
          <p:cNvPr id="14" name="Text 12"/>
          <p:cNvSpPr/>
          <p:nvPr/>
        </p:nvSpPr>
        <p:spPr>
          <a:xfrm>
            <a:off x="1024128" y="4626864"/>
            <a:ext cx="777240" cy="804672"/>
          </a:xfrm>
          <a:prstGeom prst="rect">
            <a:avLst/>
          </a:prstGeom>
          <a:noFill/>
          <a:ln/>
        </p:spPr>
        <p:txBody>
          <a:bodyPr wrap="square" lIns="0" tIns="0" rIns="0" bIns="0" rtlCol="0" anchor="ctr"/>
          <a:lstStyle/>
          <a:p>
            <a:pPr indent="0" marL="0">
              <a:buNone/>
            </a:pPr>
            <a:r>
              <a:rPr lang="en-US" sz="2100" b="1" dirty="0">
                <a:solidFill>
                  <a:srgbClr val="9EC8E4"/>
                </a:solidFill>
                <a:latin typeface="Cambria" pitchFamily="34" charset="0"/>
                <a:ea typeface="Cambria" pitchFamily="34" charset="-122"/>
                <a:cs typeface="Cambria" pitchFamily="34" charset="-120"/>
              </a:rPr>
              <a:t>04</a:t>
            </a:r>
            <a:endParaRPr lang="en-US" sz="2100" dirty="0"/>
          </a:p>
        </p:txBody>
      </p:sp>
      <p:sp>
        <p:nvSpPr>
          <p:cNvPr id="15" name="Text 13"/>
          <p:cNvSpPr/>
          <p:nvPr/>
        </p:nvSpPr>
        <p:spPr>
          <a:xfrm>
            <a:off x="1874520" y="4626864"/>
            <a:ext cx="9326880" cy="804672"/>
          </a:xfrm>
          <a:prstGeom prst="rect">
            <a:avLst/>
          </a:prstGeom>
          <a:noFill/>
          <a:ln/>
        </p:spPr>
        <p:txBody>
          <a:bodyPr wrap="square" lIns="0" tIns="0" rIns="0" bIns="0" rtlCol="0" anchor="ctr"/>
          <a:lstStyle/>
          <a:p>
            <a:pPr indent="0" marL="0">
              <a:lnSpc>
                <a:spcPts val="1850"/>
              </a:lnSpc>
              <a:buNone/>
            </a:pPr>
            <a:r>
              <a:rPr lang="en-US" sz="1420" dirty="0">
                <a:solidFill>
                  <a:srgbClr val="E8EEF6"/>
                </a:solidFill>
                <a:latin typeface="Calibri" pitchFamily="34" charset="0"/>
                <a:ea typeface="Calibri" pitchFamily="34" charset="-122"/>
                <a:cs typeface="Calibri" pitchFamily="34" charset="-120"/>
              </a:rPr>
              <a:t>Para una potencia media, el ciberpoder es el vector de inversión más eficiente: mayor brecha, retornos iniciales elevados y carácter habilitante transversal.</a:t>
            </a:r>
            <a:endParaRPr lang="en-US" sz="1420" dirty="0"/>
          </a:p>
        </p:txBody>
      </p:sp>
      <p:sp>
        <p:nvSpPr>
          <p:cNvPr id="16" name="Shape 14"/>
          <p:cNvSpPr/>
          <p:nvPr/>
        </p:nvSpPr>
        <p:spPr>
          <a:xfrm>
            <a:off x="822960" y="5870448"/>
            <a:ext cx="10543032" cy="0"/>
          </a:xfrm>
          <a:prstGeom prst="line">
            <a:avLst/>
          </a:prstGeom>
          <a:noFill/>
          <a:ln w="12700">
            <a:solidFill>
              <a:srgbClr val="2A4A6A"/>
            </a:solidFill>
            <a:prstDash val="solid"/>
          </a:ln>
        </p:spPr>
      </p:sp>
      <p:sp>
        <p:nvSpPr>
          <p:cNvPr id="17" name="Text 15"/>
          <p:cNvSpPr/>
          <p:nvPr/>
        </p:nvSpPr>
        <p:spPr>
          <a:xfrm>
            <a:off x="822960" y="6035040"/>
            <a:ext cx="86868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C.F. Diego Edison Cabuya Padilla, PhD   ·   </a:t>
            </a:r>
            <a:pPr indent="0" marL="0">
              <a:buNone/>
            </a:pPr>
            <a:r>
              <a:rPr lang="en-US" sz="1350" dirty="0">
                <a:solidFill>
                  <a:srgbClr val="7FA8C8"/>
                </a:solidFill>
                <a:latin typeface="Calibri" pitchFamily="34" charset="0"/>
                <a:ea typeface="Calibri" pitchFamily="34" charset="-122"/>
                <a:cs typeface="Calibri" pitchFamily="34" charset="-120"/>
              </a:rPr>
              <a:t>Academia Naval de Estudios Estratégicos</a:t>
            </a:r>
            <a:endParaRPr lang="en-US" sz="1350" dirty="0"/>
          </a:p>
          <a:p>
            <a:pPr indent="0" marL="0">
              <a:buNone/>
            </a:pPr>
            <a:r>
              <a:rPr lang="es-CO" sz="1150" dirty="0">
                <a:solidFill>
                  <a:srgbClr val="9EC8E4"/>
                </a:solidFill>
                <a:latin typeface="Calibri" pitchFamily="34" charset="0"/>
              </a:rPr>
              <a:t>Simulador interactivo de acceso abierto: github.com/diegocabuya/Ciberpoder-y-Poder-Maritimo</a:t>
            </a:r>
            <a:endParaRPr lang="es-CO" sz="1150" dirty="0"/>
          </a:p>
        </p:txBody>
      </p:sp>
      <p:sp>
        <p:nvSpPr>
          <p:cNvPr id="18" name="Text 16"/>
          <p:cNvSpPr/>
          <p:nvPr/>
        </p:nvSpPr>
        <p:spPr>
          <a:xfrm>
            <a:off x="9509760" y="5943600"/>
            <a:ext cx="1856232" cy="502920"/>
          </a:xfrm>
          <a:prstGeom prst="rect">
            <a:avLst/>
          </a:prstGeom>
          <a:noFill/>
          <a:ln/>
        </p:spPr>
        <p:txBody>
          <a:bodyPr wrap="square" lIns="0" tIns="0" rIns="0" bIns="0" rtlCol="0" anchor="ctr"/>
          <a:lstStyle/>
          <a:p>
            <a:pPr algn="r" indent="0" marL="0">
              <a:buNone/>
            </a:pPr>
            <a:r>
              <a:rPr lang="en-US" sz="2200" b="1" i="1" dirty="0">
                <a:solidFill>
                  <a:srgbClr val="9EC8E4"/>
                </a:solidFill>
                <a:latin typeface="Cambria" pitchFamily="34" charset="0"/>
                <a:ea typeface="Cambria" pitchFamily="34" charset="-122"/>
                <a:cs typeface="Cambria" pitchFamily="34" charset="-120"/>
              </a:rPr>
              <a:t>Gracias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2026-07-22T16:48:49Z</dcterms:created>
  <dcterms:modified xsi:type="dcterms:W3CDTF">2026-07-22T16:48:49Z</dcterms:modified>
</cp:coreProperties>
</file>