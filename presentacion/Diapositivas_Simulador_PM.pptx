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simulador es una herramienta de apoyo: una aplicación web de un solo archivo que opera la fórmula ampliada en vivo. Tres bloques: entradas (27 deslizadores), motor de cálculo (la fórmula normalizada en dos niveles) y salidas (siete visualizaciones). Corre localmente, sin instalación ni conexión.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27 controles no son arbitrarios: reproducen exactamente la desagregación de Nivel 2 del artículo. En cada componente, primero las variables sustantivas y luego sus pesos o exponentes. Nótese que el ciberpoder es el que más controles tiene —ocho—, coherente con ser el aporte central. Los parámetros alfa y gamma quedan aparte porque gobiernan el sistema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Flujo de uso en cuatro pasos: cargar un escenario, ajustar deslizadores, leer el resultado y comparar. Los perfiles genéricos reproducen la Tabla A3 del anexo (verificación interna del modelo), y los once países permiten uso comparativo regional. El valor didáctico clave: al llevar cualquier variable a cero, el índice completo colapsa —la interdependencia multiplicativa deja de ser teoría y se demuestra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APOYO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simulador interactivo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autocontenida (un solo archivo HTML) que opera la fórmula ampliada en tiempo real: cada ajuste recalcula el índice completo y actualiza todas las salidas.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01568" cy="3200400"/>
          </a:xfrm>
          <a:prstGeom prst="roundRect">
            <a:avLst>
              <a:gd name="adj" fmla="val 2000"/>
            </a:avLst>
          </a:prstGeom>
          <a:solidFill>
            <a:srgbClr val="EBF3FB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40864"/>
            <a:ext cx="548640" cy="54864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472538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91056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ENTRADAS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96112" y="30358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deslizadores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96112" y="3474720"/>
            <a:ext cx="2889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Agrupados por componente (IM · PN · VE · SM · CP) más los parámetros globales α y γ.</a:t>
            </a:r>
            <a:endParaRPr lang="en-US" sz="1280" dirty="0"/>
          </a:p>
          <a:p>
            <a:pPr indent="0" marL="0">
              <a:lnSpc>
                <a:spcPts val="1750"/>
              </a:lnSpc>
              <a:buNone/>
            </a:pPr>
            <a:endParaRPr lang="en-US" sz="128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control muestra su ecuación de Nivel 2 y opera en el rango (0, 1].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411480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617720" y="2103120"/>
            <a:ext cx="3401568" cy="3200400"/>
          </a:xfrm>
          <a:prstGeom prst="roundRect">
            <a:avLst>
              <a:gd name="adj" fmla="val 2000"/>
            </a:avLst>
          </a:prstGeom>
          <a:solidFill>
            <a:srgbClr val="0D2A42"/>
          </a:solidFill>
          <a:ln/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73752" y="2340864"/>
            <a:ext cx="548640" cy="548640"/>
          </a:xfrm>
          <a:prstGeom prst="ellipse">
            <a:avLst/>
          </a:prstGeom>
          <a:solidFill>
            <a:srgbClr val="2A4A6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26" y="2472538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68696" y="24323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E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MOTOR DE CÁLCULO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873752" y="30358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 normalizada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4873752" y="3493008"/>
            <a:ext cx="2889504" cy="868680"/>
          </a:xfrm>
          <a:prstGeom prst="roundRect">
            <a:avLst>
              <a:gd name="adj" fmla="val 6316"/>
            </a:avLst>
          </a:prstGeom>
          <a:solidFill>
            <a:srgbClr val="10365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65192" y="3529584"/>
            <a:ext cx="2706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EC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PM_norm =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EC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[(IM×PN)×VE×SM^γ×CP^α]^(1/n_eff)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3752" y="4462272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3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compuestos se calculan primero (Nivel 2) y luego alimentan la expresión general (Nivel 1), con n_eff = 2 + γ + α.</a:t>
            </a:r>
            <a:endParaRPr lang="en-US" sz="1230" dirty="0"/>
          </a:p>
        </p:txBody>
      </p:sp>
      <p:sp>
        <p:nvSpPr>
          <p:cNvPr id="20" name="Text 16"/>
          <p:cNvSpPr/>
          <p:nvPr/>
        </p:nvSpPr>
        <p:spPr>
          <a:xfrm>
            <a:off x="809244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8595360" y="2103120"/>
            <a:ext cx="2944368" cy="3200400"/>
          </a:xfrm>
          <a:prstGeom prst="roundRect">
            <a:avLst>
              <a:gd name="adj" fmla="val 2174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851392" y="2340864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066" y="2472538"/>
            <a:ext cx="285293" cy="28529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546336" y="24323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SALIDAS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851392" y="303580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visualizaciones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8851392" y="3474720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PM_norm con su nivel</a:t>
            </a:r>
            <a:endParaRPr lang="en-US" sz="1230" dirty="0"/>
          </a:p>
          <a:p>
            <a:pPr marL="152400" indent="-1524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Medidores por componente</a:t>
            </a:r>
            <a:endParaRPr lang="en-US" sz="1230" dirty="0"/>
          </a:p>
          <a:p>
            <a:pPr marL="152400" indent="-1524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perfil</a:t>
            </a:r>
            <a:endParaRPr lang="en-US" sz="1230" dirty="0"/>
          </a:p>
          <a:p>
            <a:pPr marL="152400" indent="-1524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multi-país</a:t>
            </a:r>
            <a:endParaRPr lang="en-US" sz="1230" dirty="0"/>
          </a:p>
          <a:p>
            <a:pPr marL="152400" indent="-1524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sensibilidad</a:t>
            </a:r>
            <a:endParaRPr lang="en-US" sz="1230" dirty="0"/>
          </a:p>
        </p:txBody>
      </p:sp>
      <p:sp>
        <p:nvSpPr>
          <p:cNvPr id="27" name="Shape 22"/>
          <p:cNvSpPr/>
          <p:nvPr/>
        </p:nvSpPr>
        <p:spPr>
          <a:xfrm>
            <a:off x="640080" y="5532120"/>
            <a:ext cx="10899648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914400" y="553212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Recálculo instantáneo: </a:t>
            </a:r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instalación, servidor ni conexión — se abre en cualquier navegador y todo el modelo corre localmente.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999713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· 1 de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· ENTRADAS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27 controles, componente por componente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reproduce la desagregación de Nivel 2 del artículo: primero las variables sustantivas, después sus pesos o exponentes de calibración.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8732520" cy="722376"/>
          </a:xfrm>
          <a:prstGeom prst="roundRect">
            <a:avLst>
              <a:gd name="adj" fmla="val 7595"/>
            </a:avLst>
          </a:prstGeom>
          <a:solidFill>
            <a:srgbClr val="EBF3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72768" y="20482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 = Σwᵢ·IMᵢ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72768" y="23591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 Marítimos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993392"/>
            <a:ext cx="3291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— sub-índice ponderado de los intereses marítimos nacionales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138160" y="1993392"/>
            <a:ext cx="1170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8732520" cy="722376"/>
          </a:xfrm>
          <a:prstGeom prst="roundRect">
            <a:avLst>
              <a:gd name="adj" fmla="val 7595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798064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72768" y="2852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 = F × P × MDA^μ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72768" y="31638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Naval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2798064"/>
            <a:ext cx="3291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fuerza (plataformas · C2 · CD táctica)</a:t>
            </a:r>
            <a:endParaRPr lang="en-US" sz="9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posición (geografía · bases · rutas)</a:t>
            </a:r>
            <a:endParaRPr lang="en-US" sz="9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— conciencia del dominio marítimo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138160" y="2798064"/>
            <a:ext cx="1170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— exponente de calibración del MDA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8732520" cy="722376"/>
          </a:xfrm>
          <a:prstGeom prst="roundRect">
            <a:avLst>
              <a:gd name="adj" fmla="val 759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02736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72768" y="36576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 = (VP^w₁·VI^w₂·VS^w₃)^(1/Σw)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72768" y="39684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Voluntad Estratégica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602736"/>
            <a:ext cx="3291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— voluntad política</a:t>
            </a:r>
            <a:endParaRPr lang="en-US" sz="9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— voluntad institucional</a:t>
            </a:r>
            <a:endParaRPr lang="en-US" sz="9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— voluntad social / conciencia marítima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138160" y="3602736"/>
            <a:ext cx="1170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w₂ w₃ — pesos relativos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40080" y="4407408"/>
            <a:ext cx="8732520" cy="722376"/>
          </a:xfrm>
          <a:prstGeom prst="roundRect">
            <a:avLst>
              <a:gd name="adj" fmla="val 7595"/>
            </a:avLst>
          </a:prstGeom>
          <a:solidFill>
            <a:srgbClr val="FEF4E4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407408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72768" y="44622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= (CI^a₁·TE^a₂·BC^a₃)^(1/Σa)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72768" y="47731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Marítima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4407408"/>
            <a:ext cx="3291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conflictos interestatales y zona gris</a:t>
            </a:r>
            <a:endParaRPr lang="en-US" sz="9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— terrorismo y extremismo marítimo</a:t>
            </a:r>
            <a:endParaRPr lang="en-US" sz="9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— crimen azul (narcotráfico · piratería · INDNR)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8138160" y="4407408"/>
            <a:ext cx="1170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 a₂ a₃ — pesos por dimensión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8732520" cy="722376"/>
          </a:xfrm>
          <a:prstGeom prst="roundRect">
            <a:avLst>
              <a:gd name="adj" fmla="val 7595"/>
            </a:avLst>
          </a:prstGeom>
          <a:solidFill>
            <a:srgbClr val="FAECE7"/>
          </a:solidFill>
          <a:ln w="22225">
            <a:solidFill>
              <a:srgbClr val="993C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212080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3C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572768" y="5266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= mín{1, (β₁CS+β₂CD+β₃CR)·(1+δ·CDb)}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572768" y="5577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Ciberpoder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0" y="5212080"/>
            <a:ext cx="3291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CS_m · CD_m · CR_m — ciberseguridad, ciberdefensa y ciberresiliencia marítimas</a:t>
            </a:r>
            <a:endParaRPr lang="en-US" sz="96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 — ciberdiplomacia (proyección)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138160" y="5212080"/>
            <a:ext cx="1170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2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β₂ β₃ — pesos  ·  δ — efectividad del amplificador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0080" y="6016752"/>
            <a:ext cx="873252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 w="12700">
            <a:solidFill>
              <a:srgbClr val="8A93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601675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 γ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72768" y="60167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del modelo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54880" y="601675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— IMCE, madurez cibernética estratégica    ·    γ — peso global de la SM en el sistema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9601200" y="1993392"/>
            <a:ext cx="1938528" cy="4114800"/>
          </a:xfrm>
          <a:prstGeom prst="roundRect">
            <a:avLst>
              <a:gd name="adj" fmla="val 3302"/>
            </a:avLst>
          </a:prstGeom>
          <a:solidFill>
            <a:srgbClr val="0D2A42"/>
          </a:solidFill>
          <a:ln/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765792" y="21762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9EC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765792" y="254203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10365A"/>
          </a:solidFill>
          <a:ln/>
        </p:spPr>
      </p:sp>
      <p:sp>
        <p:nvSpPr>
          <p:cNvPr id="42" name="Text 40"/>
          <p:cNvSpPr/>
          <p:nvPr/>
        </p:nvSpPr>
        <p:spPr>
          <a:xfrm>
            <a:off x="9875520" y="2542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1560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C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765792" y="299923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10365A"/>
          </a:solidFill>
          <a:ln/>
        </p:spPr>
      </p:sp>
      <p:sp>
        <p:nvSpPr>
          <p:cNvPr id="45" name="Text 43"/>
          <p:cNvSpPr/>
          <p:nvPr/>
        </p:nvSpPr>
        <p:spPr>
          <a:xfrm>
            <a:off x="9875520" y="29992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15600" y="29992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C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765792" y="345643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10365A"/>
          </a:solidFill>
          <a:ln/>
        </p:spPr>
      </p:sp>
      <p:sp>
        <p:nvSpPr>
          <p:cNvPr id="48" name="Text 46"/>
          <p:cNvSpPr/>
          <p:nvPr/>
        </p:nvSpPr>
        <p:spPr>
          <a:xfrm>
            <a:off x="9875520" y="3456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515600" y="34564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C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9765792" y="391363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10365A"/>
          </a:solidFill>
          <a:ln/>
        </p:spPr>
      </p:sp>
      <p:sp>
        <p:nvSpPr>
          <p:cNvPr id="51" name="Text 49"/>
          <p:cNvSpPr/>
          <p:nvPr/>
        </p:nvSpPr>
        <p:spPr>
          <a:xfrm>
            <a:off x="9875520" y="39136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15600" y="39136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C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9765792" y="437083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10365A"/>
          </a:solidFill>
          <a:ln/>
        </p:spPr>
      </p:sp>
      <p:sp>
        <p:nvSpPr>
          <p:cNvPr id="54" name="Text 52"/>
          <p:cNvSpPr/>
          <p:nvPr/>
        </p:nvSpPr>
        <p:spPr>
          <a:xfrm>
            <a:off x="9875520" y="4370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515600" y="43708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C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9765792" y="482803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10365A"/>
          </a:solidFill>
          <a:ln/>
        </p:spPr>
      </p:sp>
      <p:sp>
        <p:nvSpPr>
          <p:cNvPr id="57" name="Text 55"/>
          <p:cNvSpPr/>
          <p:nvPr/>
        </p:nvSpPr>
        <p:spPr>
          <a:xfrm>
            <a:off x="9875520" y="4828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A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γ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515600" y="4828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C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9765792" y="5349240"/>
            <a:ext cx="1609344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65792" y="5468112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8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calibrables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999713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· 2 de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· USO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en la práctica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70048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11096"/>
            <a:ext cx="566928" cy="56692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un escenario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0632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perfiles genéricos (crítico · referencia · consolidado) u once países de América precalibrados.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3319272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83864" y="1691640"/>
            <a:ext cx="2670048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911096"/>
            <a:ext cx="566928" cy="56692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258775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los deslizadores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cualquiera de los 27 parámetros: el índice y todas las gráficas se recalculan al instante.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163056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7648" y="1691640"/>
            <a:ext cx="2670048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47104" y="1911096"/>
            <a:ext cx="566928" cy="5669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7104" y="258775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resultado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30632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PM_norm con su nivel en la escala de cinco niveles, más los cinco compuestos de Nivel 2.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9006840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71432" y="1691640"/>
            <a:ext cx="2670048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90888" y="1911096"/>
            <a:ext cx="566928" cy="566928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24" name="Text 22"/>
          <p:cNvSpPr/>
          <p:nvPr/>
        </p:nvSpPr>
        <p:spPr>
          <a:xfrm>
            <a:off x="939088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90888" y="258775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y decidir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90888" y="30632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Superponer varios países en el radar y consultar la tabla de sensibilidad para priorizar inversiones.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640080" y="4315968"/>
            <a:ext cx="6903720" cy="1783080"/>
          </a:xfrm>
          <a:prstGeom prst="roundRect">
            <a:avLst>
              <a:gd name="adj" fmla="val 359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PRECARGADOS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828032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30" b="1" dirty="0">
                <a:solidFill>
                  <a:srgbClr val="0D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genéricos: 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(≈ 0.20) · referencia (≈ 0.51) · consolidado (≈ 0.84) — reproducen la Tabla A3 del anexo.</a:t>
            </a:r>
            <a:endParaRPr lang="en-US" sz="123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30" b="1" dirty="0">
                <a:solidFill>
                  <a:srgbClr val="0D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países de América: 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Colombia, Brasil, Argentina, Chile, Perú, Ecuador, Uruguay, Venezuela, México, EE.UU. y Canadá — con valores indicativos calibrados para uso comparativo.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7726680" y="4315968"/>
            <a:ext cx="3813048" cy="1783080"/>
          </a:xfrm>
          <a:prstGeom prst="roundRect">
            <a:avLst>
              <a:gd name="adj" fmla="val 359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88900" dist="25400" dir="5400000">
              <a:srgbClr val="A8B4C2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73568" y="45262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296" y="4636008"/>
            <a:ext cx="237744" cy="23774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549640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DIDÁCTICO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973568" y="4956048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tangible una propiedad clave del modelo: llevar cualquier variable hacia cero colapsa el PM_norm completo — la interdependencia multiplicativa deja de ser una afirmación teórica y se vuelve demostrable en vivo.</a:t>
            </a:r>
            <a:endParaRPr lang="en-US" sz="1180" dirty="0"/>
          </a:p>
        </p:txBody>
      </p:sp>
      <p:sp>
        <p:nvSpPr>
          <p:cNvPr id="35" name="Text 32"/>
          <p:cNvSpPr/>
          <p:nvPr/>
        </p:nvSpPr>
        <p:spPr>
          <a:xfrm>
            <a:off x="999713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· 3 de 3</a:t>
            </a:r>
            <a:endParaRPr lang="en-US" sz="1000" dirty="0"/>
          </a:p>
        </p:txBody>
      </p:sp>
      <p:sp>
        <p:nvSpPr>
          <p:cNvPr id="90" name="RepoFooter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 indent="0" marL="0">
              <a:buNone/>
            </a:pPr>
            <a:r>
              <a:rPr lang="es-CO" sz="1000" b="1" dirty="0">
                <a:solidFill>
                  <a:srgbClr val="185FA5"/>
                </a:solidFill>
                <a:latin typeface="Calibri" pitchFamily="34" charset="0"/>
              </a:rPr>
              <a:t>Simulador interactivo de acceso abierto:  </a:t>
            </a:r>
            <a:r>
              <a:rPr lang="es-CO" sz="1000" dirty="0">
                <a:solidFill>
                  <a:srgbClr val="5A6472"/>
                </a:solidFill>
                <a:latin typeface="Calibri" pitchFamily="34" charset="0"/>
              </a:rPr>
              <a:t>github.com/diegocabuya/Ciberpoder-y-Poder-Maritimo</a:t>
            </a:r>
            <a:endParaRPr lang="es-CO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2026-07-23T01:38:04Z</dcterms:created>
  <dcterms:modified xsi:type="dcterms:W3CDTF">2026-07-23T01:38:04Z</dcterms:modified>
</cp:coreProperties>
</file>